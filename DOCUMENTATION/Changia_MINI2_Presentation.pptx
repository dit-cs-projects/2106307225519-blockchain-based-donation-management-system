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766E"/>
              </a:gs>
              <a:gs pos="100000">
                <a:srgbClr val="0A3331"/>
              </a:gs>
            </a:gsLst>
            <a:lin scaled="0" ang="1992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887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12191695" cy="27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32688" y="1170432"/>
            <a:ext cx="384048" cy="384048"/>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 name="Connector 5"/>
          <p:cNvCxnSpPr/>
          <p:nvPr/>
        </p:nvCxnSpPr>
        <p:spPr>
          <a:xfrm>
            <a:off x="1024859" y="1370136"/>
            <a:ext cx="72969" cy="72970"/>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93988" y="1285646"/>
            <a:ext cx="134416" cy="157460"/>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444752" y="1207008"/>
            <a:ext cx="3657600" cy="329184"/>
          </a:xfrm>
          <a:prstGeom prst="rect">
            <a:avLst/>
          </a:prstGeom>
          <a:noFill/>
        </p:spPr>
        <p:txBody>
          <a:bodyPr wrap="square" lIns="0" rIns="0" tIns="0" bIns="0" anchor="t">
            <a:spAutoFit/>
          </a:bodyPr>
          <a:lstStyle/>
          <a:p>
            <a:pPr algn="l">
              <a:lnSpc>
                <a:spcPct val="125000"/>
              </a:lnSpc>
              <a:spcBef>
                <a:spcPts val="0"/>
              </a:spcBef>
              <a:spcAft>
                <a:spcPts val="0"/>
              </a:spcAft>
            </a:pPr>
            <a:r>
              <a:rPr sz="1700" b="1" i="0" spc="40">
                <a:solidFill>
                  <a:srgbClr val="FFFFFF"/>
                </a:solidFill>
                <a:latin typeface="Georgia"/>
              </a:rPr>
              <a:t>Changia</a:t>
            </a:r>
          </a:p>
        </p:txBody>
      </p:sp>
      <p:sp>
        <p:nvSpPr>
          <p:cNvPr id="9" name="TextBox 8"/>
          <p:cNvSpPr txBox="1"/>
          <p:nvPr/>
        </p:nvSpPr>
        <p:spPr>
          <a:xfrm>
            <a:off x="932688" y="1883664"/>
            <a:ext cx="7680960" cy="1920240"/>
          </a:xfrm>
          <a:prstGeom prst="rect">
            <a:avLst/>
          </a:prstGeom>
          <a:noFill/>
        </p:spPr>
        <p:txBody>
          <a:bodyPr wrap="square" lIns="0" rIns="0" tIns="0" bIns="0" anchor="t">
            <a:spAutoFit/>
          </a:bodyPr>
          <a:lstStyle/>
          <a:p>
            <a:pPr algn="l">
              <a:lnSpc>
                <a:spcPct val="114000"/>
              </a:lnSpc>
              <a:spcBef>
                <a:spcPts val="0"/>
              </a:spcBef>
              <a:spcAft>
                <a:spcPts val="0"/>
              </a:spcAft>
            </a:pPr>
            <a:r>
              <a:rPr sz="4000" b="0" i="0">
                <a:solidFill>
                  <a:srgbClr val="FFFFFF"/>
                </a:solidFill>
                <a:latin typeface="Georgia"/>
              </a:rPr>
              <a:t>Blockchain-Based NGO
Donation Management System</a:t>
            </a:r>
          </a:p>
        </p:txBody>
      </p:sp>
      <p:sp>
        <p:nvSpPr>
          <p:cNvPr id="10" name="Rectangle 9"/>
          <p:cNvSpPr/>
          <p:nvPr/>
        </p:nvSpPr>
        <p:spPr>
          <a:xfrm>
            <a:off x="932688" y="3858768"/>
            <a:ext cx="1371600" cy="25400"/>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32688" y="4096512"/>
            <a:ext cx="6583680" cy="365760"/>
          </a:xfrm>
          <a:prstGeom prst="rect">
            <a:avLst/>
          </a:prstGeom>
          <a:noFill/>
        </p:spPr>
        <p:txBody>
          <a:bodyPr wrap="square" lIns="0" rIns="0" tIns="0" bIns="0" anchor="t">
            <a:spAutoFit/>
          </a:bodyPr>
          <a:lstStyle/>
          <a:p>
            <a:pPr algn="l">
              <a:lnSpc>
                <a:spcPct val="125000"/>
              </a:lnSpc>
              <a:spcBef>
                <a:spcPts val="0"/>
              </a:spcBef>
              <a:spcAft>
                <a:spcPts val="0"/>
              </a:spcAft>
            </a:pPr>
            <a:r>
              <a:rPr sz="1300" b="0" i="1">
                <a:solidFill>
                  <a:srgbClr val="A7D8D2"/>
                </a:solidFill>
                <a:latin typeface="Segoe UI"/>
              </a:rPr>
              <a:t>Every shilling provable, from mobile money to the block.</a:t>
            </a:r>
          </a:p>
        </p:txBody>
      </p:sp>
      <p:sp>
        <p:nvSpPr>
          <p:cNvPr id="12" name="TextBox 11"/>
          <p:cNvSpPr txBox="1"/>
          <p:nvPr/>
        </p:nvSpPr>
        <p:spPr>
          <a:xfrm>
            <a:off x="932688" y="4754880"/>
            <a:ext cx="6949440" cy="1097280"/>
          </a:xfrm>
          <a:prstGeom prst="rect">
            <a:avLst/>
          </a:prstGeom>
          <a:noFill/>
        </p:spPr>
        <p:txBody>
          <a:bodyPr wrap="square" lIns="0" rIns="0" tIns="0" bIns="0" anchor="t">
            <a:spAutoFit/>
          </a:bodyPr>
          <a:lstStyle/>
          <a:p>
            <a:pPr algn="l">
              <a:lnSpc>
                <a:spcPct val="125000"/>
              </a:lnSpc>
              <a:spcBef>
                <a:spcPts val="0"/>
              </a:spcBef>
              <a:spcAft>
                <a:spcPts val="700"/>
              </a:spcAft>
            </a:pPr>
            <a:r>
              <a:rPr sz="1000" b="0" i="0">
                <a:solidFill>
                  <a:srgbClr val="A7D8D2"/>
                </a:solidFill>
                <a:latin typeface="Segoe UI"/>
              </a:rPr>
              <a:t>Candidate   </a:t>
            </a:r>
            <a:r>
              <a:rPr sz="1150" b="1" i="0">
                <a:solidFill>
                  <a:srgbClr val="FFFFFF"/>
                </a:solidFill>
                <a:latin typeface="Segoe UI"/>
              </a:rPr>
              <a:t>Nasibu Y. Isaka</a:t>
            </a:r>
            <a:r>
              <a:rPr sz="1150" b="0" i="0">
                <a:solidFill>
                  <a:srgbClr val="A7D8D2"/>
                </a:solidFill>
                <a:latin typeface="Segoe UI"/>
              </a:rPr>
              <a:t>   ·   </a:t>
            </a:r>
            <a:r>
              <a:rPr sz="1150" b="0" i="0">
                <a:solidFill>
                  <a:srgbClr val="FFFFFF"/>
                </a:solidFill>
                <a:latin typeface="Segoe UI"/>
              </a:rPr>
              <a:t>2106307225519</a:t>
            </a:r>
          </a:p>
          <a:p>
            <a:pPr algn="l">
              <a:lnSpc>
                <a:spcPct val="125000"/>
              </a:lnSpc>
              <a:spcBef>
                <a:spcPts val="0"/>
              </a:spcBef>
              <a:spcAft>
                <a:spcPts val="700"/>
              </a:spcAft>
            </a:pPr>
            <a:r>
              <a:rPr sz="1000" b="0" i="0">
                <a:solidFill>
                  <a:srgbClr val="A7D8D2"/>
                </a:solidFill>
                <a:latin typeface="Segoe UI"/>
              </a:rPr>
              <a:t>Supervisor   </a:t>
            </a:r>
            <a:r>
              <a:rPr sz="1150" b="0" i="0">
                <a:solidFill>
                  <a:srgbClr val="FFFFFF"/>
                </a:solidFill>
                <a:latin typeface="Segoe UI"/>
              </a:rPr>
              <a:t>Dr Gustaph Sanga</a:t>
            </a:r>
          </a:p>
          <a:p>
            <a:pPr algn="l">
              <a:lnSpc>
                <a:spcPct val="125000"/>
              </a:lnSpc>
              <a:spcBef>
                <a:spcPts val="0"/>
              </a:spcBef>
              <a:spcAft>
                <a:spcPts val="0"/>
              </a:spcAft>
            </a:pPr>
            <a:r>
              <a:rPr sz="1000" b="0" i="0">
                <a:solidFill>
                  <a:srgbClr val="A7D8D2"/>
                </a:solidFill>
                <a:latin typeface="Segoe UI"/>
              </a:rPr>
              <a:t>Module   </a:t>
            </a:r>
            <a:r>
              <a:rPr sz="1150" b="0" i="0">
                <a:solidFill>
                  <a:srgbClr val="FFFFFF"/>
                </a:solidFill>
                <a:latin typeface="Segoe UI"/>
              </a:rPr>
              <a:t>Project Realization  ·  COU 08204  ·  BENG22COE</a:t>
            </a:r>
          </a:p>
        </p:txBody>
      </p:sp>
      <p:sp>
        <p:nvSpPr>
          <p:cNvPr id="13" name="Rounded Rectangle 12"/>
          <p:cNvSpPr/>
          <p:nvPr/>
        </p:nvSpPr>
        <p:spPr>
          <a:xfrm>
            <a:off x="8732520" y="1170432"/>
            <a:ext cx="2788920" cy="3310128"/>
          </a:xfrm>
          <a:prstGeom prst="roundRect">
            <a:avLst>
              <a:gd name="adj" fmla="val 4000"/>
            </a:avLst>
          </a:prstGeom>
          <a:noFill/>
          <a:ln w="1143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25128" y="1463040"/>
            <a:ext cx="2194560" cy="822960"/>
          </a:xfrm>
          <a:prstGeom prst="rect">
            <a:avLst/>
          </a:prstGeom>
          <a:noFill/>
        </p:spPr>
        <p:txBody>
          <a:bodyPr wrap="square" lIns="0" rIns="0" tIns="0" bIns="0" anchor="t">
            <a:spAutoFit/>
          </a:bodyPr>
          <a:lstStyle/>
          <a:p>
            <a:pPr algn="l">
              <a:lnSpc>
                <a:spcPct val="125000"/>
              </a:lnSpc>
              <a:spcBef>
                <a:spcPts val="0"/>
              </a:spcBef>
              <a:spcAft>
                <a:spcPts val="1000"/>
              </a:spcAft>
            </a:pPr>
            <a:r>
              <a:rPr sz="850" b="1" i="0" spc="120">
                <a:solidFill>
                  <a:srgbClr val="5EEAD4"/>
                </a:solidFill>
                <a:latin typeface="Segoe UI"/>
              </a:rPr>
              <a:t>MINI 2  ·  CHAPTERS 5 TO 7</a:t>
            </a:r>
          </a:p>
          <a:p>
            <a:pPr algn="l">
              <a:lnSpc>
                <a:spcPct val="125000"/>
              </a:lnSpc>
              <a:spcBef>
                <a:spcPts val="0"/>
              </a:spcBef>
              <a:spcAft>
                <a:spcPts val="500"/>
              </a:spcAft>
            </a:pPr>
            <a:r>
              <a:rPr sz="1200" b="0" i="0">
                <a:solidFill>
                  <a:srgbClr val="FFFFFF"/>
                </a:solidFill>
                <a:latin typeface="Georgia"/>
              </a:rPr>
              <a:t>Dar es Salaam Institute of Technology</a:t>
            </a:r>
          </a:p>
          <a:p>
            <a:pPr algn="l">
              <a:lnSpc>
                <a:spcPct val="130000"/>
              </a:lnSpc>
              <a:spcBef>
                <a:spcPts val="0"/>
              </a:spcBef>
              <a:spcAft>
                <a:spcPts val="0"/>
              </a:spcAft>
            </a:pPr>
            <a:r>
              <a:rPr sz="950" b="0" i="0">
                <a:solidFill>
                  <a:srgbClr val="A7D8D2"/>
                </a:solidFill>
                <a:latin typeface="Segoe UI"/>
              </a:rPr>
              <a:t>Department of Computer Studies  ·  NTA Level 8</a:t>
            </a:r>
          </a:p>
        </p:txBody>
      </p:sp>
      <p:sp>
        <p:nvSpPr>
          <p:cNvPr id="15" name="Rectangle 14"/>
          <p:cNvSpPr/>
          <p:nvPr/>
        </p:nvSpPr>
        <p:spPr>
          <a:xfrm>
            <a:off x="9025128" y="3035808"/>
            <a:ext cx="2194560" cy="127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025128" y="3255264"/>
            <a:ext cx="2240280" cy="219456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5EEAD4"/>
                </a:solidFill>
                <a:latin typeface="Segoe UI"/>
              </a:rPr>
              <a:t>LIVE SYSTEM</a:t>
            </a:r>
          </a:p>
          <a:p>
            <a:pPr algn="l">
              <a:lnSpc>
                <a:spcPct val="125000"/>
              </a:lnSpc>
              <a:spcBef>
                <a:spcPts val="0"/>
              </a:spcBef>
              <a:spcAft>
                <a:spcPts val="800"/>
              </a:spcAft>
            </a:pPr>
            <a:r>
              <a:rPr sz="1050" b="1" i="0">
                <a:solidFill>
                  <a:srgbClr val="FFFFFF"/>
                </a:solidFill>
                <a:latin typeface="Segoe UI"/>
              </a:rPr>
              <a:t>changia-hazel.vercel.app</a:t>
            </a:r>
          </a:p>
          <a:p>
            <a:pPr algn="l">
              <a:lnSpc>
                <a:spcPct val="125000"/>
              </a:lnSpc>
              <a:spcBef>
                <a:spcPts val="0"/>
              </a:spcBef>
              <a:spcAft>
                <a:spcPts val="300"/>
              </a:spcAft>
            </a:pPr>
            <a:r>
              <a:rPr sz="950" b="0" i="0">
                <a:solidFill>
                  <a:srgbClr val="A7D8D2"/>
                </a:solidFill>
                <a:latin typeface="Segoe UI"/>
              </a:rPr>
              <a:t>Ethereum Sepolia</a:t>
            </a:r>
          </a:p>
          <a:p>
            <a:pPr algn="l">
              <a:lnSpc>
                <a:spcPct val="125000"/>
              </a:lnSpc>
              <a:spcBef>
                <a:spcPts val="0"/>
              </a:spcBef>
              <a:spcAft>
                <a:spcPts val="0"/>
              </a:spcAft>
            </a:pPr>
            <a:r>
              <a:rPr sz="800" b="0" i="0">
                <a:solidFill>
                  <a:srgbClr val="A7D8D2"/>
                </a:solidFill>
                <a:latin typeface="Consolas"/>
              </a:rPr>
              <a:t>0x353b6cdaD14774412B5C...</a:t>
            </a:r>
          </a:p>
        </p:txBody>
      </p:sp>
      <p:sp>
        <p:nvSpPr>
          <p:cNvPr id="17" name="TextBox 16"/>
          <p:cNvSpPr txBox="1"/>
          <p:nvPr/>
        </p:nvSpPr>
        <p:spPr>
          <a:xfrm>
            <a:off x="9025128" y="4718304"/>
            <a:ext cx="2194560" cy="274320"/>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A7D8D2"/>
                </a:solidFill>
                <a:latin typeface="Segoe UI"/>
              </a:rPr>
              <a:t>[ Presentation date ]</a:t>
            </a:r>
          </a:p>
        </p:txBody>
      </p:sp>
      <p:sp>
        <p:nvSpPr>
          <p:cNvPr id="18" name="TextBox 17"/>
          <p:cNvSpPr txBox="1"/>
          <p:nvPr/>
        </p:nvSpPr>
        <p:spPr>
          <a:xfrm>
            <a:off x="932688" y="5870448"/>
            <a:ext cx="3657600" cy="274320"/>
          </a:xfrm>
          <a:prstGeom prst="rect">
            <a:avLst/>
          </a:prstGeom>
          <a:noFill/>
        </p:spPr>
        <p:txBody>
          <a:bodyPr wrap="square" lIns="0" rIns="0" tIns="0" bIns="0" anchor="t">
            <a:spAutoFit/>
          </a:bodyPr>
          <a:lstStyle/>
          <a:p>
            <a:pPr algn="l">
              <a:lnSpc>
                <a:spcPct val="125000"/>
              </a:lnSpc>
              <a:spcBef>
                <a:spcPts val="0"/>
              </a:spcBef>
              <a:spcAft>
                <a:spcPts val="0"/>
              </a:spcAft>
            </a:pPr>
            <a:r>
              <a:rPr sz="900" b="0" i="0" spc="50">
                <a:solidFill>
                  <a:srgbClr val="A7D8D2"/>
                </a:solidFill>
                <a:latin typeface="Segoe UI"/>
              </a:rPr>
              <a:t>DIT  ·  Department of Computer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585215"/>
            <a:ext cx="1087495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What this presentation covers</a:t>
            </a:r>
          </a:p>
        </p:txBody>
      </p:sp>
      <p:sp>
        <p:nvSpPr>
          <p:cNvPr id="4" name="TextBox 3"/>
          <p:cNvSpPr txBox="1"/>
          <p:nvPr/>
        </p:nvSpPr>
        <p:spPr>
          <a:xfrm>
            <a:off x="658368" y="1243584"/>
            <a:ext cx="1069207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Three chapters, one working system. Everything shown is running in production unless explicitly labelled as design.</a:t>
            </a:r>
          </a:p>
        </p:txBody>
      </p:sp>
      <p:sp>
        <p:nvSpPr>
          <p:cNvPr id="5" name="Rectangle 4"/>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658368" y="2029967"/>
            <a:ext cx="345429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2029967"/>
            <a:ext cx="3454298"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2432303"/>
            <a:ext cx="2832506" cy="26517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99F6E4"/>
                </a:solidFill>
                <a:latin typeface="Georgia"/>
              </a:rPr>
              <a:t>05</a:t>
            </a:r>
          </a:p>
          <a:p>
            <a:pPr algn="l">
              <a:lnSpc>
                <a:spcPct val="118000"/>
              </a:lnSpc>
              <a:spcBef>
                <a:spcPts val="0"/>
              </a:spcBef>
              <a:spcAft>
                <a:spcPts val="1000"/>
              </a:spcAft>
            </a:pPr>
            <a:r>
              <a:rPr sz="1500" b="1" i="0">
                <a:solidFill>
                  <a:srgbClr val="0F172A"/>
                </a:solidFill>
                <a:latin typeface="Georgia"/>
              </a:rPr>
              <a:t>System Requirement Specification</a:t>
            </a:r>
          </a:p>
          <a:p>
            <a:pPr algn="l">
              <a:lnSpc>
                <a:spcPct val="142000"/>
              </a:lnSpc>
              <a:spcBef>
                <a:spcPts val="0"/>
              </a:spcBef>
              <a:spcAft>
                <a:spcPts val="0"/>
              </a:spcAft>
            </a:pPr>
            <a:r>
              <a:rPr sz="1050" b="0" i="0">
                <a:solidFill>
                  <a:srgbClr val="64748B"/>
                </a:solidFill>
                <a:latin typeface="Segoe UI"/>
              </a:rPr>
              <a:t>Existing system analysis, the proposed system, functional and non-functional requirements, user and system requirements, feasibility, and the SRS use-case model.</a:t>
            </a:r>
          </a:p>
        </p:txBody>
      </p:sp>
      <p:sp>
        <p:nvSpPr>
          <p:cNvPr id="9" name="Rounded Rectangle 8"/>
          <p:cNvSpPr/>
          <p:nvPr/>
        </p:nvSpPr>
        <p:spPr>
          <a:xfrm>
            <a:off x="4368698" y="2029967"/>
            <a:ext cx="345429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68698" y="2029967"/>
            <a:ext cx="3454298"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679594" y="2432303"/>
            <a:ext cx="2832506" cy="26517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99F6E4"/>
                </a:solidFill>
                <a:latin typeface="Georgia"/>
              </a:rPr>
              <a:t>06</a:t>
            </a:r>
          </a:p>
          <a:p>
            <a:pPr algn="l">
              <a:lnSpc>
                <a:spcPct val="118000"/>
              </a:lnSpc>
              <a:spcBef>
                <a:spcPts val="0"/>
              </a:spcBef>
              <a:spcAft>
                <a:spcPts val="1000"/>
              </a:spcAft>
            </a:pPr>
            <a:r>
              <a:rPr sz="1500" b="1" i="0">
                <a:solidFill>
                  <a:srgbClr val="0F172A"/>
                </a:solidFill>
                <a:latin typeface="Georgia"/>
              </a:rPr>
              <a:t>System Design</a:t>
            </a:r>
          </a:p>
          <a:p>
            <a:pPr algn="l">
              <a:lnSpc>
                <a:spcPct val="142000"/>
              </a:lnSpc>
              <a:spcBef>
                <a:spcPts val="0"/>
              </a:spcBef>
              <a:spcAft>
                <a:spcPts val="0"/>
              </a:spcAft>
            </a:pPr>
            <a:r>
              <a:rPr sz="1050" b="0" i="0">
                <a:solidFill>
                  <a:srgbClr val="64748B"/>
                </a:solidFill>
                <a:latin typeface="Segoe UI"/>
              </a:rPr>
              <a:t>Architecture, data and process modeling, database design, UML models, interface design, the planned fraud-detection model, algorithms and security design.</a:t>
            </a:r>
          </a:p>
        </p:txBody>
      </p:sp>
      <p:sp>
        <p:nvSpPr>
          <p:cNvPr id="12" name="Rounded Rectangle 11"/>
          <p:cNvSpPr/>
          <p:nvPr/>
        </p:nvSpPr>
        <p:spPr>
          <a:xfrm>
            <a:off x="8079028" y="2029967"/>
            <a:ext cx="345429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79028" y="2029967"/>
            <a:ext cx="3454298"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89924" y="2432303"/>
            <a:ext cx="2832506" cy="26517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99F6E4"/>
                </a:solidFill>
                <a:latin typeface="Georgia"/>
              </a:rPr>
              <a:t>07</a:t>
            </a:r>
          </a:p>
          <a:p>
            <a:pPr algn="l">
              <a:lnSpc>
                <a:spcPct val="118000"/>
              </a:lnSpc>
              <a:spcBef>
                <a:spcPts val="0"/>
              </a:spcBef>
              <a:spcAft>
                <a:spcPts val="1000"/>
              </a:spcAft>
            </a:pPr>
            <a:r>
              <a:rPr sz="1500" b="1" i="0">
                <a:solidFill>
                  <a:srgbClr val="0F172A"/>
                </a:solidFill>
                <a:latin typeface="Georgia"/>
              </a:rPr>
              <a:t>Implementation, Testing and Results</a:t>
            </a:r>
          </a:p>
          <a:p>
            <a:pPr algn="l">
              <a:lnSpc>
                <a:spcPct val="142000"/>
              </a:lnSpc>
              <a:spcBef>
                <a:spcPts val="0"/>
              </a:spcBef>
              <a:spcAft>
                <a:spcPts val="0"/>
              </a:spcAft>
            </a:pPr>
            <a:r>
              <a:rPr sz="1050" b="0" i="0">
                <a:solidFill>
                  <a:srgbClr val="64748B"/>
                </a:solidFill>
                <a:latin typeface="Segoe UI"/>
              </a:rPr>
              <a:t>Development environment, module implementation, testing strategy, test cases, measured results, discussion, and the live system itself.</a:t>
            </a:r>
          </a:p>
        </p:txBody>
      </p:sp>
      <p:sp>
        <p:nvSpPr>
          <p:cNvPr id="15" name="Rounded Rectangle 14"/>
          <p:cNvSpPr/>
          <p:nvPr/>
        </p:nvSpPr>
        <p:spPr>
          <a:xfrm>
            <a:off x="658368" y="5468112"/>
            <a:ext cx="10874959" cy="65836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69264" y="5614416"/>
            <a:ext cx="10253167" cy="402336"/>
          </a:xfrm>
          <a:prstGeom prst="rect">
            <a:avLst/>
          </a:prstGeom>
          <a:noFill/>
        </p:spPr>
        <p:txBody>
          <a:bodyPr wrap="square" lIns="0" rIns="0" tIns="0" bIns="0" anchor="t">
            <a:spAutoFit/>
          </a:bodyPr>
          <a:lstStyle/>
          <a:p>
            <a:pPr algn="l">
              <a:lnSpc>
                <a:spcPct val="130000"/>
              </a:lnSpc>
              <a:spcBef>
                <a:spcPts val="0"/>
              </a:spcBef>
              <a:spcAft>
                <a:spcPts val="0"/>
              </a:spcAft>
            </a:pPr>
            <a:r>
              <a:rPr sz="1100" b="1" i="0">
                <a:solidFill>
                  <a:srgbClr val="134E4A"/>
                </a:solidFill>
                <a:latin typeface="Segoe UI"/>
              </a:rPr>
              <a:t>Chapters 1 to 4 and Chapter 8 sit outside MINI 2. </a:t>
            </a:r>
            <a:r>
              <a:rPr sz="1100" b="0" i="0">
                <a:solidFill>
                  <a:srgbClr val="134E4A"/>
                </a:solidFill>
                <a:latin typeface="Segoe UI"/>
              </a:rPr>
              <a:t>This session covers the requirement specification, the design, and the built and tested system.</a:t>
            </a:r>
          </a:p>
        </p:txBody>
      </p:sp>
      <p:sp>
        <p:nvSpPr>
          <p:cNvPr id="17" name="Rectangle 16"/>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6345936"/>
            <a:ext cx="50581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Roadmap</a:t>
            </a:r>
          </a:p>
        </p:txBody>
      </p:sp>
      <p:sp>
        <p:nvSpPr>
          <p:cNvPr id="20" name="TextBox 19"/>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585215"/>
            <a:ext cx="1087495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The system, in one slide</a:t>
            </a:r>
          </a:p>
        </p:txBody>
      </p:sp>
      <p:sp>
        <p:nvSpPr>
          <p:cNvPr id="4" name="TextBox 3"/>
          <p:cNvSpPr txBox="1"/>
          <p:nvPr/>
        </p:nvSpPr>
        <p:spPr>
          <a:xfrm>
            <a:off x="658368" y="1243584"/>
            <a:ext cx="1069207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A donation platform where every completed transaction leaves a permanent, publicly checkable record.</a:t>
            </a:r>
          </a:p>
        </p:txBody>
      </p:sp>
      <p:sp>
        <p:nvSpPr>
          <p:cNvPr id="5" name="Rectangle 4"/>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658368" y="2029967"/>
            <a:ext cx="2526715" cy="113385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6112" y="2231136"/>
            <a:ext cx="2051227" cy="731520"/>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14</a:t>
            </a:r>
          </a:p>
          <a:p>
            <a:pPr algn="l">
              <a:lnSpc>
                <a:spcPct val="130000"/>
              </a:lnSpc>
              <a:spcBef>
                <a:spcPts val="0"/>
              </a:spcBef>
              <a:spcAft>
                <a:spcPts val="0"/>
              </a:spcAft>
            </a:pPr>
            <a:r>
              <a:rPr sz="1000" b="0" i="0">
                <a:solidFill>
                  <a:srgbClr val="64748B"/>
                </a:solidFill>
                <a:latin typeface="Segoe UI"/>
              </a:rPr>
              <a:t>database tables</a:t>
            </a:r>
          </a:p>
        </p:txBody>
      </p:sp>
      <p:sp>
        <p:nvSpPr>
          <p:cNvPr id="8" name="Rounded Rectangle 7"/>
          <p:cNvSpPr/>
          <p:nvPr/>
        </p:nvSpPr>
        <p:spPr>
          <a:xfrm>
            <a:off x="3441115" y="2029967"/>
            <a:ext cx="2526715" cy="113385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678859" y="2231136"/>
            <a:ext cx="2051227" cy="731520"/>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24</a:t>
            </a:r>
          </a:p>
          <a:p>
            <a:pPr algn="l">
              <a:lnSpc>
                <a:spcPct val="130000"/>
              </a:lnSpc>
              <a:spcBef>
                <a:spcPts val="0"/>
              </a:spcBef>
              <a:spcAft>
                <a:spcPts val="0"/>
              </a:spcAft>
            </a:pPr>
            <a:r>
              <a:rPr sz="1000" b="0" i="0">
                <a:solidFill>
                  <a:srgbClr val="64748B"/>
                </a:solidFill>
                <a:latin typeface="Segoe UI"/>
              </a:rPr>
              <a:t>functional requirements</a:t>
            </a:r>
          </a:p>
        </p:txBody>
      </p:sp>
      <p:sp>
        <p:nvSpPr>
          <p:cNvPr id="10" name="Rounded Rectangle 9"/>
          <p:cNvSpPr/>
          <p:nvPr/>
        </p:nvSpPr>
        <p:spPr>
          <a:xfrm>
            <a:off x="6223863" y="2029967"/>
            <a:ext cx="2526715" cy="113385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61607" y="2231136"/>
            <a:ext cx="2051227" cy="731520"/>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8</a:t>
            </a:r>
          </a:p>
          <a:p>
            <a:pPr algn="l">
              <a:lnSpc>
                <a:spcPct val="130000"/>
              </a:lnSpc>
              <a:spcBef>
                <a:spcPts val="0"/>
              </a:spcBef>
              <a:spcAft>
                <a:spcPts val="0"/>
              </a:spcAft>
            </a:pPr>
            <a:r>
              <a:rPr sz="1000" b="0" i="0">
                <a:solidFill>
                  <a:srgbClr val="64748B"/>
                </a:solidFill>
                <a:latin typeface="Segoe UI"/>
              </a:rPr>
              <a:t>delivery stages</a:t>
            </a:r>
          </a:p>
        </p:txBody>
      </p:sp>
      <p:sp>
        <p:nvSpPr>
          <p:cNvPr id="12" name="Rounded Rectangle 11"/>
          <p:cNvSpPr/>
          <p:nvPr/>
        </p:nvSpPr>
        <p:spPr>
          <a:xfrm>
            <a:off x="9006611" y="2029967"/>
            <a:ext cx="2526715" cy="113385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244355" y="2231136"/>
            <a:ext cx="2051227" cy="731520"/>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203</a:t>
            </a:r>
          </a:p>
          <a:p>
            <a:pPr algn="l">
              <a:lnSpc>
                <a:spcPct val="130000"/>
              </a:lnSpc>
              <a:spcBef>
                <a:spcPts val="0"/>
              </a:spcBef>
              <a:spcAft>
                <a:spcPts val="0"/>
              </a:spcAft>
            </a:pPr>
            <a:r>
              <a:rPr sz="1000" b="0" i="0">
                <a:solidFill>
                  <a:srgbClr val="64748B"/>
                </a:solidFill>
                <a:latin typeface="Segoe UI"/>
              </a:rPr>
              <a:t>automated checks passed</a:t>
            </a:r>
          </a:p>
        </p:txBody>
      </p:sp>
      <p:sp>
        <p:nvSpPr>
          <p:cNvPr id="14" name="Rounded Rectangle 13"/>
          <p:cNvSpPr/>
          <p:nvPr/>
        </p:nvSpPr>
        <p:spPr>
          <a:xfrm>
            <a:off x="658368" y="3419856"/>
            <a:ext cx="6688099" cy="26151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87552" y="3730752"/>
            <a:ext cx="6029731" cy="2011680"/>
          </a:xfrm>
          <a:prstGeom prst="rect">
            <a:avLst/>
          </a:prstGeom>
          <a:noFill/>
        </p:spPr>
        <p:txBody>
          <a:bodyPr wrap="square" lIns="0" rIns="0" tIns="0" bIns="0" anchor="t">
            <a:spAutoFit/>
          </a:bodyPr>
          <a:lstStyle/>
          <a:p>
            <a:pPr algn="l">
              <a:lnSpc>
                <a:spcPct val="125000"/>
              </a:lnSpc>
              <a:spcBef>
                <a:spcPts val="0"/>
              </a:spcBef>
              <a:spcAft>
                <a:spcPts val="1200"/>
              </a:spcAft>
            </a:pPr>
            <a:r>
              <a:rPr sz="850" b="1" i="0" spc="120">
                <a:solidFill>
                  <a:srgbClr val="0F766E"/>
                </a:solidFill>
                <a:latin typeface="Segoe UI"/>
              </a:rPr>
              <a:t>WHAT MAKES IT DIFFERENT</a:t>
            </a:r>
          </a:p>
          <a:p>
            <a:pPr algn="l">
              <a:lnSpc>
                <a:spcPct val="145000"/>
              </a:lnSpc>
              <a:spcBef>
                <a:spcPts val="0"/>
              </a:spcBef>
              <a:spcAft>
                <a:spcPts val="1000"/>
              </a:spcAft>
            </a:pPr>
            <a:r>
              <a:rPr sz="1200" b="0" i="0">
                <a:solidFill>
                  <a:srgbClr val="0F172A"/>
                </a:solidFill>
                <a:latin typeface="Segoe UI"/>
              </a:rPr>
              <a:t>Donors pay with mobile money, the way they already do. The platform hashes each completed donation and writes that proof to a smart contract on a public Ethereum network.</a:t>
            </a:r>
          </a:p>
          <a:p>
            <a:pPr algn="l">
              <a:lnSpc>
                <a:spcPct val="145000"/>
              </a:lnSpc>
              <a:spcBef>
                <a:spcPts val="0"/>
              </a:spcBef>
              <a:spcAft>
                <a:spcPts val="0"/>
              </a:spcAft>
            </a:pPr>
            <a:r>
              <a:rPr sz="1200" b="0" i="0">
                <a:solidFill>
                  <a:srgbClr val="64748B"/>
                </a:solidFill>
                <a:latin typeface="Segoe UI"/>
              </a:rPr>
              <a:t>The donor never touches a wallet, never holds cryptocurrency, and never sees a block. They get a receipt number. Anyone holding that number can verify the donation independently, without an account and without asking us.</a:t>
            </a:r>
          </a:p>
        </p:txBody>
      </p:sp>
      <p:sp>
        <p:nvSpPr>
          <p:cNvPr id="16" name="Rounded Rectangle 15"/>
          <p:cNvSpPr/>
          <p:nvPr/>
        </p:nvSpPr>
        <p:spPr>
          <a:xfrm>
            <a:off x="7620787" y="3419856"/>
            <a:ext cx="3912539" cy="2615184"/>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931683" y="3730752"/>
            <a:ext cx="3290747" cy="2011680"/>
          </a:xfrm>
          <a:prstGeom prst="rect">
            <a:avLst/>
          </a:prstGeom>
          <a:noFill/>
        </p:spPr>
        <p:txBody>
          <a:bodyPr wrap="square" lIns="0" rIns="0" tIns="0" bIns="0" anchor="t">
            <a:spAutoFit/>
          </a:bodyPr>
          <a:lstStyle/>
          <a:p>
            <a:pPr algn="l">
              <a:lnSpc>
                <a:spcPct val="125000"/>
              </a:lnSpc>
              <a:spcBef>
                <a:spcPts val="0"/>
              </a:spcBef>
              <a:spcAft>
                <a:spcPts val="1200"/>
              </a:spcAft>
            </a:pPr>
            <a:r>
              <a:rPr sz="850" b="1" i="0" spc="120">
                <a:solidFill>
                  <a:srgbClr val="5EEAD4"/>
                </a:solidFill>
                <a:latin typeface="Segoe UI"/>
              </a:rPr>
              <a:t>DEPLOYED AND REACHABLE</a:t>
            </a:r>
          </a:p>
          <a:p>
            <a:pPr algn="l">
              <a:lnSpc>
                <a:spcPct val="125000"/>
              </a:lnSpc>
              <a:spcBef>
                <a:spcPts val="0"/>
              </a:spcBef>
              <a:spcAft>
                <a:spcPts val="600"/>
              </a:spcAft>
            </a:pPr>
            <a:r>
              <a:rPr sz="1300" b="1" i="0">
                <a:solidFill>
                  <a:srgbClr val="FFFFFF"/>
                </a:solidFill>
                <a:latin typeface="Segoe UI"/>
              </a:rPr>
              <a:t>changia-hazel.vercel.app</a:t>
            </a:r>
          </a:p>
          <a:p>
            <a:pPr algn="l">
              <a:lnSpc>
                <a:spcPct val="125000"/>
              </a:lnSpc>
              <a:spcBef>
                <a:spcPts val="0"/>
              </a:spcBef>
              <a:spcAft>
                <a:spcPts val="1200"/>
              </a:spcAft>
            </a:pPr>
            <a:r>
              <a:rPr sz="950" b="0" i="0">
                <a:solidFill>
                  <a:srgbClr val="A7D8D2"/>
                </a:solidFill>
                <a:latin typeface="Segoe UI"/>
              </a:rPr>
              <a:t>Frontend, Vercel</a:t>
            </a:r>
          </a:p>
          <a:p>
            <a:pPr algn="l">
              <a:lnSpc>
                <a:spcPct val="125000"/>
              </a:lnSpc>
              <a:spcBef>
                <a:spcPts val="0"/>
              </a:spcBef>
              <a:spcAft>
                <a:spcPts val="600"/>
              </a:spcAft>
            </a:pPr>
            <a:r>
              <a:rPr sz="1150" b="1" i="0">
                <a:solidFill>
                  <a:srgbClr val="FFFFFF"/>
                </a:solidFill>
                <a:latin typeface="Segoe UI"/>
              </a:rPr>
              <a:t>changia-api.onrender.com</a:t>
            </a:r>
          </a:p>
          <a:p>
            <a:pPr algn="l">
              <a:lnSpc>
                <a:spcPct val="125000"/>
              </a:lnSpc>
              <a:spcBef>
                <a:spcPts val="0"/>
              </a:spcBef>
              <a:spcAft>
                <a:spcPts val="1200"/>
              </a:spcAft>
            </a:pPr>
            <a:r>
              <a:rPr sz="950" b="0" i="0">
                <a:solidFill>
                  <a:srgbClr val="A7D8D2"/>
                </a:solidFill>
                <a:latin typeface="Segoe UI"/>
              </a:rPr>
              <a:t>API, Render  ·  PostgreSQL, Neon</a:t>
            </a:r>
          </a:p>
          <a:p>
            <a:pPr algn="l">
              <a:lnSpc>
                <a:spcPct val="125000"/>
              </a:lnSpc>
              <a:spcBef>
                <a:spcPts val="0"/>
              </a:spcBef>
              <a:spcAft>
                <a:spcPts val="600"/>
              </a:spcAft>
            </a:pPr>
            <a:r>
              <a:rPr sz="1150" b="1" i="0">
                <a:solidFill>
                  <a:srgbClr val="FFFFFF"/>
                </a:solidFill>
                <a:latin typeface="Segoe UI"/>
              </a:rPr>
              <a:t>Ethereum Sepolia</a:t>
            </a:r>
          </a:p>
          <a:p>
            <a:pPr algn="l">
              <a:lnSpc>
                <a:spcPct val="130000"/>
              </a:lnSpc>
              <a:spcBef>
                <a:spcPts val="0"/>
              </a:spcBef>
              <a:spcAft>
                <a:spcPts val="0"/>
              </a:spcAft>
            </a:pPr>
            <a:r>
              <a:rPr sz="750" b="0" i="0">
                <a:solidFill>
                  <a:srgbClr val="A7D8D2"/>
                </a:solidFill>
                <a:latin typeface="Consolas"/>
              </a:rPr>
              <a:t>0x353b6cdaD14774412B5C7612F0C0D153378F213A</a:t>
            </a:r>
          </a:p>
        </p:txBody>
      </p:sp>
      <p:sp>
        <p:nvSpPr>
          <p:cNvPr id="18" name="Rectangle 17"/>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6345936"/>
            <a:ext cx="75871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Overview</a:t>
            </a:r>
          </a:p>
        </p:txBody>
      </p:sp>
      <p:sp>
        <p:nvSpPr>
          <p:cNvPr id="21" name="TextBox 20"/>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766E"/>
              </a:gs>
              <a:gs pos="100000">
                <a:srgbClr val="0A3331"/>
              </a:gs>
            </a:gsLst>
            <a:lin scaled="0" ang="1992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887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12191695" cy="27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769864" y="274320"/>
            <a:ext cx="5760720" cy="4023360"/>
          </a:xfrm>
          <a:prstGeom prst="rect">
            <a:avLst/>
          </a:prstGeom>
          <a:noFill/>
        </p:spPr>
        <p:txBody>
          <a:bodyPr wrap="square" lIns="0" rIns="0" tIns="0" bIns="0" anchor="t">
            <a:spAutoFit/>
          </a:bodyPr>
          <a:lstStyle/>
          <a:p>
            <a:pPr algn="r">
              <a:lnSpc>
                <a:spcPct val="92000"/>
              </a:lnSpc>
              <a:spcBef>
                <a:spcPts val="0"/>
              </a:spcBef>
              <a:spcAft>
                <a:spcPts val="0"/>
              </a:spcAft>
            </a:pPr>
            <a:r>
              <a:rPr sz="21000" b="1" i="0">
                <a:solidFill>
                  <a:srgbClr val="134E4A"/>
                </a:solidFill>
                <a:latin typeface="Georgia"/>
              </a:rPr>
              <a:t>5</a:t>
            </a:r>
          </a:p>
        </p:txBody>
      </p:sp>
      <p:sp>
        <p:nvSpPr>
          <p:cNvPr id="6" name="TextBox 5"/>
          <p:cNvSpPr txBox="1"/>
          <p:nvPr/>
        </p:nvSpPr>
        <p:spPr>
          <a:xfrm>
            <a:off x="932688" y="1298448"/>
            <a:ext cx="5486400" cy="365760"/>
          </a:xfrm>
          <a:prstGeom prst="rect">
            <a:avLst/>
          </a:prstGeom>
          <a:noFill/>
        </p:spPr>
        <p:txBody>
          <a:bodyPr wrap="square" lIns="0" rIns="0" tIns="0" bIns="0" anchor="t">
            <a:spAutoFit/>
          </a:bodyPr>
          <a:lstStyle/>
          <a:p>
            <a:pPr algn="l">
              <a:lnSpc>
                <a:spcPct val="125000"/>
              </a:lnSpc>
              <a:spcBef>
                <a:spcPts val="0"/>
              </a:spcBef>
              <a:spcAft>
                <a:spcPts val="0"/>
              </a:spcAft>
            </a:pPr>
            <a:r>
              <a:rPr sz="1000" b="1" i="0" spc="200">
                <a:solidFill>
                  <a:srgbClr val="5EEAD4"/>
                </a:solidFill>
                <a:latin typeface="Segoe UI"/>
              </a:rPr>
              <a:t>CHAPTER 5</a:t>
            </a:r>
          </a:p>
        </p:txBody>
      </p:sp>
      <p:sp>
        <p:nvSpPr>
          <p:cNvPr id="7" name="TextBox 6"/>
          <p:cNvSpPr txBox="1"/>
          <p:nvPr/>
        </p:nvSpPr>
        <p:spPr>
          <a:xfrm>
            <a:off x="932688" y="1700784"/>
            <a:ext cx="6035040" cy="1371600"/>
          </a:xfrm>
          <a:prstGeom prst="rect">
            <a:avLst/>
          </a:prstGeom>
          <a:noFill/>
        </p:spPr>
        <p:txBody>
          <a:bodyPr wrap="square" lIns="0" rIns="0" tIns="0" bIns="0" anchor="t">
            <a:spAutoFit/>
          </a:bodyPr>
          <a:lstStyle/>
          <a:p>
            <a:pPr algn="l">
              <a:lnSpc>
                <a:spcPct val="112000"/>
              </a:lnSpc>
              <a:spcBef>
                <a:spcPts val="0"/>
              </a:spcBef>
              <a:spcAft>
                <a:spcPts val="0"/>
              </a:spcAft>
            </a:pPr>
            <a:r>
              <a:rPr sz="3600" b="0" i="0">
                <a:solidFill>
                  <a:srgbClr val="FFFFFF"/>
                </a:solidFill>
                <a:latin typeface="Georgia"/>
              </a:rPr>
              <a:t>System Requirement
Specification</a:t>
            </a:r>
          </a:p>
        </p:txBody>
      </p:sp>
      <p:sp>
        <p:nvSpPr>
          <p:cNvPr id="8" name="Rectangle 7"/>
          <p:cNvSpPr/>
          <p:nvPr/>
        </p:nvSpPr>
        <p:spPr>
          <a:xfrm>
            <a:off x="932688" y="3127248"/>
            <a:ext cx="1280160" cy="25400"/>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345643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01</a:t>
            </a:r>
          </a:p>
        </p:txBody>
      </p:sp>
      <p:sp>
        <p:nvSpPr>
          <p:cNvPr id="10" name="TextBox 9"/>
          <p:cNvSpPr txBox="1"/>
          <p:nvPr/>
        </p:nvSpPr>
        <p:spPr>
          <a:xfrm>
            <a:off x="1371600" y="345643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Introduction</a:t>
            </a:r>
          </a:p>
        </p:txBody>
      </p:sp>
      <p:sp>
        <p:nvSpPr>
          <p:cNvPr id="11" name="TextBox 10"/>
          <p:cNvSpPr txBox="1"/>
          <p:nvPr/>
        </p:nvSpPr>
        <p:spPr>
          <a:xfrm>
            <a:off x="932688" y="400507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02</a:t>
            </a:r>
          </a:p>
        </p:txBody>
      </p:sp>
      <p:sp>
        <p:nvSpPr>
          <p:cNvPr id="12" name="TextBox 11"/>
          <p:cNvSpPr txBox="1"/>
          <p:nvPr/>
        </p:nvSpPr>
        <p:spPr>
          <a:xfrm>
            <a:off x="1371600" y="400507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Existing System Analysis</a:t>
            </a:r>
          </a:p>
        </p:txBody>
      </p:sp>
      <p:sp>
        <p:nvSpPr>
          <p:cNvPr id="13" name="TextBox 12"/>
          <p:cNvSpPr txBox="1"/>
          <p:nvPr/>
        </p:nvSpPr>
        <p:spPr>
          <a:xfrm>
            <a:off x="932688" y="455371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03</a:t>
            </a:r>
          </a:p>
        </p:txBody>
      </p:sp>
      <p:sp>
        <p:nvSpPr>
          <p:cNvPr id="14" name="TextBox 13"/>
          <p:cNvSpPr txBox="1"/>
          <p:nvPr/>
        </p:nvSpPr>
        <p:spPr>
          <a:xfrm>
            <a:off x="1371600" y="455371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Proposed System</a:t>
            </a:r>
          </a:p>
        </p:txBody>
      </p:sp>
      <p:sp>
        <p:nvSpPr>
          <p:cNvPr id="15" name="TextBox 14"/>
          <p:cNvSpPr txBox="1"/>
          <p:nvPr/>
        </p:nvSpPr>
        <p:spPr>
          <a:xfrm>
            <a:off x="932688" y="510235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04</a:t>
            </a:r>
          </a:p>
        </p:txBody>
      </p:sp>
      <p:sp>
        <p:nvSpPr>
          <p:cNvPr id="16" name="TextBox 15"/>
          <p:cNvSpPr txBox="1"/>
          <p:nvPr/>
        </p:nvSpPr>
        <p:spPr>
          <a:xfrm>
            <a:off x="1371600" y="510235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Functional Requirements</a:t>
            </a:r>
          </a:p>
        </p:txBody>
      </p:sp>
      <p:sp>
        <p:nvSpPr>
          <p:cNvPr id="17" name="TextBox 16"/>
          <p:cNvSpPr txBox="1"/>
          <p:nvPr/>
        </p:nvSpPr>
        <p:spPr>
          <a:xfrm>
            <a:off x="4178808" y="345643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05</a:t>
            </a:r>
          </a:p>
        </p:txBody>
      </p:sp>
      <p:sp>
        <p:nvSpPr>
          <p:cNvPr id="18" name="TextBox 17"/>
          <p:cNvSpPr txBox="1"/>
          <p:nvPr/>
        </p:nvSpPr>
        <p:spPr>
          <a:xfrm>
            <a:off x="4617720" y="345643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Non-Functional Requirements</a:t>
            </a:r>
          </a:p>
        </p:txBody>
      </p:sp>
      <p:sp>
        <p:nvSpPr>
          <p:cNvPr id="19" name="TextBox 18"/>
          <p:cNvSpPr txBox="1"/>
          <p:nvPr/>
        </p:nvSpPr>
        <p:spPr>
          <a:xfrm>
            <a:off x="4178808" y="400507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06</a:t>
            </a:r>
          </a:p>
        </p:txBody>
      </p:sp>
      <p:sp>
        <p:nvSpPr>
          <p:cNvPr id="20" name="TextBox 19"/>
          <p:cNvSpPr txBox="1"/>
          <p:nvPr/>
        </p:nvSpPr>
        <p:spPr>
          <a:xfrm>
            <a:off x="4617720" y="400507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User and System Requirements</a:t>
            </a:r>
          </a:p>
        </p:txBody>
      </p:sp>
      <p:sp>
        <p:nvSpPr>
          <p:cNvPr id="21" name="TextBox 20"/>
          <p:cNvSpPr txBox="1"/>
          <p:nvPr/>
        </p:nvSpPr>
        <p:spPr>
          <a:xfrm>
            <a:off x="4178808" y="455371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07</a:t>
            </a:r>
          </a:p>
        </p:txBody>
      </p:sp>
      <p:sp>
        <p:nvSpPr>
          <p:cNvPr id="22" name="TextBox 21"/>
          <p:cNvSpPr txBox="1"/>
          <p:nvPr/>
        </p:nvSpPr>
        <p:spPr>
          <a:xfrm>
            <a:off x="4617720" y="455371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Feasibility Study</a:t>
            </a:r>
          </a:p>
        </p:txBody>
      </p:sp>
      <p:sp>
        <p:nvSpPr>
          <p:cNvPr id="23" name="TextBox 22"/>
          <p:cNvSpPr txBox="1"/>
          <p:nvPr/>
        </p:nvSpPr>
        <p:spPr>
          <a:xfrm>
            <a:off x="4178808" y="510235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08</a:t>
            </a:r>
          </a:p>
        </p:txBody>
      </p:sp>
      <p:sp>
        <p:nvSpPr>
          <p:cNvPr id="24" name="TextBox 23"/>
          <p:cNvSpPr txBox="1"/>
          <p:nvPr/>
        </p:nvSpPr>
        <p:spPr>
          <a:xfrm>
            <a:off x="4617720" y="510235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SRS Use-Case Model</a:t>
            </a:r>
          </a:p>
        </p:txBody>
      </p:sp>
      <p:sp>
        <p:nvSpPr>
          <p:cNvPr id="25" name="Rounded Rectangle 24"/>
          <p:cNvSpPr/>
          <p:nvPr/>
        </p:nvSpPr>
        <p:spPr>
          <a:xfrm>
            <a:off x="932688" y="6053328"/>
            <a:ext cx="274320" cy="274320"/>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6" name="Connector 25"/>
          <p:cNvCxnSpPr/>
          <p:nvPr/>
        </p:nvCxnSpPr>
        <p:spPr>
          <a:xfrm>
            <a:off x="998524" y="6195974"/>
            <a:ext cx="52121" cy="52121"/>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47902" y="6135624"/>
            <a:ext cx="96012" cy="112471"/>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71600" y="6089904"/>
            <a:ext cx="2743200" cy="274320"/>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A7D8D2"/>
                </a:solidFill>
                <a:latin typeface="Georgia"/>
              </a:rPr>
              <a:t>Changia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Introduction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What this chapter establishes before any design work begins.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121408"/>
            <a:ext cx="6524975" cy="3108960"/>
          </a:xfrm>
          <a:prstGeom prst="rect">
            <a:avLst/>
          </a:prstGeom>
          <a:noFill/>
        </p:spPr>
        <p:txBody>
          <a:bodyPr wrap="square" lIns="0" rIns="0" tIns="0" bIns="0" anchor="t">
            <a:spAutoFit/>
          </a:bodyPr>
          <a:lstStyle/>
          <a:p>
            <a:pPr algn="l" marL="160020" indent="-160020">
              <a:lnSpc>
                <a:spcPct val="150000"/>
              </a:lnSpc>
              <a:spcBef>
                <a:spcPts val="0"/>
              </a:spcBef>
              <a:spcAft>
                <a:spcPts val="1600"/>
              </a:spcAft>
              <a:buClr>
                <a:srgbClr val="0F766E"/>
              </a:buClr>
              <a:buSzPts val="1300"/>
              <a:buFont typeface="Segoe UI"/>
              <a:buChar char="•"/>
            </a:pPr>
            <a:r>
              <a:rPr sz="1300" b="0" i="0">
                <a:solidFill>
                  <a:srgbClr val="0F172A"/>
                </a:solidFill>
                <a:latin typeface="Segoe UI"/>
              </a:rPr>
              <a:t>This chapter defines WHAT the system must do, stated precisely enough that every requirement can later be traced to a test case.</a:t>
            </a:r>
          </a:p>
          <a:p>
            <a:pPr algn="l" marL="160020" indent="-160020">
              <a:lnSpc>
                <a:spcPct val="150000"/>
              </a:lnSpc>
              <a:spcBef>
                <a:spcPts val="0"/>
              </a:spcBef>
              <a:spcAft>
                <a:spcPts val="1600"/>
              </a:spcAft>
              <a:buClr>
                <a:srgbClr val="0F766E"/>
              </a:buClr>
              <a:buSzPts val="1300"/>
              <a:buFont typeface="Segoe UI"/>
              <a:buChar char="•"/>
            </a:pPr>
            <a:r>
              <a:rPr sz="1300" b="0" i="0">
                <a:solidFill>
                  <a:srgbClr val="64748B"/>
                </a:solidFill>
                <a:latin typeface="Segoe UI"/>
              </a:rPr>
              <a:t>The problem is trust. Tanzanian donors give through mobile money and receive a payment confirmation, but no independently verifiable record of what happened to the money afterwards.</a:t>
            </a:r>
          </a:p>
          <a:p>
            <a:pPr algn="l" marL="160020" indent="-160020">
              <a:lnSpc>
                <a:spcPct val="150000"/>
              </a:lnSpc>
              <a:spcBef>
                <a:spcPts val="0"/>
              </a:spcBef>
              <a:spcAft>
                <a:spcPts val="1600"/>
              </a:spcAft>
              <a:buClr>
                <a:srgbClr val="0F766E"/>
              </a:buClr>
              <a:buSzPts val="1300"/>
              <a:buFont typeface="Segoe UI"/>
              <a:buChar char="•"/>
            </a:pPr>
            <a:r>
              <a:rPr sz="1300" b="0" i="0">
                <a:solidFill>
                  <a:srgbClr val="64748B"/>
                </a:solidFill>
                <a:latin typeface="Segoe UI"/>
              </a:rPr>
              <a:t>Stakeholders are donors, community fundraisers, beneficiaries, platform administrators, and the regulators who oversee charitable giving.</a:t>
            </a:r>
          </a:p>
        </p:txBody>
      </p:sp>
      <p:sp>
        <p:nvSpPr>
          <p:cNvPr id="8" name="Rounded Rectangle 7"/>
          <p:cNvSpPr/>
          <p:nvPr/>
        </p:nvSpPr>
        <p:spPr>
          <a:xfrm>
            <a:off x="7567391" y="2121408"/>
            <a:ext cx="3965935" cy="1737360"/>
          </a:xfrm>
          <a:prstGeom prst="roundRect">
            <a:avLst>
              <a:gd name="adj" fmla="val 50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567391" y="2231136"/>
            <a:ext cx="32004" cy="15179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23423" y="2322576"/>
            <a:ext cx="3508735" cy="1371600"/>
          </a:xfrm>
          <a:prstGeom prst="rect">
            <a:avLst/>
          </a:prstGeom>
          <a:noFill/>
        </p:spPr>
        <p:txBody>
          <a:bodyPr wrap="square" lIns="0" rIns="0" tIns="0" bIns="0" anchor="t">
            <a:spAutoFit/>
          </a:bodyPr>
          <a:lstStyle/>
          <a:p>
            <a:pPr algn="l">
              <a:lnSpc>
                <a:spcPct val="125000"/>
              </a:lnSpc>
              <a:spcBef>
                <a:spcPts val="0"/>
              </a:spcBef>
              <a:spcAft>
                <a:spcPts val="700"/>
              </a:spcAft>
            </a:pPr>
            <a:r>
              <a:rPr sz="850" b="1" i="0" spc="110">
                <a:solidFill>
                  <a:srgbClr val="134E4A"/>
                </a:solidFill>
                <a:latin typeface="Segoe UI"/>
              </a:rPr>
              <a:t>READING ORDER</a:t>
            </a:r>
          </a:p>
          <a:p>
            <a:pPr algn="l">
              <a:lnSpc>
                <a:spcPct val="135000"/>
              </a:lnSpc>
              <a:spcBef>
                <a:spcPts val="0"/>
              </a:spcBef>
              <a:spcAft>
                <a:spcPts val="0"/>
              </a:spcAft>
            </a:pPr>
            <a:r>
              <a:rPr sz="1100" b="0" i="0">
                <a:solidFill>
                  <a:srgbClr val="134E4A"/>
                </a:solidFill>
                <a:latin typeface="Segoe UI"/>
              </a:rPr>
              <a:t>Existing system, proposed system, functional and non-functional requirements, user and system requirements, feasibility, then the SRS model.</a:t>
            </a:r>
          </a:p>
        </p:txBody>
      </p:sp>
      <p:sp>
        <p:nvSpPr>
          <p:cNvPr id="11" name="Rectangle 1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6345936"/>
            <a:ext cx="1264530"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14" name="TextBox 1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5.2</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Existing System Analysis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Three families of system exist today. Each fails a different part of the trust problem.</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3454298" cy="19202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2267711"/>
            <a:ext cx="2942234"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Manual NGO records</a:t>
            </a:r>
          </a:p>
        </p:txBody>
      </p:sp>
      <p:sp>
        <p:nvSpPr>
          <p:cNvPr id="9" name="Rectangle 8"/>
          <p:cNvSpPr/>
          <p:nvPr/>
        </p:nvSpPr>
        <p:spPr>
          <a:xfrm>
            <a:off x="914400" y="2596895"/>
            <a:ext cx="1000359"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2761487"/>
            <a:ext cx="2942234" cy="10607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Spreadsheets and paper receipts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Records editable after the fact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 donor-facing visibility at all</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Reconciliation is slow and manual</a:t>
            </a:r>
          </a:p>
        </p:txBody>
      </p:sp>
      <p:sp>
        <p:nvSpPr>
          <p:cNvPr id="11" name="Rounded Rectangle 10"/>
          <p:cNvSpPr/>
          <p:nvPr/>
        </p:nvSpPr>
        <p:spPr>
          <a:xfrm>
            <a:off x="4368698" y="2029967"/>
            <a:ext cx="3454298" cy="19202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24730" y="2267711"/>
            <a:ext cx="2942234"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Direct mobile money</a:t>
            </a:r>
          </a:p>
        </p:txBody>
      </p:sp>
      <p:sp>
        <p:nvSpPr>
          <p:cNvPr id="13" name="Rectangle 12"/>
          <p:cNvSpPr/>
          <p:nvPr/>
        </p:nvSpPr>
        <p:spPr>
          <a:xfrm>
            <a:off x="4624730" y="2596895"/>
            <a:ext cx="1000359"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24730" y="2761487"/>
            <a:ext cx="2942234" cy="10607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Familiar and widely adopted</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Confirms payment, not utilisation</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 campaign or beneficiary context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 public audit trail</a:t>
            </a:r>
          </a:p>
        </p:txBody>
      </p:sp>
      <p:sp>
        <p:nvSpPr>
          <p:cNvPr id="15" name="Rounded Rectangle 14"/>
          <p:cNvSpPr/>
          <p:nvPr/>
        </p:nvSpPr>
        <p:spPr>
          <a:xfrm>
            <a:off x="8079028" y="2029967"/>
            <a:ext cx="3454298" cy="19202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35060" y="2267711"/>
            <a:ext cx="2942234"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Crypto donation platforms</a:t>
            </a:r>
          </a:p>
        </p:txBody>
      </p:sp>
      <p:sp>
        <p:nvSpPr>
          <p:cNvPr id="17" name="Rectangle 16"/>
          <p:cNvSpPr/>
          <p:nvPr/>
        </p:nvSpPr>
        <p:spPr>
          <a:xfrm>
            <a:off x="8335060" y="2596895"/>
            <a:ext cx="1000359"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35060" y="2761487"/>
            <a:ext cx="2942234" cy="10607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Genuinely immutable records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Require cryptocurrency to donate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Unusable for the ordinary Tanzanian donor</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Wallet and volatility barriers</a:t>
            </a:r>
          </a:p>
        </p:txBody>
      </p:sp>
      <p:sp>
        <p:nvSpPr>
          <p:cNvPr id="19" name="TextBox 18"/>
          <p:cNvSpPr txBox="1"/>
          <p:nvPr/>
        </p:nvSpPr>
        <p:spPr>
          <a:xfrm>
            <a:off x="658368" y="4187952"/>
            <a:ext cx="36576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WEAKNESSES CARRIED FORWARD TO 5.3</a:t>
            </a:r>
          </a:p>
        </p:txBody>
      </p:sp>
      <p:sp>
        <p:nvSpPr>
          <p:cNvPr id="20" name="TextBox 19"/>
          <p:cNvSpPr txBox="1"/>
          <p:nvPr/>
        </p:nvSpPr>
        <p:spPr>
          <a:xfrm>
            <a:off x="658368" y="4498848"/>
            <a:ext cx="10874959" cy="1737360"/>
          </a:xfrm>
          <a:prstGeom prst="rect">
            <a:avLst/>
          </a:prstGeom>
          <a:noFill/>
        </p:spPr>
        <p:txBody>
          <a:bodyPr wrap="square" lIns="0" rIns="0" tIns="0" bIns="0" anchor="t">
            <a:spAutoFit/>
          </a:bodyPr>
          <a:lstStyle/>
          <a:p>
            <a:pPr algn="l" marL="160020" indent="-160020">
              <a:lnSpc>
                <a:spcPct val="140000"/>
              </a:lnSpc>
              <a:spcBef>
                <a:spcPts val="0"/>
              </a:spcBef>
              <a:spcAft>
                <a:spcPts val="800"/>
              </a:spcAft>
              <a:buClr>
                <a:srgbClr val="FF6B6B"/>
              </a:buClr>
              <a:buSzPts val="1150"/>
              <a:buFont typeface="Segoe UI"/>
              <a:buChar char="•"/>
            </a:pPr>
            <a:r>
              <a:rPr sz="1150" b="0" i="0">
                <a:solidFill>
                  <a:srgbClr val="0F172A"/>
                </a:solidFill>
                <a:latin typeface="Segoe UI"/>
              </a:rPr>
              <a:t>W1  Records can be altered after the fact, so a donation history cannot be trusted as evidence.</a:t>
            </a:r>
          </a:p>
          <a:p>
            <a:pPr algn="l" marL="160020" indent="-160020">
              <a:lnSpc>
                <a:spcPct val="140000"/>
              </a:lnSpc>
              <a:spcBef>
                <a:spcPts val="0"/>
              </a:spcBef>
              <a:spcAft>
                <a:spcPts val="800"/>
              </a:spcAft>
              <a:buClr>
                <a:srgbClr val="FF6B6B"/>
              </a:buClr>
              <a:buSzPts val="1150"/>
              <a:buFont typeface="Segoe UI"/>
              <a:buChar char="•"/>
            </a:pPr>
            <a:r>
              <a:rPr sz="1150" b="0" i="0">
                <a:solidFill>
                  <a:srgbClr val="0F172A"/>
                </a:solidFill>
                <a:latin typeface="Segoe UI"/>
              </a:rPr>
              <a:t>W2  Donors see a payment confirmation, never proof of what the funds were used for.</a:t>
            </a:r>
          </a:p>
          <a:p>
            <a:pPr algn="l" marL="160020" indent="-160020">
              <a:lnSpc>
                <a:spcPct val="140000"/>
              </a:lnSpc>
              <a:spcBef>
                <a:spcPts val="0"/>
              </a:spcBef>
              <a:spcAft>
                <a:spcPts val="800"/>
              </a:spcAft>
              <a:buClr>
                <a:srgbClr val="FF6B6B"/>
              </a:buClr>
              <a:buSzPts val="1150"/>
              <a:buFont typeface="Segoe UI"/>
              <a:buChar char="•"/>
            </a:pPr>
            <a:r>
              <a:rPr sz="1150" b="0" i="0">
                <a:solidFill>
                  <a:srgbClr val="0F172A"/>
                </a:solidFill>
                <a:latin typeface="Segoe UI"/>
              </a:rPr>
              <a:t>W3  Transparent alternatives demand cryptocurrency, excluding the users who actually give.</a:t>
            </a:r>
          </a:p>
          <a:p>
            <a:pPr algn="l" marL="160020" indent="-160020">
              <a:lnSpc>
                <a:spcPct val="140000"/>
              </a:lnSpc>
              <a:spcBef>
                <a:spcPts val="0"/>
              </a:spcBef>
              <a:spcAft>
                <a:spcPts val="800"/>
              </a:spcAft>
              <a:buClr>
                <a:srgbClr val="FF6B6B"/>
              </a:buClr>
              <a:buSzPts val="1150"/>
              <a:buFont typeface="Segoe UI"/>
              <a:buChar char="•"/>
            </a:pPr>
            <a:r>
              <a:rPr sz="1150" b="0" i="0">
                <a:solidFill>
                  <a:srgbClr val="0F172A"/>
                </a:solidFill>
                <a:latin typeface="Segoe UI"/>
              </a:rPr>
              <a:t>W4  Nothing separates the person who benefits from a payout from the person who releases it.</a:t>
            </a:r>
          </a:p>
        </p:txBody>
      </p:sp>
      <p:sp>
        <p:nvSpPr>
          <p:cNvPr id="21" name="Rectangle 2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6345936"/>
            <a:ext cx="1517436"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24" name="TextBox 2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5.3</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Proposed System</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Changia. Familiar payment in front, immutable proof behind, and separation of duties on every payout.</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26715" cy="22128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914400" y="2267711"/>
            <a:ext cx="475488" cy="237744"/>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FFFFFF"/>
                </a:solidFill>
                <a:latin typeface="Segoe UI"/>
              </a:rPr>
              <a:t>W1</a:t>
            </a:r>
          </a:p>
        </p:txBody>
      </p:sp>
      <p:sp>
        <p:nvSpPr>
          <p:cNvPr id="9" name="TextBox 8"/>
          <p:cNvSpPr txBox="1"/>
          <p:nvPr/>
        </p:nvSpPr>
        <p:spPr>
          <a:xfrm>
            <a:off x="914400" y="2651760"/>
            <a:ext cx="2014651" cy="146304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134E4A"/>
                </a:solidFill>
                <a:latin typeface="Georgia"/>
              </a:rPr>
              <a:t>Immutable records</a:t>
            </a:r>
          </a:p>
          <a:p>
            <a:pPr algn="l">
              <a:lnSpc>
                <a:spcPct val="140000"/>
              </a:lnSpc>
              <a:spcBef>
                <a:spcPts val="0"/>
              </a:spcBef>
              <a:spcAft>
                <a:spcPts val="0"/>
              </a:spcAft>
            </a:pPr>
            <a:r>
              <a:rPr sz="1000" b="0" i="0">
                <a:solidFill>
                  <a:srgbClr val="64748B"/>
                </a:solidFill>
                <a:latin typeface="Segoe UI"/>
              </a:rPr>
              <a:t>Every donation writes a proof hash to a smart contract on Ethereum Sepolia. The database row can be read, never silently rewritten.</a:t>
            </a:r>
          </a:p>
        </p:txBody>
      </p:sp>
      <p:sp>
        <p:nvSpPr>
          <p:cNvPr id="10" name="Rounded Rectangle 9"/>
          <p:cNvSpPr/>
          <p:nvPr/>
        </p:nvSpPr>
        <p:spPr>
          <a:xfrm>
            <a:off x="3441115" y="2029967"/>
            <a:ext cx="2526715" cy="22128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3697147" y="2267711"/>
            <a:ext cx="475488" cy="237744"/>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FFFFFF"/>
                </a:solidFill>
                <a:latin typeface="Segoe UI"/>
              </a:rPr>
              <a:t>W2</a:t>
            </a:r>
          </a:p>
        </p:txBody>
      </p:sp>
      <p:sp>
        <p:nvSpPr>
          <p:cNvPr id="12" name="TextBox 11"/>
          <p:cNvSpPr txBox="1"/>
          <p:nvPr/>
        </p:nvSpPr>
        <p:spPr>
          <a:xfrm>
            <a:off x="3697147" y="2651760"/>
            <a:ext cx="2014651" cy="146304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134E4A"/>
                </a:solidFill>
                <a:latin typeface="Georgia"/>
              </a:rPr>
              <a:t>Public verification</a:t>
            </a:r>
          </a:p>
          <a:p>
            <a:pPr algn="l">
              <a:lnSpc>
                <a:spcPct val="140000"/>
              </a:lnSpc>
              <a:spcBef>
                <a:spcPts val="0"/>
              </a:spcBef>
              <a:spcAft>
                <a:spcPts val="0"/>
              </a:spcAft>
            </a:pPr>
            <a:r>
              <a:rPr sz="1000" b="0" i="0">
                <a:solidFill>
                  <a:srgbClr val="64748B"/>
                </a:solidFill>
                <a:latin typeface="Segoe UI"/>
              </a:rPr>
              <a:t>Any person can enter a receipt number on a public page and see the campaign, amount, date and transaction hash. No login required.</a:t>
            </a:r>
          </a:p>
        </p:txBody>
      </p:sp>
      <p:sp>
        <p:nvSpPr>
          <p:cNvPr id="13" name="Rounded Rectangle 12"/>
          <p:cNvSpPr/>
          <p:nvPr/>
        </p:nvSpPr>
        <p:spPr>
          <a:xfrm>
            <a:off x="6223863" y="2029967"/>
            <a:ext cx="2526715" cy="22128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479895" y="2267711"/>
            <a:ext cx="475488" cy="237744"/>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FFFFFF"/>
                </a:solidFill>
                <a:latin typeface="Segoe UI"/>
              </a:rPr>
              <a:t>W3</a:t>
            </a:r>
          </a:p>
        </p:txBody>
      </p:sp>
      <p:sp>
        <p:nvSpPr>
          <p:cNvPr id="15" name="TextBox 14"/>
          <p:cNvSpPr txBox="1"/>
          <p:nvPr/>
        </p:nvSpPr>
        <p:spPr>
          <a:xfrm>
            <a:off x="6479895" y="2651760"/>
            <a:ext cx="2014651" cy="146304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134E4A"/>
                </a:solidFill>
                <a:latin typeface="Georgia"/>
              </a:rPr>
              <a:t>Local payment methods</a:t>
            </a:r>
          </a:p>
          <a:p>
            <a:pPr algn="l">
              <a:lnSpc>
                <a:spcPct val="140000"/>
              </a:lnSpc>
              <a:spcBef>
                <a:spcPts val="0"/>
              </a:spcBef>
              <a:spcAft>
                <a:spcPts val="0"/>
              </a:spcAft>
            </a:pPr>
            <a:r>
              <a:rPr sz="1000" b="0" i="0">
                <a:solidFill>
                  <a:srgbClr val="64748B"/>
                </a:solidFill>
                <a:latin typeface="Segoe UI"/>
              </a:rPr>
              <a:t>Donors pay with mobile money or bank transfer. Blockchain stays invisible to them. No wallet, no cryptocurrency, no volatility.</a:t>
            </a:r>
          </a:p>
        </p:txBody>
      </p:sp>
      <p:sp>
        <p:nvSpPr>
          <p:cNvPr id="16" name="Rounded Rectangle 15"/>
          <p:cNvSpPr/>
          <p:nvPr/>
        </p:nvSpPr>
        <p:spPr>
          <a:xfrm>
            <a:off x="9006611" y="2029967"/>
            <a:ext cx="2526715" cy="22128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262643" y="2267711"/>
            <a:ext cx="475488" cy="237744"/>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FFFFFF"/>
                </a:solidFill>
                <a:latin typeface="Segoe UI"/>
              </a:rPr>
              <a:t>W4</a:t>
            </a:r>
          </a:p>
        </p:txBody>
      </p:sp>
      <p:sp>
        <p:nvSpPr>
          <p:cNvPr id="18" name="TextBox 17"/>
          <p:cNvSpPr txBox="1"/>
          <p:nvPr/>
        </p:nvSpPr>
        <p:spPr>
          <a:xfrm>
            <a:off x="9262643" y="2651760"/>
            <a:ext cx="2014651" cy="146304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134E4A"/>
                </a:solidFill>
                <a:latin typeface="Georgia"/>
              </a:rPr>
              <a:t>Separation of duties</a:t>
            </a:r>
          </a:p>
          <a:p>
            <a:pPr algn="l">
              <a:lnSpc>
                <a:spcPct val="140000"/>
              </a:lnSpc>
              <a:spcBef>
                <a:spcPts val="0"/>
              </a:spcBef>
              <a:spcAft>
                <a:spcPts val="0"/>
              </a:spcAft>
            </a:pPr>
            <a:r>
              <a:rPr sz="1000" b="0" i="0">
                <a:solidFill>
                  <a:srgbClr val="64748B"/>
                </a:solidFill>
                <a:latin typeface="Segoe UI"/>
              </a:rPr>
              <a:t>Beneficiary verification is administrator-only, and payouts above a cumulative threshold need a second administrator who is never the initiator.</a:t>
            </a:r>
          </a:p>
        </p:txBody>
      </p:sp>
      <p:sp>
        <p:nvSpPr>
          <p:cNvPr id="19" name="TextBox 18"/>
          <p:cNvSpPr txBox="1"/>
          <p:nvPr/>
        </p:nvSpPr>
        <p:spPr>
          <a:xfrm>
            <a:off x="658368" y="4480560"/>
            <a:ext cx="5300319" cy="274320"/>
          </a:xfrm>
          <a:prstGeom prst="rect">
            <a:avLst/>
          </a:prstGeom>
          <a:noFill/>
        </p:spPr>
        <p:txBody>
          <a:bodyPr wrap="square" lIns="0" rIns="0" tIns="0" bIns="0" anchor="t">
            <a:spAutoFit/>
          </a:bodyPr>
          <a:lstStyle/>
          <a:p>
            <a:pPr algn="l">
              <a:lnSpc>
                <a:spcPct val="125000"/>
              </a:lnSpc>
              <a:spcBef>
                <a:spcPts val="0"/>
              </a:spcBef>
              <a:spcAft>
                <a:spcPts val="0"/>
              </a:spcAft>
            </a:pPr>
            <a:r>
              <a:rPr sz="850" b="1" i="0" spc="120">
                <a:solidFill>
                  <a:srgbClr val="0F766E"/>
                </a:solidFill>
                <a:latin typeface="Segoe UI"/>
              </a:rPr>
              <a:t>IN SCOPE</a:t>
            </a:r>
          </a:p>
        </p:txBody>
      </p:sp>
      <p:sp>
        <p:nvSpPr>
          <p:cNvPr id="20" name="TextBox 19"/>
          <p:cNvSpPr txBox="1"/>
          <p:nvPr/>
        </p:nvSpPr>
        <p:spPr>
          <a:xfrm>
            <a:off x="658368" y="4754880"/>
            <a:ext cx="5300319" cy="1371600"/>
          </a:xfrm>
          <a:prstGeom prst="rect">
            <a:avLst/>
          </a:prstGeom>
          <a:noFill/>
        </p:spPr>
        <p:txBody>
          <a:bodyPr wrap="square" lIns="0" rIns="0" tIns="0" bIns="0" anchor="t">
            <a:spAutoFit/>
          </a:bodyPr>
          <a:lstStyle/>
          <a:p>
            <a:pPr algn="l" marL="160020" indent="-160020">
              <a:lnSpc>
                <a:spcPct val="132000"/>
              </a:lnSpc>
              <a:spcBef>
                <a:spcPts val="0"/>
              </a:spcBef>
              <a:spcAft>
                <a:spcPts val="400"/>
              </a:spcAft>
              <a:buClr>
                <a:srgbClr val="0F766E"/>
              </a:buClr>
              <a:buSzPts val="1000"/>
              <a:buFont typeface="Segoe UI"/>
              <a:buChar char="•"/>
            </a:pPr>
            <a:r>
              <a:rPr sz="1000" b="0" i="0">
                <a:solidFill>
                  <a:srgbClr val="64748B"/>
                </a:solidFill>
                <a:latin typeface="Segoe UI"/>
              </a:rPr>
              <a:t>Web platform for donors, fundraisers and administrators</a:t>
            </a:r>
          </a:p>
          <a:p>
            <a:pPr algn="l" marL="160020" indent="-160020">
              <a:lnSpc>
                <a:spcPct val="132000"/>
              </a:lnSpc>
              <a:spcBef>
                <a:spcPts val="0"/>
              </a:spcBef>
              <a:spcAft>
                <a:spcPts val="400"/>
              </a:spcAft>
              <a:buClr>
                <a:srgbClr val="0F766E"/>
              </a:buClr>
              <a:buSzPts val="1000"/>
              <a:buFont typeface="Segoe UI"/>
              <a:buChar char="•"/>
            </a:pPr>
            <a:r>
              <a:rPr sz="1000" b="0" i="0">
                <a:solidFill>
                  <a:srgbClr val="64748B"/>
                </a:solidFill>
                <a:latin typeface="Segoe UI"/>
              </a:rPr>
              <a:t>Mobile money and bank donations in Tanzanian Shillings</a:t>
            </a:r>
          </a:p>
          <a:p>
            <a:pPr algn="l" marL="160020" indent="-160020">
              <a:lnSpc>
                <a:spcPct val="132000"/>
              </a:lnSpc>
              <a:spcBef>
                <a:spcPts val="0"/>
              </a:spcBef>
              <a:spcAft>
                <a:spcPts val="400"/>
              </a:spcAft>
              <a:buClr>
                <a:srgbClr val="0F766E"/>
              </a:buClr>
              <a:buSzPts val="1000"/>
              <a:buFont typeface="Segoe UI"/>
              <a:buChar char="•"/>
            </a:pPr>
            <a:r>
              <a:rPr sz="1000" b="0" i="0">
                <a:solidFill>
                  <a:srgbClr val="64748B"/>
                </a:solidFill>
                <a:latin typeface="Segoe UI"/>
              </a:rPr>
              <a:t>On-chain proof for donations and disbursements</a:t>
            </a:r>
          </a:p>
          <a:p>
            <a:pPr algn="l" marL="160020" indent="-160020">
              <a:lnSpc>
                <a:spcPct val="132000"/>
              </a:lnSpc>
              <a:spcBef>
                <a:spcPts val="0"/>
              </a:spcBef>
              <a:spcAft>
                <a:spcPts val="400"/>
              </a:spcAft>
              <a:buClr>
                <a:srgbClr val="0F766E"/>
              </a:buClr>
              <a:buSzPts val="1000"/>
              <a:buFont typeface="Segoe UI"/>
              <a:buChar char="•"/>
            </a:pPr>
            <a:r>
              <a:rPr sz="1000" b="0" i="0">
                <a:solidFill>
                  <a:srgbClr val="64748B"/>
                </a:solidFill>
                <a:latin typeface="Segoe UI"/>
              </a:rPr>
              <a:t>Public receipt verification</a:t>
            </a:r>
          </a:p>
          <a:p>
            <a:pPr algn="l" marL="160020" indent="-160020">
              <a:lnSpc>
                <a:spcPct val="132000"/>
              </a:lnSpc>
              <a:spcBef>
                <a:spcPts val="0"/>
              </a:spcBef>
              <a:spcAft>
                <a:spcPts val="400"/>
              </a:spcAft>
              <a:buClr>
                <a:srgbClr val="0F766E"/>
              </a:buClr>
              <a:buSzPts val="1000"/>
              <a:buFont typeface="Segoe UI"/>
              <a:buChar char="•"/>
            </a:pPr>
            <a:r>
              <a:rPr sz="1000" b="0" i="0">
                <a:solidFill>
                  <a:srgbClr val="64748B"/>
                </a:solidFill>
                <a:latin typeface="Segoe UI"/>
              </a:rPr>
              <a:t>Reporting, audit logging and notifications</a:t>
            </a:r>
          </a:p>
        </p:txBody>
      </p:sp>
      <p:sp>
        <p:nvSpPr>
          <p:cNvPr id="21" name="TextBox 20"/>
          <p:cNvSpPr txBox="1"/>
          <p:nvPr/>
        </p:nvSpPr>
        <p:spPr>
          <a:xfrm>
            <a:off x="6233007" y="4480560"/>
            <a:ext cx="5300319" cy="274320"/>
          </a:xfrm>
          <a:prstGeom prst="rect">
            <a:avLst/>
          </a:prstGeom>
          <a:noFill/>
        </p:spPr>
        <p:txBody>
          <a:bodyPr wrap="square" lIns="0" rIns="0" tIns="0" bIns="0" anchor="t">
            <a:spAutoFit/>
          </a:bodyPr>
          <a:lstStyle/>
          <a:p>
            <a:pPr algn="l">
              <a:lnSpc>
                <a:spcPct val="125000"/>
              </a:lnSpc>
              <a:spcBef>
                <a:spcPts val="0"/>
              </a:spcBef>
              <a:spcAft>
                <a:spcPts val="0"/>
              </a:spcAft>
            </a:pPr>
            <a:r>
              <a:rPr sz="850" b="1" i="0" spc="120">
                <a:solidFill>
                  <a:srgbClr val="64748B"/>
                </a:solidFill>
                <a:latin typeface="Segoe UI"/>
              </a:rPr>
              <a:t>OUT OF SCOPE</a:t>
            </a:r>
          </a:p>
        </p:txBody>
      </p:sp>
      <p:sp>
        <p:nvSpPr>
          <p:cNvPr id="22" name="TextBox 21"/>
          <p:cNvSpPr txBox="1"/>
          <p:nvPr/>
        </p:nvSpPr>
        <p:spPr>
          <a:xfrm>
            <a:off x="6233007" y="4754880"/>
            <a:ext cx="5300319" cy="1371600"/>
          </a:xfrm>
          <a:prstGeom prst="rect">
            <a:avLst/>
          </a:prstGeom>
          <a:noFill/>
        </p:spPr>
        <p:txBody>
          <a:bodyPr wrap="square" lIns="0" rIns="0" tIns="0" bIns="0" anchor="t">
            <a:spAutoFit/>
          </a:bodyPr>
          <a:lstStyle/>
          <a:p>
            <a:pPr algn="l" marL="160020" indent="-160020">
              <a:lnSpc>
                <a:spcPct val="132000"/>
              </a:lnSpc>
              <a:spcBef>
                <a:spcPts val="0"/>
              </a:spcBef>
              <a:spcAft>
                <a:spcPts val="400"/>
              </a:spcAft>
              <a:buClr>
                <a:srgbClr val="64748B"/>
              </a:buClr>
              <a:buSzPts val="1000"/>
              <a:buFont typeface="Segoe UI"/>
              <a:buChar char="•"/>
            </a:pPr>
            <a:r>
              <a:rPr sz="1000" b="0" i="0">
                <a:solidFill>
                  <a:srgbClr val="64748B"/>
                </a:solidFill>
                <a:latin typeface="Segoe UI"/>
              </a:rPr>
              <a:t>Cryptocurrency as a payment method</a:t>
            </a:r>
          </a:p>
          <a:p>
            <a:pPr algn="l" marL="160020" indent="-160020">
              <a:lnSpc>
                <a:spcPct val="132000"/>
              </a:lnSpc>
              <a:spcBef>
                <a:spcPts val="0"/>
              </a:spcBef>
              <a:spcAft>
                <a:spcPts val="400"/>
              </a:spcAft>
              <a:buClr>
                <a:srgbClr val="64748B"/>
              </a:buClr>
              <a:buSzPts val="1000"/>
              <a:buFont typeface="Segoe UI"/>
              <a:buChar char="•"/>
            </a:pPr>
            <a:r>
              <a:rPr sz="1000" b="0" i="0">
                <a:solidFill>
                  <a:srgbClr val="64748B"/>
                </a:solidFill>
                <a:latin typeface="Segoe UI"/>
              </a:rPr>
              <a:t>Cryptocurrency trading or custody</a:t>
            </a:r>
          </a:p>
          <a:p>
            <a:pPr algn="l" marL="160020" indent="-160020">
              <a:lnSpc>
                <a:spcPct val="132000"/>
              </a:lnSpc>
              <a:spcBef>
                <a:spcPts val="0"/>
              </a:spcBef>
              <a:spcAft>
                <a:spcPts val="400"/>
              </a:spcAft>
              <a:buClr>
                <a:srgbClr val="64748B"/>
              </a:buClr>
              <a:buSzPts val="1000"/>
              <a:buFont typeface="Segoe UI"/>
              <a:buChar char="•"/>
            </a:pPr>
            <a:r>
              <a:rPr sz="1000" b="0" i="0">
                <a:solidFill>
                  <a:srgbClr val="64748B"/>
                </a:solidFill>
                <a:latin typeface="Segoe UI"/>
              </a:rPr>
              <a:t>A trained fraud-detection model in this phase, designed in 6.9</a:t>
            </a:r>
          </a:p>
          <a:p>
            <a:pPr algn="l" marL="160020" indent="-160020">
              <a:lnSpc>
                <a:spcPct val="132000"/>
              </a:lnSpc>
              <a:spcBef>
                <a:spcPts val="0"/>
              </a:spcBef>
              <a:spcAft>
                <a:spcPts val="400"/>
              </a:spcAft>
              <a:buClr>
                <a:srgbClr val="64748B"/>
              </a:buClr>
              <a:buSzPts val="1000"/>
              <a:buFont typeface="Segoe UI"/>
              <a:buChar char="•"/>
            </a:pPr>
            <a:r>
              <a:rPr sz="1000" b="0" i="0">
                <a:solidFill>
                  <a:srgbClr val="64748B"/>
                </a:solidFill>
                <a:latin typeface="Segoe UI"/>
              </a:rPr>
              <a:t>Native mobile applications</a:t>
            </a:r>
          </a:p>
        </p:txBody>
      </p:sp>
      <p:sp>
        <p:nvSpPr>
          <p:cNvPr id="23" name="Rectangle 22"/>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6345936"/>
            <a:ext cx="177034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26" name="TextBox 25"/>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5.4</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Functional Requirements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Written as short, testable statements and numbered so each traces to a test case in 7.6.</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29967"/>
            <a:ext cx="36576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DONOR</a:t>
            </a:r>
          </a:p>
        </p:txBody>
      </p:sp>
      <p:sp>
        <p:nvSpPr>
          <p:cNvPr id="8" name="Rectangle 7"/>
          <p:cNvSpPr/>
          <p:nvPr/>
        </p:nvSpPr>
        <p:spPr>
          <a:xfrm>
            <a:off x="658368" y="2286000"/>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2286000"/>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FR-01</a:t>
            </a:r>
          </a:p>
        </p:txBody>
      </p:sp>
      <p:sp>
        <p:nvSpPr>
          <p:cNvPr id="10" name="TextBox 9"/>
          <p:cNvSpPr txBox="1"/>
          <p:nvPr/>
        </p:nvSpPr>
        <p:spPr>
          <a:xfrm>
            <a:off x="1572768" y="2286000"/>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 visitor to register as a donor using an email address or a username.</a:t>
            </a:r>
          </a:p>
        </p:txBody>
      </p:sp>
      <p:sp>
        <p:nvSpPr>
          <p:cNvPr id="11" name="Rectangle 10"/>
          <p:cNvSpPr/>
          <p:nvPr/>
        </p:nvSpPr>
        <p:spPr>
          <a:xfrm>
            <a:off x="658368" y="2542032"/>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555748"/>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555748"/>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FR-02</a:t>
            </a:r>
          </a:p>
        </p:txBody>
      </p:sp>
      <p:sp>
        <p:nvSpPr>
          <p:cNvPr id="14" name="TextBox 13"/>
          <p:cNvSpPr txBox="1"/>
          <p:nvPr/>
        </p:nvSpPr>
        <p:spPr>
          <a:xfrm>
            <a:off x="1572768" y="2555748"/>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authenticate a user and lock the account after five consecutive failed attempts.</a:t>
            </a:r>
          </a:p>
        </p:txBody>
      </p:sp>
      <p:sp>
        <p:nvSpPr>
          <p:cNvPr id="15" name="Rectangle 14"/>
          <p:cNvSpPr/>
          <p:nvPr/>
        </p:nvSpPr>
        <p:spPr>
          <a:xfrm>
            <a:off x="658368" y="2811780"/>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825496"/>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 y="2825496"/>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FR-03</a:t>
            </a:r>
          </a:p>
        </p:txBody>
      </p:sp>
      <p:sp>
        <p:nvSpPr>
          <p:cNvPr id="18" name="TextBox 17"/>
          <p:cNvSpPr txBox="1"/>
          <p:nvPr/>
        </p:nvSpPr>
        <p:spPr>
          <a:xfrm>
            <a:off x="1572768" y="2825496"/>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any visitor to browse, search, filter and sort active campaigns.</a:t>
            </a:r>
          </a:p>
        </p:txBody>
      </p:sp>
      <p:sp>
        <p:nvSpPr>
          <p:cNvPr id="19" name="Rectangle 18"/>
          <p:cNvSpPr/>
          <p:nvPr/>
        </p:nvSpPr>
        <p:spPr>
          <a:xfrm>
            <a:off x="658368" y="3081528"/>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095244"/>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04672" y="3095244"/>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FR-04</a:t>
            </a:r>
          </a:p>
        </p:txBody>
      </p:sp>
      <p:sp>
        <p:nvSpPr>
          <p:cNvPr id="22" name="TextBox 21"/>
          <p:cNvSpPr txBox="1"/>
          <p:nvPr/>
        </p:nvSpPr>
        <p:spPr>
          <a:xfrm>
            <a:off x="1572768" y="3095244"/>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an authenticated donor to donate to an active campaign by mobile money or bank transfer.</a:t>
            </a:r>
          </a:p>
        </p:txBody>
      </p:sp>
      <p:sp>
        <p:nvSpPr>
          <p:cNvPr id="23" name="Rectangle 22"/>
          <p:cNvSpPr/>
          <p:nvPr/>
        </p:nvSpPr>
        <p:spPr>
          <a:xfrm>
            <a:off x="658368" y="335127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3364991"/>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 y="3364991"/>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FR-05</a:t>
            </a:r>
          </a:p>
        </p:txBody>
      </p:sp>
      <p:sp>
        <p:nvSpPr>
          <p:cNvPr id="26" name="TextBox 25"/>
          <p:cNvSpPr txBox="1"/>
          <p:nvPr/>
        </p:nvSpPr>
        <p:spPr>
          <a:xfrm>
            <a:off x="1572768" y="3364991"/>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generate a downloadable PDF receipt for every completed donation.</a:t>
            </a:r>
          </a:p>
        </p:txBody>
      </p:sp>
      <p:sp>
        <p:nvSpPr>
          <p:cNvPr id="27" name="Rectangle 26"/>
          <p:cNvSpPr/>
          <p:nvPr/>
        </p:nvSpPr>
        <p:spPr>
          <a:xfrm>
            <a:off x="658368" y="3621024"/>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3634739"/>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04672" y="3634739"/>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FR-06</a:t>
            </a:r>
          </a:p>
        </p:txBody>
      </p:sp>
      <p:sp>
        <p:nvSpPr>
          <p:cNvPr id="30" name="TextBox 29"/>
          <p:cNvSpPr txBox="1"/>
          <p:nvPr/>
        </p:nvSpPr>
        <p:spPr>
          <a:xfrm>
            <a:off x="1572768" y="3634739"/>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record an immutable blockchain proof for every completed donation.</a:t>
            </a:r>
          </a:p>
        </p:txBody>
      </p:sp>
      <p:sp>
        <p:nvSpPr>
          <p:cNvPr id="31" name="Rectangle 30"/>
          <p:cNvSpPr/>
          <p:nvPr/>
        </p:nvSpPr>
        <p:spPr>
          <a:xfrm>
            <a:off x="658368" y="3890772"/>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3904487"/>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04672" y="3904487"/>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FR-07</a:t>
            </a:r>
          </a:p>
        </p:txBody>
      </p:sp>
      <p:sp>
        <p:nvSpPr>
          <p:cNvPr id="34" name="TextBox 33"/>
          <p:cNvSpPr txBox="1"/>
          <p:nvPr/>
        </p:nvSpPr>
        <p:spPr>
          <a:xfrm>
            <a:off x="1572768" y="3904487"/>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present a donor with their donation history and monthly summary.</a:t>
            </a:r>
          </a:p>
        </p:txBody>
      </p:sp>
      <p:sp>
        <p:nvSpPr>
          <p:cNvPr id="35" name="Rectangle 34"/>
          <p:cNvSpPr/>
          <p:nvPr/>
        </p:nvSpPr>
        <p:spPr>
          <a:xfrm>
            <a:off x="658368" y="4160520"/>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58368" y="4174235"/>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04672" y="4174235"/>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FR-08</a:t>
            </a:r>
          </a:p>
        </p:txBody>
      </p:sp>
      <p:sp>
        <p:nvSpPr>
          <p:cNvPr id="38" name="TextBox 37"/>
          <p:cNvSpPr txBox="1"/>
          <p:nvPr/>
        </p:nvSpPr>
        <p:spPr>
          <a:xfrm>
            <a:off x="1572768" y="4174235"/>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award Impact Points to a donor through an append-only ledger.</a:t>
            </a:r>
          </a:p>
        </p:txBody>
      </p:sp>
      <p:sp>
        <p:nvSpPr>
          <p:cNvPr id="39" name="Rectangle 38"/>
          <p:cNvSpPr/>
          <p:nvPr/>
        </p:nvSpPr>
        <p:spPr>
          <a:xfrm>
            <a:off x="658368" y="4430268"/>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8368" y="4553712"/>
            <a:ext cx="36576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FUNDRAISER</a:t>
            </a:r>
          </a:p>
        </p:txBody>
      </p:sp>
      <p:sp>
        <p:nvSpPr>
          <p:cNvPr id="41" name="Rectangle 40"/>
          <p:cNvSpPr/>
          <p:nvPr/>
        </p:nvSpPr>
        <p:spPr>
          <a:xfrm>
            <a:off x="658368" y="4809744"/>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4672" y="4809744"/>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FR-09</a:t>
            </a:r>
          </a:p>
        </p:txBody>
      </p:sp>
      <p:sp>
        <p:nvSpPr>
          <p:cNvPr id="43" name="TextBox 42"/>
          <p:cNvSpPr txBox="1"/>
          <p:nvPr/>
        </p:nvSpPr>
        <p:spPr>
          <a:xfrm>
            <a:off x="1572768" y="4809744"/>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 donor to apply to become a fundraiser, or to register as one directly.</a:t>
            </a:r>
          </a:p>
        </p:txBody>
      </p:sp>
      <p:sp>
        <p:nvSpPr>
          <p:cNvPr id="44" name="Rectangle 43"/>
          <p:cNvSpPr/>
          <p:nvPr/>
        </p:nvSpPr>
        <p:spPr>
          <a:xfrm>
            <a:off x="658368" y="506577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58368" y="5079492"/>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04672" y="5079492"/>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FR-10</a:t>
            </a:r>
          </a:p>
        </p:txBody>
      </p:sp>
      <p:sp>
        <p:nvSpPr>
          <p:cNvPr id="47" name="TextBox 46"/>
          <p:cNvSpPr txBox="1"/>
          <p:nvPr/>
        </p:nvSpPr>
        <p:spPr>
          <a:xfrm>
            <a:off x="1572768" y="5079492"/>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 fundraiser to create and edit the campaigns they own.</a:t>
            </a:r>
          </a:p>
        </p:txBody>
      </p:sp>
      <p:sp>
        <p:nvSpPr>
          <p:cNvPr id="48" name="Rectangle 47"/>
          <p:cNvSpPr/>
          <p:nvPr/>
        </p:nvSpPr>
        <p:spPr>
          <a:xfrm>
            <a:off x="658368" y="5335524"/>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58368" y="5349240"/>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04672" y="5349240"/>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FR-11</a:t>
            </a:r>
          </a:p>
        </p:txBody>
      </p:sp>
      <p:sp>
        <p:nvSpPr>
          <p:cNvPr id="51" name="TextBox 50"/>
          <p:cNvSpPr txBox="1"/>
          <p:nvPr/>
        </p:nvSpPr>
        <p:spPr>
          <a:xfrm>
            <a:off x="1572768" y="5349240"/>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hold every fundraiser campaign in Pending Review until an administrator approves it.</a:t>
            </a:r>
          </a:p>
        </p:txBody>
      </p:sp>
      <p:sp>
        <p:nvSpPr>
          <p:cNvPr id="52" name="Rectangle 51"/>
          <p:cNvSpPr/>
          <p:nvPr/>
        </p:nvSpPr>
        <p:spPr>
          <a:xfrm>
            <a:off x="658368" y="5605272"/>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658368" y="5618988"/>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04672" y="5618988"/>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FR-12</a:t>
            </a:r>
          </a:p>
        </p:txBody>
      </p:sp>
      <p:sp>
        <p:nvSpPr>
          <p:cNvPr id="55" name="TextBox 54"/>
          <p:cNvSpPr txBox="1"/>
          <p:nvPr/>
        </p:nvSpPr>
        <p:spPr>
          <a:xfrm>
            <a:off x="1572768" y="5618988"/>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 fundraiser to add beneficiaries to their own campaigns.</a:t>
            </a:r>
          </a:p>
        </p:txBody>
      </p:sp>
      <p:sp>
        <p:nvSpPr>
          <p:cNvPr id="56" name="Rectangle 55"/>
          <p:cNvSpPr/>
          <p:nvPr/>
        </p:nvSpPr>
        <p:spPr>
          <a:xfrm>
            <a:off x="658368" y="5875020"/>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58368" y="5888736"/>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04672" y="5888736"/>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FR-13</a:t>
            </a:r>
          </a:p>
        </p:txBody>
      </p:sp>
      <p:sp>
        <p:nvSpPr>
          <p:cNvPr id="59" name="TextBox 58"/>
          <p:cNvSpPr txBox="1"/>
          <p:nvPr/>
        </p:nvSpPr>
        <p:spPr>
          <a:xfrm>
            <a:off x="1572768" y="5888736"/>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 fundraiser to release payouts to verified beneficiaries while cumulative self-released funds stay below the threshold.</a:t>
            </a:r>
          </a:p>
        </p:txBody>
      </p:sp>
      <p:sp>
        <p:nvSpPr>
          <p:cNvPr id="60" name="Rectangle 59"/>
          <p:cNvSpPr/>
          <p:nvPr/>
        </p:nvSpPr>
        <p:spPr>
          <a:xfrm>
            <a:off x="658368" y="6144768"/>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58368" y="6345936"/>
            <a:ext cx="202324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64" name="TextBox 6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5.4</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Functional Requirements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Continued. Administrator and system-level requirements.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29967"/>
            <a:ext cx="36576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ADMINISTRATOR</a:t>
            </a:r>
          </a:p>
        </p:txBody>
      </p:sp>
      <p:sp>
        <p:nvSpPr>
          <p:cNvPr id="8" name="Rectangle 7"/>
          <p:cNvSpPr/>
          <p:nvPr/>
        </p:nvSpPr>
        <p:spPr>
          <a:xfrm>
            <a:off x="658368" y="2286000"/>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2286000"/>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FR-14</a:t>
            </a:r>
          </a:p>
        </p:txBody>
      </p:sp>
      <p:sp>
        <p:nvSpPr>
          <p:cNvPr id="10" name="TextBox 9"/>
          <p:cNvSpPr txBox="1"/>
          <p:nvPr/>
        </p:nvSpPr>
        <p:spPr>
          <a:xfrm>
            <a:off x="1572768" y="2286000"/>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an administrator to approve or reject a fundraiser application, with a reason.</a:t>
            </a:r>
          </a:p>
        </p:txBody>
      </p:sp>
      <p:sp>
        <p:nvSpPr>
          <p:cNvPr id="11" name="Rectangle 10"/>
          <p:cNvSpPr/>
          <p:nvPr/>
        </p:nvSpPr>
        <p:spPr>
          <a:xfrm>
            <a:off x="658368" y="2542032"/>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555748"/>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555748"/>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FR-15</a:t>
            </a:r>
          </a:p>
        </p:txBody>
      </p:sp>
      <p:sp>
        <p:nvSpPr>
          <p:cNvPr id="14" name="TextBox 13"/>
          <p:cNvSpPr txBox="1"/>
          <p:nvPr/>
        </p:nvSpPr>
        <p:spPr>
          <a:xfrm>
            <a:off x="1572768" y="2555748"/>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an administrator to review, approve or reject campaigns awaiting review.</a:t>
            </a:r>
          </a:p>
        </p:txBody>
      </p:sp>
      <p:sp>
        <p:nvSpPr>
          <p:cNvPr id="15" name="Rectangle 14"/>
          <p:cNvSpPr/>
          <p:nvPr/>
        </p:nvSpPr>
        <p:spPr>
          <a:xfrm>
            <a:off x="658368" y="2811780"/>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825496"/>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 y="2825496"/>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FR-16</a:t>
            </a:r>
          </a:p>
        </p:txBody>
      </p:sp>
      <p:sp>
        <p:nvSpPr>
          <p:cNvPr id="18" name="TextBox 17"/>
          <p:cNvSpPr txBox="1"/>
          <p:nvPr/>
        </p:nvSpPr>
        <p:spPr>
          <a:xfrm>
            <a:off x="1572768" y="2825496"/>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restrict beneficiary verification to administrators, and pay only verified beneficiaries.</a:t>
            </a:r>
          </a:p>
        </p:txBody>
      </p:sp>
      <p:sp>
        <p:nvSpPr>
          <p:cNvPr id="19" name="Rectangle 18"/>
          <p:cNvSpPr/>
          <p:nvPr/>
        </p:nvSpPr>
        <p:spPr>
          <a:xfrm>
            <a:off x="658368" y="3081528"/>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095244"/>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04672" y="3095244"/>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FR-17</a:t>
            </a:r>
          </a:p>
        </p:txBody>
      </p:sp>
      <p:sp>
        <p:nvSpPr>
          <p:cNvPr id="22" name="TextBox 21"/>
          <p:cNvSpPr txBox="1"/>
          <p:nvPr/>
        </p:nvSpPr>
        <p:spPr>
          <a:xfrm>
            <a:off x="1572768" y="3095244"/>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require a second administrator for any disbursement at or above the threshold, and block the initiator from approving it.</a:t>
            </a:r>
          </a:p>
        </p:txBody>
      </p:sp>
      <p:sp>
        <p:nvSpPr>
          <p:cNvPr id="23" name="Rectangle 22"/>
          <p:cNvSpPr/>
          <p:nvPr/>
        </p:nvSpPr>
        <p:spPr>
          <a:xfrm>
            <a:off x="658368" y="335127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3364991"/>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 y="3364991"/>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FR-18</a:t>
            </a:r>
          </a:p>
        </p:txBody>
      </p:sp>
      <p:sp>
        <p:nvSpPr>
          <p:cNvPr id="26" name="TextBox 25"/>
          <p:cNvSpPr txBox="1"/>
          <p:nvPr/>
        </p:nvSpPr>
        <p:spPr>
          <a:xfrm>
            <a:off x="1572768" y="3364991"/>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allow an administrator to suspend or deactivate a user, revoking every active session.</a:t>
            </a:r>
          </a:p>
        </p:txBody>
      </p:sp>
      <p:sp>
        <p:nvSpPr>
          <p:cNvPr id="27" name="Rectangle 26"/>
          <p:cNvSpPr/>
          <p:nvPr/>
        </p:nvSpPr>
        <p:spPr>
          <a:xfrm>
            <a:off x="658368" y="3621024"/>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3634739"/>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04672" y="3634739"/>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FR-19</a:t>
            </a:r>
          </a:p>
        </p:txBody>
      </p:sp>
      <p:sp>
        <p:nvSpPr>
          <p:cNvPr id="30" name="TextBox 29"/>
          <p:cNvSpPr txBox="1"/>
          <p:nvPr/>
        </p:nvSpPr>
        <p:spPr>
          <a:xfrm>
            <a:off x="1572768" y="3634739"/>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record every administrative write and every login attempt in a read-only audit log.</a:t>
            </a:r>
          </a:p>
        </p:txBody>
      </p:sp>
      <p:sp>
        <p:nvSpPr>
          <p:cNvPr id="31" name="Rectangle 30"/>
          <p:cNvSpPr/>
          <p:nvPr/>
        </p:nvSpPr>
        <p:spPr>
          <a:xfrm>
            <a:off x="658368" y="3890772"/>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3904487"/>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04672" y="3904487"/>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FR-20</a:t>
            </a:r>
          </a:p>
        </p:txBody>
      </p:sp>
      <p:sp>
        <p:nvSpPr>
          <p:cNvPr id="34" name="TextBox 33"/>
          <p:cNvSpPr txBox="1"/>
          <p:nvPr/>
        </p:nvSpPr>
        <p:spPr>
          <a:xfrm>
            <a:off x="1572768" y="3904487"/>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generate five report types, each exportable as CSV, Excel and PDF.</a:t>
            </a:r>
          </a:p>
        </p:txBody>
      </p:sp>
      <p:sp>
        <p:nvSpPr>
          <p:cNvPr id="35" name="Rectangle 34"/>
          <p:cNvSpPr/>
          <p:nvPr/>
        </p:nvSpPr>
        <p:spPr>
          <a:xfrm>
            <a:off x="658368" y="4160520"/>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8368" y="4283964"/>
            <a:ext cx="36576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SYSTEM</a:t>
            </a:r>
          </a:p>
        </p:txBody>
      </p:sp>
      <p:sp>
        <p:nvSpPr>
          <p:cNvPr id="37" name="Rectangle 36"/>
          <p:cNvSpPr/>
          <p:nvPr/>
        </p:nvSpPr>
        <p:spPr>
          <a:xfrm>
            <a:off x="658368" y="4539996"/>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04672" y="4539996"/>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FR-21</a:t>
            </a:r>
          </a:p>
        </p:txBody>
      </p:sp>
      <p:sp>
        <p:nvSpPr>
          <p:cNvPr id="39" name="TextBox 38"/>
          <p:cNvSpPr txBox="1"/>
          <p:nvPr/>
        </p:nvSpPr>
        <p:spPr>
          <a:xfrm>
            <a:off x="1572768" y="4539996"/>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verify every payment callback with the provider before creating a donation, and process duplicate callbacks idempotently.</a:t>
            </a:r>
          </a:p>
        </p:txBody>
      </p:sp>
      <p:sp>
        <p:nvSpPr>
          <p:cNvPr id="40" name="Rectangle 39"/>
          <p:cNvSpPr/>
          <p:nvPr/>
        </p:nvSpPr>
        <p:spPr>
          <a:xfrm>
            <a:off x="658368" y="4796028"/>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58368" y="4809744"/>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4672" y="4809744"/>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FR-22</a:t>
            </a:r>
          </a:p>
        </p:txBody>
      </p:sp>
      <p:sp>
        <p:nvSpPr>
          <p:cNvPr id="43" name="TextBox 42"/>
          <p:cNvSpPr txBox="1"/>
          <p:nvPr/>
        </p:nvSpPr>
        <p:spPr>
          <a:xfrm>
            <a:off x="1572768" y="4809744"/>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expose public verification by receipt number without revealing donor identity.</a:t>
            </a:r>
          </a:p>
        </p:txBody>
      </p:sp>
      <p:sp>
        <p:nvSpPr>
          <p:cNvPr id="44" name="Rectangle 43"/>
          <p:cNvSpPr/>
          <p:nvPr/>
        </p:nvSpPr>
        <p:spPr>
          <a:xfrm>
            <a:off x="658368" y="506577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58368" y="5079492"/>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04672" y="5079492"/>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FR-23</a:t>
            </a:r>
          </a:p>
        </p:txBody>
      </p:sp>
      <p:sp>
        <p:nvSpPr>
          <p:cNvPr id="47" name="TextBox 46"/>
          <p:cNvSpPr txBox="1"/>
          <p:nvPr/>
        </p:nvSpPr>
        <p:spPr>
          <a:xfrm>
            <a:off x="1572768" y="5079492"/>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notify users in-app and by email on donations, campaign milestones, beneficiary updates and disbursement outcomes.</a:t>
            </a:r>
          </a:p>
        </p:txBody>
      </p:sp>
      <p:sp>
        <p:nvSpPr>
          <p:cNvPr id="48" name="Rectangle 47"/>
          <p:cNvSpPr/>
          <p:nvPr/>
        </p:nvSpPr>
        <p:spPr>
          <a:xfrm>
            <a:off x="658368" y="5335524"/>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58368" y="5349240"/>
            <a:ext cx="1087495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04672" y="5349240"/>
            <a:ext cx="713232" cy="256032"/>
          </a:xfrm>
          <a:prstGeom prst="rect">
            <a:avLst/>
          </a:prstGeom>
          <a:noFill/>
        </p:spPr>
        <p:txBody>
          <a:bodyPr wrap="square" lIns="0" rIns="0" tIns="0" bIns="0" anchor="ctr">
            <a:spAutoFit/>
          </a:bodyPr>
          <a:lstStyle/>
          <a:p>
            <a:pPr algn="l">
              <a:lnSpc>
                <a:spcPct val="125000"/>
              </a:lnSpc>
              <a:spcBef>
                <a:spcPts val="0"/>
              </a:spcBef>
              <a:spcAft>
                <a:spcPts val="0"/>
              </a:spcAft>
            </a:pPr>
            <a:r>
              <a:rPr sz="900" b="1" i="0">
                <a:solidFill>
                  <a:srgbClr val="0F766E"/>
                </a:solidFill>
                <a:latin typeface="Consolas"/>
              </a:rPr>
              <a:t>FR-24</a:t>
            </a:r>
          </a:p>
        </p:txBody>
      </p:sp>
      <p:sp>
        <p:nvSpPr>
          <p:cNvPr id="51" name="TextBox 50"/>
          <p:cNvSpPr txBox="1"/>
          <p:nvPr/>
        </p:nvSpPr>
        <p:spPr>
          <a:xfrm>
            <a:off x="1572768" y="5349240"/>
            <a:ext cx="9814255" cy="256032"/>
          </a:xfrm>
          <a:prstGeom prst="rect">
            <a:avLst/>
          </a:prstGeom>
          <a:noFill/>
        </p:spPr>
        <p:txBody>
          <a:bodyPr wrap="square" lIns="0" rIns="0" tIns="0" bIns="0" anchor="ctr">
            <a:spAutoFit/>
          </a:bodyPr>
          <a:lstStyle/>
          <a:p>
            <a:pPr algn="l">
              <a:lnSpc>
                <a:spcPct val="125000"/>
              </a:lnSpc>
              <a:spcBef>
                <a:spcPts val="0"/>
              </a:spcBef>
              <a:spcAft>
                <a:spcPts val="0"/>
              </a:spcAft>
            </a:pPr>
            <a:r>
              <a:rPr sz="1000" b="0" i="0">
                <a:solidFill>
                  <a:srgbClr val="0F172A"/>
                </a:solidFill>
                <a:latin typeface="Segoe UI"/>
              </a:rPr>
              <a:t>The system shall never write personal data to the blockchain.</a:t>
            </a:r>
          </a:p>
        </p:txBody>
      </p:sp>
      <p:sp>
        <p:nvSpPr>
          <p:cNvPr id="52" name="Rectangle 51"/>
          <p:cNvSpPr/>
          <p:nvPr/>
        </p:nvSpPr>
        <p:spPr>
          <a:xfrm>
            <a:off x="658368" y="5605272"/>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658368" y="5747003"/>
            <a:ext cx="10874959" cy="47548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914400" y="5747003"/>
            <a:ext cx="10362895" cy="475488"/>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134E4A"/>
                </a:solidFill>
                <a:latin typeface="Segoe UI"/>
              </a:rPr>
              <a:t>Traceability.  </a:t>
            </a:r>
            <a:r>
              <a:rPr sz="1050" b="0" i="0">
                <a:solidFill>
                  <a:srgbClr val="134E4A"/>
                </a:solidFill>
                <a:latin typeface="Segoe UI"/>
              </a:rPr>
              <a:t>All 24 requirements are implemented. Section 7.4 maps each module to the requirements it fulfils, and 7.6 maps requirements to executed test cases.</a:t>
            </a:r>
          </a:p>
        </p:txBody>
      </p:sp>
      <p:sp>
        <p:nvSpPr>
          <p:cNvPr id="55" name="Rectangle 54"/>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658368" y="6345936"/>
            <a:ext cx="2276154"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58" name="TextBox 57"/>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5.5</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Non-Functional Requirements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How well the system must perform. Each carries a measurable target rather than an aspiration.</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77824" y="2231136"/>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Sec</a:t>
            </a:r>
          </a:p>
        </p:txBody>
      </p:sp>
      <p:sp>
        <p:nvSpPr>
          <p:cNvPr id="9" name="TextBox 8"/>
          <p:cNvSpPr txBox="1"/>
          <p:nvPr/>
        </p:nvSpPr>
        <p:spPr>
          <a:xfrm>
            <a:off x="877824" y="2560320"/>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Security</a:t>
            </a:r>
          </a:p>
          <a:p>
            <a:pPr algn="l">
              <a:lnSpc>
                <a:spcPct val="132000"/>
              </a:lnSpc>
              <a:spcBef>
                <a:spcPts val="0"/>
              </a:spcBef>
              <a:spcAft>
                <a:spcPts val="0"/>
              </a:spcAft>
            </a:pPr>
            <a:r>
              <a:rPr sz="950" b="0" i="0">
                <a:solidFill>
                  <a:srgbClr val="64748B"/>
                </a:solidFill>
                <a:latin typeface="Segoe UI"/>
              </a:rPr>
              <a:t>15-minute access tokens, rotating refresh cookies, bcrypt hashing, lockout after 5 failed attempts, rate limiting on auth routes.</a:t>
            </a:r>
          </a:p>
        </p:txBody>
      </p:sp>
      <p:sp>
        <p:nvSpPr>
          <p:cNvPr id="10" name="Rounded Rectangle 9"/>
          <p:cNvSpPr/>
          <p:nvPr/>
        </p:nvSpPr>
        <p:spPr>
          <a:xfrm>
            <a:off x="3422827" y="2029967"/>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3642283" y="2231136"/>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Perf</a:t>
            </a:r>
          </a:p>
        </p:txBody>
      </p:sp>
      <p:sp>
        <p:nvSpPr>
          <p:cNvPr id="12" name="TextBox 11"/>
          <p:cNvSpPr txBox="1"/>
          <p:nvPr/>
        </p:nvSpPr>
        <p:spPr>
          <a:xfrm>
            <a:off x="3642283" y="2560320"/>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Performance</a:t>
            </a:r>
          </a:p>
          <a:p>
            <a:pPr algn="l">
              <a:lnSpc>
                <a:spcPct val="132000"/>
              </a:lnSpc>
              <a:spcBef>
                <a:spcPts val="0"/>
              </a:spcBef>
              <a:spcAft>
                <a:spcPts val="0"/>
              </a:spcAft>
            </a:pPr>
            <a:r>
              <a:rPr sz="950" b="0" i="0">
                <a:solidFill>
                  <a:srgbClr val="64748B"/>
                </a:solidFill>
                <a:latin typeface="Segoe UI"/>
              </a:rPr>
              <a:t>Read endpoints respond under 300 ms on a warm instance. The blockchain write is never awaited by the payment callback.</a:t>
            </a:r>
          </a:p>
        </p:txBody>
      </p:sp>
      <p:sp>
        <p:nvSpPr>
          <p:cNvPr id="13" name="Rounded Rectangle 12"/>
          <p:cNvSpPr/>
          <p:nvPr/>
        </p:nvSpPr>
        <p:spPr>
          <a:xfrm>
            <a:off x="6187287" y="2029967"/>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406743" y="2231136"/>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Rel</a:t>
            </a:r>
          </a:p>
        </p:txBody>
      </p:sp>
      <p:sp>
        <p:nvSpPr>
          <p:cNvPr id="15" name="TextBox 14"/>
          <p:cNvSpPr txBox="1"/>
          <p:nvPr/>
        </p:nvSpPr>
        <p:spPr>
          <a:xfrm>
            <a:off x="6406743" y="2560320"/>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Reliability</a:t>
            </a:r>
          </a:p>
          <a:p>
            <a:pPr algn="l">
              <a:lnSpc>
                <a:spcPct val="132000"/>
              </a:lnSpc>
              <a:spcBef>
                <a:spcPts val="0"/>
              </a:spcBef>
              <a:spcAft>
                <a:spcPts val="0"/>
              </a:spcAft>
            </a:pPr>
            <a:r>
              <a:rPr sz="950" b="0" i="0">
                <a:solidFill>
                  <a:srgbClr val="64748B"/>
                </a:solidFill>
                <a:latin typeface="Segoe UI"/>
              </a:rPr>
              <a:t>Donation finalisation is one atomic transaction. Duplicate callbacks never double-credit. A failed chain write never loses a donation.</a:t>
            </a:r>
          </a:p>
        </p:txBody>
      </p:sp>
      <p:sp>
        <p:nvSpPr>
          <p:cNvPr id="16" name="Rounded Rectangle 15"/>
          <p:cNvSpPr/>
          <p:nvPr/>
        </p:nvSpPr>
        <p:spPr>
          <a:xfrm>
            <a:off x="8951747" y="2029967"/>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171203" y="2231136"/>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Maint</a:t>
            </a:r>
          </a:p>
        </p:txBody>
      </p:sp>
      <p:sp>
        <p:nvSpPr>
          <p:cNvPr id="18" name="TextBox 17"/>
          <p:cNvSpPr txBox="1"/>
          <p:nvPr/>
        </p:nvSpPr>
        <p:spPr>
          <a:xfrm>
            <a:off x="9171203" y="2560320"/>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Maintainability</a:t>
            </a:r>
          </a:p>
          <a:p>
            <a:pPr algn="l">
              <a:lnSpc>
                <a:spcPct val="132000"/>
              </a:lnSpc>
              <a:spcBef>
                <a:spcPts val="0"/>
              </a:spcBef>
              <a:spcAft>
                <a:spcPts val="0"/>
              </a:spcAft>
            </a:pPr>
            <a:r>
              <a:rPr sz="950" b="0" i="0">
                <a:solidFill>
                  <a:srgbClr val="64748B"/>
                </a:solidFill>
                <a:latin typeface="Segoe UI"/>
              </a:rPr>
              <a:t>Strict layering, components under 200 lines, functions under 50 lines, zero lint errors across client and server.</a:t>
            </a:r>
          </a:p>
        </p:txBody>
      </p:sp>
      <p:sp>
        <p:nvSpPr>
          <p:cNvPr id="19" name="Rounded Rectangle 18"/>
          <p:cNvSpPr/>
          <p:nvPr/>
        </p:nvSpPr>
        <p:spPr>
          <a:xfrm>
            <a:off x="658368" y="3511296"/>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77824" y="3712463"/>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Avail</a:t>
            </a:r>
          </a:p>
        </p:txBody>
      </p:sp>
      <p:sp>
        <p:nvSpPr>
          <p:cNvPr id="21" name="TextBox 20"/>
          <p:cNvSpPr txBox="1"/>
          <p:nvPr/>
        </p:nvSpPr>
        <p:spPr>
          <a:xfrm>
            <a:off x="877824" y="4041648"/>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Availability</a:t>
            </a:r>
          </a:p>
          <a:p>
            <a:pPr algn="l">
              <a:lnSpc>
                <a:spcPct val="132000"/>
              </a:lnSpc>
              <a:spcBef>
                <a:spcPts val="0"/>
              </a:spcBef>
              <a:spcAft>
                <a:spcPts val="0"/>
              </a:spcAft>
            </a:pPr>
            <a:r>
              <a:rPr sz="950" b="0" i="0">
                <a:solidFill>
                  <a:srgbClr val="64748B"/>
                </a:solidFill>
                <a:latin typeface="Segoe UI"/>
              </a:rPr>
              <a:t>Managed hosting with a health endpoint. The system degrades gracefully when the chain client is unconfigured.</a:t>
            </a:r>
          </a:p>
        </p:txBody>
      </p:sp>
      <p:sp>
        <p:nvSpPr>
          <p:cNvPr id="22" name="Rounded Rectangle 21"/>
          <p:cNvSpPr/>
          <p:nvPr/>
        </p:nvSpPr>
        <p:spPr>
          <a:xfrm>
            <a:off x="3422827" y="3511296"/>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642283" y="3712463"/>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Scal</a:t>
            </a:r>
          </a:p>
        </p:txBody>
      </p:sp>
      <p:sp>
        <p:nvSpPr>
          <p:cNvPr id="24" name="TextBox 23"/>
          <p:cNvSpPr txBox="1"/>
          <p:nvPr/>
        </p:nvSpPr>
        <p:spPr>
          <a:xfrm>
            <a:off x="3642283" y="4041648"/>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Scalability</a:t>
            </a:r>
          </a:p>
          <a:p>
            <a:pPr algn="l">
              <a:lnSpc>
                <a:spcPct val="132000"/>
              </a:lnSpc>
              <a:spcBef>
                <a:spcPts val="0"/>
              </a:spcBef>
              <a:spcAft>
                <a:spcPts val="0"/>
              </a:spcAft>
            </a:pPr>
            <a:r>
              <a:rPr sz="950" b="0" i="0">
                <a:solidFill>
                  <a:srgbClr val="64748B"/>
                </a:solidFill>
                <a:latin typeface="Segoe UI"/>
              </a:rPr>
              <a:t>Stateless API, pooled managed PostgreSQL, every list endpoint paginated and indexed.</a:t>
            </a:r>
          </a:p>
        </p:txBody>
      </p:sp>
      <p:sp>
        <p:nvSpPr>
          <p:cNvPr id="25" name="Rounded Rectangle 24"/>
          <p:cNvSpPr/>
          <p:nvPr/>
        </p:nvSpPr>
        <p:spPr>
          <a:xfrm>
            <a:off x="6187287" y="3511296"/>
            <a:ext cx="2581579"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406743" y="3712463"/>
            <a:ext cx="566928" cy="237744"/>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Use</a:t>
            </a:r>
          </a:p>
        </p:txBody>
      </p:sp>
      <p:sp>
        <p:nvSpPr>
          <p:cNvPr id="27" name="TextBox 26"/>
          <p:cNvSpPr txBox="1"/>
          <p:nvPr/>
        </p:nvSpPr>
        <p:spPr>
          <a:xfrm>
            <a:off x="6406743" y="4041648"/>
            <a:ext cx="2142667" cy="676656"/>
          </a:xfrm>
          <a:prstGeom prst="rect">
            <a:avLst/>
          </a:prstGeom>
          <a:noFill/>
        </p:spPr>
        <p:txBody>
          <a:bodyPr wrap="square" lIns="0" rIns="0" tIns="0" bIns="0" anchor="t">
            <a:spAutoFit/>
          </a:bodyPr>
          <a:lstStyle/>
          <a:p>
            <a:pPr algn="l">
              <a:lnSpc>
                <a:spcPct val="110000"/>
              </a:lnSpc>
              <a:spcBef>
                <a:spcPts val="0"/>
              </a:spcBef>
              <a:spcAft>
                <a:spcPts val="500"/>
              </a:spcAft>
            </a:pPr>
            <a:r>
              <a:rPr sz="1200" b="1" i="0">
                <a:solidFill>
                  <a:srgbClr val="0F172A"/>
                </a:solidFill>
                <a:latin typeface="Georgia"/>
              </a:rPr>
              <a:t>Usability</a:t>
            </a:r>
          </a:p>
          <a:p>
            <a:pPr algn="l">
              <a:lnSpc>
                <a:spcPct val="132000"/>
              </a:lnSpc>
              <a:spcBef>
                <a:spcPts val="0"/>
              </a:spcBef>
              <a:spcAft>
                <a:spcPts val="0"/>
              </a:spcAft>
            </a:pPr>
            <a:r>
              <a:rPr sz="950" b="0" i="0">
                <a:solidFill>
                  <a:srgbClr val="64748B"/>
                </a:solidFill>
                <a:latin typeface="Segoe UI"/>
              </a:rPr>
              <a:t>WCAG AA contrast, full keyboard navigation, responsive from 360 px, light and dark themes.</a:t>
            </a:r>
          </a:p>
        </p:txBody>
      </p:sp>
      <p:sp>
        <p:nvSpPr>
          <p:cNvPr id="28" name="Rounded Rectangle 27"/>
          <p:cNvSpPr/>
          <p:nvPr/>
        </p:nvSpPr>
        <p:spPr>
          <a:xfrm>
            <a:off x="8951747" y="3511296"/>
            <a:ext cx="2581579" cy="1298448"/>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171203" y="3712463"/>
            <a:ext cx="2142667" cy="91440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5EEAD4"/>
                </a:solidFill>
                <a:latin typeface="Segoe UI"/>
              </a:rPr>
              <a:t>MEASURED</a:t>
            </a:r>
          </a:p>
          <a:p>
            <a:pPr algn="l">
              <a:lnSpc>
                <a:spcPct val="135000"/>
              </a:lnSpc>
              <a:spcBef>
                <a:spcPts val="0"/>
              </a:spcBef>
              <a:spcAft>
                <a:spcPts val="0"/>
              </a:spcAft>
            </a:pPr>
            <a:r>
              <a:rPr sz="1000" b="0" i="0">
                <a:solidFill>
                  <a:srgbClr val="FFFFFF"/>
                </a:solidFill>
                <a:latin typeface="Segoe UI"/>
              </a:rPr>
              <a:t>Targets above are the ones verified in Chapter 7, not estimates written before the build.</a:t>
            </a:r>
          </a:p>
        </p:txBody>
      </p:sp>
      <p:sp>
        <p:nvSpPr>
          <p:cNvPr id="30" name="Rectangle 29"/>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6345936"/>
            <a:ext cx="2529060"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33" name="TextBox 32"/>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5.6</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User Requirements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What each class of user needs from the system, in their own terms.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3454298" cy="310896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345429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2340863"/>
            <a:ext cx="2905658"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Donor</a:t>
            </a:r>
          </a:p>
        </p:txBody>
      </p:sp>
      <p:sp>
        <p:nvSpPr>
          <p:cNvPr id="10" name="Rectangle 9"/>
          <p:cNvSpPr/>
          <p:nvPr/>
        </p:nvSpPr>
        <p:spPr>
          <a:xfrm>
            <a:off x="932688" y="2670047"/>
            <a:ext cx="987923"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32688" y="2834639"/>
            <a:ext cx="2905658" cy="215798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Give without creating a wallet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Receive a receipt that proves the gift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Verify a donation independently, later</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Track campaigns they have supported</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See recognition for sustained giving</a:t>
            </a:r>
          </a:p>
        </p:txBody>
      </p:sp>
      <p:sp>
        <p:nvSpPr>
          <p:cNvPr id="12" name="Rounded Rectangle 11"/>
          <p:cNvSpPr/>
          <p:nvPr/>
        </p:nvSpPr>
        <p:spPr>
          <a:xfrm>
            <a:off x="4368698" y="2029967"/>
            <a:ext cx="3454298" cy="310896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68698" y="2029967"/>
            <a:ext cx="345429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43018" y="2340863"/>
            <a:ext cx="2905658"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Fundraiser</a:t>
            </a:r>
          </a:p>
        </p:txBody>
      </p:sp>
      <p:sp>
        <p:nvSpPr>
          <p:cNvPr id="15" name="Rectangle 14"/>
          <p:cNvSpPr/>
          <p:nvPr/>
        </p:nvSpPr>
        <p:spPr>
          <a:xfrm>
            <a:off x="4643018" y="2670047"/>
            <a:ext cx="987923"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43018" y="2834639"/>
            <a:ext cx="2905658" cy="215798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Raise funds without registering an NGO</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Run a campaign under clear review rules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Register beneficiaries for payout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Release modest payouts without waiting</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Report on their own campaigns only</a:t>
            </a:r>
          </a:p>
        </p:txBody>
      </p:sp>
      <p:sp>
        <p:nvSpPr>
          <p:cNvPr id="17" name="Rounded Rectangle 16"/>
          <p:cNvSpPr/>
          <p:nvPr/>
        </p:nvSpPr>
        <p:spPr>
          <a:xfrm>
            <a:off x="8079028" y="2029967"/>
            <a:ext cx="3454298" cy="310896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79028" y="2029967"/>
            <a:ext cx="345429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53348" y="2340863"/>
            <a:ext cx="2905658"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Administrator</a:t>
            </a:r>
          </a:p>
        </p:txBody>
      </p:sp>
      <p:sp>
        <p:nvSpPr>
          <p:cNvPr id="20" name="Rectangle 19"/>
          <p:cNvSpPr/>
          <p:nvPr/>
        </p:nvSpPr>
        <p:spPr>
          <a:xfrm>
            <a:off x="8353348" y="2670047"/>
            <a:ext cx="987923"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53348" y="2834639"/>
            <a:ext cx="2905658" cy="215798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Vet fundraisers and campaigns before they go live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Verify that a beneficiary is a real payee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Approve payouts above the threshold</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Audit every action taken on the platform</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Export compliance reports on demand</a:t>
            </a:r>
          </a:p>
        </p:txBody>
      </p:sp>
      <p:sp>
        <p:nvSpPr>
          <p:cNvPr id="22" name="Rounded Rectangle 21"/>
          <p:cNvSpPr/>
          <p:nvPr/>
        </p:nvSpPr>
        <p:spPr>
          <a:xfrm>
            <a:off x="658368" y="5376672"/>
            <a:ext cx="10874959" cy="566928"/>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4400" y="5376672"/>
            <a:ext cx="10362895" cy="566928"/>
          </a:xfrm>
          <a:prstGeom prst="rect">
            <a:avLst/>
          </a:prstGeom>
          <a:noFill/>
        </p:spPr>
        <p:txBody>
          <a:bodyPr wrap="square" lIns="0" rIns="0" tIns="0" bIns="0" anchor="ctr">
            <a:spAutoFit/>
          </a:bodyPr>
          <a:lstStyle/>
          <a:p>
            <a:pPr algn="l">
              <a:lnSpc>
                <a:spcPct val="130000"/>
              </a:lnSpc>
              <a:spcBef>
                <a:spcPts val="0"/>
              </a:spcBef>
              <a:spcAft>
                <a:spcPts val="0"/>
              </a:spcAft>
            </a:pPr>
            <a:r>
              <a:rPr sz="1050" b="1" i="0">
                <a:solidFill>
                  <a:srgbClr val="0F172A"/>
                </a:solidFill>
                <a:latin typeface="Segoe UI"/>
              </a:rPr>
              <a:t>Role progression.  </a:t>
            </a:r>
            <a:r>
              <a:rPr sz="1050" b="0" i="0">
                <a:solidFill>
                  <a:srgbClr val="64748B"/>
                </a:solidFill>
                <a:latin typeface="Segoe UI"/>
              </a:rPr>
              <a:t>A user starts as a donor, may become a fundraiser by application or at sign-up, and is only ever made an administrator by another administrator. Administrator is never self-assignable.</a:t>
            </a:r>
          </a:p>
        </p:txBody>
      </p:sp>
      <p:sp>
        <p:nvSpPr>
          <p:cNvPr id="24" name="Rectangle 23"/>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6345936"/>
            <a:ext cx="2781966"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27" name="TextBox 26"/>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5.7</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System Requirements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What the system needs to run, and what it needs to prove itself.</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04331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77824" y="2304287"/>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Hardware</a:t>
            </a:r>
          </a:p>
        </p:txBody>
      </p:sp>
      <p:sp>
        <p:nvSpPr>
          <p:cNvPr id="9" name="Rectangle 8"/>
          <p:cNvSpPr/>
          <p:nvPr/>
        </p:nvSpPr>
        <p:spPr>
          <a:xfrm>
            <a:off x="877824" y="2633471"/>
            <a:ext cx="545498" cy="1778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798063"/>
            <a:ext cx="1604406" cy="22494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Development: Intel i5 or equivalent, 8 GB RAM, SSD</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Client: any device with a modern browser, from 360 px wide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Server: managed instances, no owned hardware</a:t>
            </a:r>
          </a:p>
        </p:txBody>
      </p:sp>
      <p:sp>
        <p:nvSpPr>
          <p:cNvPr id="11" name="Rounded Rectangle 10"/>
          <p:cNvSpPr/>
          <p:nvPr/>
        </p:nvSpPr>
        <p:spPr>
          <a:xfrm>
            <a:off x="2866278" y="2029967"/>
            <a:ext cx="204331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85734" y="2304287"/>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Software</a:t>
            </a:r>
          </a:p>
        </p:txBody>
      </p:sp>
      <p:sp>
        <p:nvSpPr>
          <p:cNvPr id="13" name="Rectangle 12"/>
          <p:cNvSpPr/>
          <p:nvPr/>
        </p:nvSpPr>
        <p:spPr>
          <a:xfrm>
            <a:off x="3085734" y="2633471"/>
            <a:ext cx="545498" cy="1778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85734" y="2798063"/>
            <a:ext cx="1604406" cy="22494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Node.js 24, TypeScript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React 19, Vite, Tailwind CSS v4</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PostgreSQL 16 with Drizzle ORM</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Solidity, Hardhat, Ethers.js</a:t>
            </a:r>
          </a:p>
        </p:txBody>
      </p:sp>
      <p:sp>
        <p:nvSpPr>
          <p:cNvPr id="15" name="Rounded Rectangle 14"/>
          <p:cNvSpPr/>
          <p:nvPr/>
        </p:nvSpPr>
        <p:spPr>
          <a:xfrm>
            <a:off x="5074188" y="2029967"/>
            <a:ext cx="204331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293644" y="2304287"/>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Network</a:t>
            </a:r>
          </a:p>
        </p:txBody>
      </p:sp>
      <p:sp>
        <p:nvSpPr>
          <p:cNvPr id="17" name="Rectangle 16"/>
          <p:cNvSpPr/>
          <p:nvPr/>
        </p:nvSpPr>
        <p:spPr>
          <a:xfrm>
            <a:off x="5293644" y="2633471"/>
            <a:ext cx="545498" cy="1778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293644" y="2798063"/>
            <a:ext cx="1604406" cy="22494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HTTPS on every origin</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Payment provider callback endpoint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JSON-RPC access to a Sepolia node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SMTP relay for transactional email</a:t>
            </a:r>
          </a:p>
        </p:txBody>
      </p:sp>
      <p:sp>
        <p:nvSpPr>
          <p:cNvPr id="19" name="Rounded Rectangle 18"/>
          <p:cNvSpPr/>
          <p:nvPr/>
        </p:nvSpPr>
        <p:spPr>
          <a:xfrm>
            <a:off x="7282098" y="2029967"/>
            <a:ext cx="2043318" cy="32004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501554" y="2304287"/>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Blockchain</a:t>
            </a:r>
          </a:p>
        </p:txBody>
      </p:sp>
      <p:sp>
        <p:nvSpPr>
          <p:cNvPr id="21" name="Rectangle 20"/>
          <p:cNvSpPr/>
          <p:nvPr/>
        </p:nvSpPr>
        <p:spPr>
          <a:xfrm>
            <a:off x="7501554" y="2633471"/>
            <a:ext cx="545498" cy="1778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01554" y="2798063"/>
            <a:ext cx="1604406" cy="22494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Ethereum Sepolia testnet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TransparencyRegistry</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Owner-only contract writes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Funded backend wallet for gas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One transaction per proof</a:t>
            </a:r>
          </a:p>
        </p:txBody>
      </p:sp>
      <p:sp>
        <p:nvSpPr>
          <p:cNvPr id="23" name="Rounded Rectangle 22"/>
          <p:cNvSpPr/>
          <p:nvPr/>
        </p:nvSpPr>
        <p:spPr>
          <a:xfrm>
            <a:off x="9490008" y="2029967"/>
            <a:ext cx="2043318" cy="3200400"/>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09464" y="2304287"/>
            <a:ext cx="1604406" cy="493776"/>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Model and Algorithms</a:t>
            </a:r>
          </a:p>
        </p:txBody>
      </p:sp>
      <p:sp>
        <p:nvSpPr>
          <p:cNvPr id="25" name="Rectangle 24"/>
          <p:cNvSpPr/>
          <p:nvPr/>
        </p:nvSpPr>
        <p:spPr>
          <a:xfrm>
            <a:off x="9709464" y="2852927"/>
            <a:ext cx="545498" cy="1778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709464" y="3017520"/>
            <a:ext cx="1604406" cy="2029967"/>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SHA-256 deterministic proof hash</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Cumulative threshold payout algorithm</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Fraud-detection model, designed in 6.9</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Implementation scheduled, not built</a:t>
            </a:r>
          </a:p>
        </p:txBody>
      </p:sp>
      <p:sp>
        <p:nvSpPr>
          <p:cNvPr id="27" name="Rounded Rectangle 26"/>
          <p:cNvSpPr/>
          <p:nvPr/>
        </p:nvSpPr>
        <p:spPr>
          <a:xfrm>
            <a:off x="658368" y="5468112"/>
            <a:ext cx="10874959" cy="56692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4400" y="5468112"/>
            <a:ext cx="10362895" cy="566928"/>
          </a:xfrm>
          <a:prstGeom prst="rect">
            <a:avLst/>
          </a:prstGeom>
          <a:noFill/>
        </p:spPr>
        <p:txBody>
          <a:bodyPr wrap="square" lIns="0" rIns="0" tIns="0" bIns="0" anchor="ctr">
            <a:spAutoFit/>
          </a:bodyPr>
          <a:lstStyle/>
          <a:p>
            <a:pPr algn="l">
              <a:lnSpc>
                <a:spcPct val="130000"/>
              </a:lnSpc>
              <a:spcBef>
                <a:spcPts val="0"/>
              </a:spcBef>
              <a:spcAft>
                <a:spcPts val="0"/>
              </a:spcAft>
            </a:pPr>
            <a:r>
              <a:rPr sz="1050" b="1" i="0">
                <a:solidFill>
                  <a:srgbClr val="134E4A"/>
                </a:solidFill>
                <a:latin typeface="Segoe UI"/>
              </a:rPr>
              <a:t>Model and algorithms.  </a:t>
            </a:r>
            <a:r>
              <a:rPr sz="1050" b="0" i="0">
                <a:solidFill>
                  <a:srgbClr val="134E4A"/>
                </a:solidFill>
                <a:latin typeface="Segoe UI"/>
              </a:rPr>
              <a:t>The fraud-detection model is specified in section 6.9 and is designed, not implemented. It is stated here because the system requirement exists, not because a model runs today.</a:t>
            </a:r>
          </a:p>
        </p:txBody>
      </p:sp>
      <p:sp>
        <p:nvSpPr>
          <p:cNvPr id="29" name="Rectangle 28"/>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6345936"/>
            <a:ext cx="303487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32" name="TextBox 31"/>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5.8</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Feasibility Study</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Five dimensions. The project is already deployed, which settles most of them empirically.</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043318" cy="246888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204331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322575"/>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Technical</a:t>
            </a:r>
          </a:p>
        </p:txBody>
      </p:sp>
      <p:sp>
        <p:nvSpPr>
          <p:cNvPr id="10" name="Rectangle 9"/>
          <p:cNvSpPr/>
          <p:nvPr/>
        </p:nvSpPr>
        <p:spPr>
          <a:xfrm>
            <a:off x="877824" y="2651759"/>
            <a:ext cx="545498"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816351"/>
            <a:ext cx="1604406" cy="15179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Stack already proven in the working build</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Testnet removes cost and key-custody risk</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Skills held by the development team</a:t>
            </a:r>
          </a:p>
        </p:txBody>
      </p:sp>
      <p:sp>
        <p:nvSpPr>
          <p:cNvPr id="12" name="Rounded Rectangle 11"/>
          <p:cNvSpPr/>
          <p:nvPr/>
        </p:nvSpPr>
        <p:spPr>
          <a:xfrm>
            <a:off x="2866278" y="2029967"/>
            <a:ext cx="2043318" cy="246888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866278" y="2029967"/>
            <a:ext cx="204331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85734" y="2322575"/>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Economic</a:t>
            </a:r>
          </a:p>
        </p:txBody>
      </p:sp>
      <p:sp>
        <p:nvSpPr>
          <p:cNvPr id="15" name="Rectangle 14"/>
          <p:cNvSpPr/>
          <p:nvPr/>
        </p:nvSpPr>
        <p:spPr>
          <a:xfrm>
            <a:off x="3085734" y="2651759"/>
            <a:ext cx="545498"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085734" y="2816351"/>
            <a:ext cx="1604406" cy="15179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Managed free tiers for hosting and database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Sepolia gas paid in faucet test ETH</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Near-zero recurring cost at project scale</a:t>
            </a:r>
          </a:p>
        </p:txBody>
      </p:sp>
      <p:sp>
        <p:nvSpPr>
          <p:cNvPr id="17" name="Rounded Rectangle 16"/>
          <p:cNvSpPr/>
          <p:nvPr/>
        </p:nvSpPr>
        <p:spPr>
          <a:xfrm>
            <a:off x="5074188" y="2029967"/>
            <a:ext cx="2043318" cy="246888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074188" y="2029967"/>
            <a:ext cx="204331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293644" y="2322575"/>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Operational</a:t>
            </a:r>
          </a:p>
        </p:txBody>
      </p:sp>
      <p:sp>
        <p:nvSpPr>
          <p:cNvPr id="20" name="Rectangle 19"/>
          <p:cNvSpPr/>
          <p:nvPr/>
        </p:nvSpPr>
        <p:spPr>
          <a:xfrm>
            <a:off x="5293644" y="2651759"/>
            <a:ext cx="545498"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293644" y="2816351"/>
            <a:ext cx="1604406" cy="15179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Mirrors how donors already pay</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Administrator training is minimal</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Fits existing NGO oversight workflows</a:t>
            </a:r>
          </a:p>
        </p:txBody>
      </p:sp>
      <p:sp>
        <p:nvSpPr>
          <p:cNvPr id="22" name="Rounded Rectangle 21"/>
          <p:cNvSpPr/>
          <p:nvPr/>
        </p:nvSpPr>
        <p:spPr>
          <a:xfrm>
            <a:off x="7282098" y="2029967"/>
            <a:ext cx="2043318" cy="246888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82098" y="2029967"/>
            <a:ext cx="204331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01554" y="2322575"/>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Legal</a:t>
            </a:r>
          </a:p>
        </p:txBody>
      </p:sp>
      <p:sp>
        <p:nvSpPr>
          <p:cNvPr id="25" name="Rectangle 24"/>
          <p:cNvSpPr/>
          <p:nvPr/>
        </p:nvSpPr>
        <p:spPr>
          <a:xfrm>
            <a:off x="7501554" y="2651759"/>
            <a:ext cx="545498"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501554" y="2816351"/>
            <a:ext cx="1604406" cy="15179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 personal data written on-chain</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Open-source licences throughout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Audit trail supports compliance reporting</a:t>
            </a:r>
          </a:p>
        </p:txBody>
      </p:sp>
      <p:sp>
        <p:nvSpPr>
          <p:cNvPr id="27" name="Rounded Rectangle 26"/>
          <p:cNvSpPr/>
          <p:nvPr/>
        </p:nvSpPr>
        <p:spPr>
          <a:xfrm>
            <a:off x="9490008" y="2029967"/>
            <a:ext cx="2043318" cy="246888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490008" y="2029967"/>
            <a:ext cx="2043318"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709464" y="2322575"/>
            <a:ext cx="1604406"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Schedule</a:t>
            </a:r>
          </a:p>
        </p:txBody>
      </p:sp>
      <p:sp>
        <p:nvSpPr>
          <p:cNvPr id="30" name="Rectangle 29"/>
          <p:cNvSpPr/>
          <p:nvPr/>
        </p:nvSpPr>
        <p:spPr>
          <a:xfrm>
            <a:off x="9709464" y="2651759"/>
            <a:ext cx="545498"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09464" y="2816351"/>
            <a:ext cx="1604406" cy="151790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Delivered in staged increments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Each stage verified before the next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Deployed and publicly reachable</a:t>
            </a:r>
          </a:p>
        </p:txBody>
      </p:sp>
      <p:sp>
        <p:nvSpPr>
          <p:cNvPr id="32" name="Rounded Rectangle 31"/>
          <p:cNvSpPr/>
          <p:nvPr/>
        </p:nvSpPr>
        <p:spPr>
          <a:xfrm>
            <a:off x="658368" y="4736592"/>
            <a:ext cx="3454298" cy="106070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96112" y="4937759"/>
            <a:ext cx="2978810" cy="658368"/>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TZS 0</a:t>
            </a:r>
          </a:p>
          <a:p>
            <a:pPr algn="l">
              <a:lnSpc>
                <a:spcPct val="130000"/>
              </a:lnSpc>
              <a:spcBef>
                <a:spcPts val="0"/>
              </a:spcBef>
              <a:spcAft>
                <a:spcPts val="0"/>
              </a:spcAft>
            </a:pPr>
            <a:r>
              <a:rPr sz="1000" b="0" i="0">
                <a:solidFill>
                  <a:srgbClr val="64748B"/>
                </a:solidFill>
                <a:latin typeface="Segoe UI"/>
              </a:rPr>
              <a:t>recurring hosting cost at project scale</a:t>
            </a:r>
          </a:p>
        </p:txBody>
      </p:sp>
      <p:sp>
        <p:nvSpPr>
          <p:cNvPr id="34" name="Rounded Rectangle 33"/>
          <p:cNvSpPr/>
          <p:nvPr/>
        </p:nvSpPr>
        <p:spPr>
          <a:xfrm>
            <a:off x="4368698" y="4736592"/>
            <a:ext cx="3454298" cy="106070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606442" y="4937759"/>
            <a:ext cx="2978810" cy="658368"/>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Faucet ETH</a:t>
            </a:r>
          </a:p>
          <a:p>
            <a:pPr algn="l">
              <a:lnSpc>
                <a:spcPct val="130000"/>
              </a:lnSpc>
              <a:spcBef>
                <a:spcPts val="0"/>
              </a:spcBef>
              <a:spcAft>
                <a:spcPts val="0"/>
              </a:spcAft>
            </a:pPr>
            <a:r>
              <a:rPr sz="1000" b="0" i="0">
                <a:solidFill>
                  <a:srgbClr val="64748B"/>
                </a:solidFill>
                <a:latin typeface="Segoe UI"/>
              </a:rPr>
              <a:t>pays all Sepolia gas, no real funds at risk</a:t>
            </a:r>
          </a:p>
        </p:txBody>
      </p:sp>
      <p:sp>
        <p:nvSpPr>
          <p:cNvPr id="36" name="Rounded Rectangle 35"/>
          <p:cNvSpPr/>
          <p:nvPr/>
        </p:nvSpPr>
        <p:spPr>
          <a:xfrm>
            <a:off x="8079028" y="4736592"/>
            <a:ext cx="3454298" cy="106070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316772" y="4937759"/>
            <a:ext cx="2978810" cy="658368"/>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Live</a:t>
            </a:r>
          </a:p>
          <a:p>
            <a:pPr algn="l">
              <a:lnSpc>
                <a:spcPct val="130000"/>
              </a:lnSpc>
              <a:spcBef>
                <a:spcPts val="0"/>
              </a:spcBef>
              <a:spcAft>
                <a:spcPts val="0"/>
              </a:spcAft>
            </a:pPr>
            <a:r>
              <a:rPr sz="1000" b="0" i="0">
                <a:solidFill>
                  <a:srgbClr val="64748B"/>
                </a:solidFill>
                <a:latin typeface="Segoe UI"/>
              </a:rPr>
              <a:t>deployed and publicly reachable today</a:t>
            </a:r>
          </a:p>
        </p:txBody>
      </p:sp>
      <p:sp>
        <p:nvSpPr>
          <p:cNvPr id="38" name="Rectangle 37"/>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58368" y="6345936"/>
            <a:ext cx="328777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41" name="TextBox 40"/>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5.9</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SRS  ·  Use-Case Model</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Four actors. Two of them are other systems.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3246120" y="2084831"/>
            <a:ext cx="57150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246120" y="2212848"/>
            <a:ext cx="5715000" cy="274320"/>
          </a:xfrm>
          <a:prstGeom prst="rect">
            <a:avLst/>
          </a:prstGeom>
          <a:noFill/>
        </p:spPr>
        <p:txBody>
          <a:bodyPr wrap="square" lIns="0" rIns="0" tIns="0" bIns="0" anchor="t">
            <a:spAutoFit/>
          </a:bodyPr>
          <a:lstStyle/>
          <a:p>
            <a:pPr algn="ctr">
              <a:lnSpc>
                <a:spcPct val="125000"/>
              </a:lnSpc>
              <a:spcBef>
                <a:spcPts val="0"/>
              </a:spcBef>
              <a:spcAft>
                <a:spcPts val="0"/>
              </a:spcAft>
            </a:pPr>
            <a:r>
              <a:rPr sz="900" b="1" i="0" spc="150">
                <a:solidFill>
                  <a:srgbClr val="94A3B8"/>
                </a:solidFill>
                <a:latin typeface="Segoe UI"/>
              </a:rPr>
              <a:t>CHANGIA PLATFORM</a:t>
            </a:r>
          </a:p>
        </p:txBody>
      </p:sp>
      <p:sp>
        <p:nvSpPr>
          <p:cNvPr id="9" name="Oval 8"/>
          <p:cNvSpPr/>
          <p:nvPr/>
        </p:nvSpPr>
        <p:spPr>
          <a:xfrm>
            <a:off x="3483863" y="2633472"/>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Register and sign in</a:t>
            </a:r>
          </a:p>
        </p:txBody>
      </p:sp>
      <p:sp>
        <p:nvSpPr>
          <p:cNvPr id="10" name="Oval 9"/>
          <p:cNvSpPr/>
          <p:nvPr/>
        </p:nvSpPr>
        <p:spPr>
          <a:xfrm>
            <a:off x="6281927" y="2633472"/>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Browse campaigns</a:t>
            </a:r>
          </a:p>
        </p:txBody>
      </p:sp>
      <p:sp>
        <p:nvSpPr>
          <p:cNvPr id="11" name="Oval 10"/>
          <p:cNvSpPr/>
          <p:nvPr/>
        </p:nvSpPr>
        <p:spPr>
          <a:xfrm>
            <a:off x="3483863" y="3163824"/>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Make a donation</a:t>
            </a:r>
          </a:p>
        </p:txBody>
      </p:sp>
      <p:sp>
        <p:nvSpPr>
          <p:cNvPr id="12" name="Oval 11"/>
          <p:cNvSpPr/>
          <p:nvPr/>
        </p:nvSpPr>
        <p:spPr>
          <a:xfrm>
            <a:off x="6281927" y="3163824"/>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Verify a donation</a:t>
            </a:r>
          </a:p>
        </p:txBody>
      </p:sp>
      <p:sp>
        <p:nvSpPr>
          <p:cNvPr id="13" name="Oval 12"/>
          <p:cNvSpPr/>
          <p:nvPr/>
        </p:nvSpPr>
        <p:spPr>
          <a:xfrm>
            <a:off x="3483863" y="3694176"/>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Apply as fundraiser</a:t>
            </a:r>
          </a:p>
        </p:txBody>
      </p:sp>
      <p:sp>
        <p:nvSpPr>
          <p:cNvPr id="14" name="Oval 13"/>
          <p:cNvSpPr/>
          <p:nvPr/>
        </p:nvSpPr>
        <p:spPr>
          <a:xfrm>
            <a:off x="6281927" y="3694176"/>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Create campaign</a:t>
            </a:r>
          </a:p>
        </p:txBody>
      </p:sp>
      <p:sp>
        <p:nvSpPr>
          <p:cNvPr id="15" name="Oval 14"/>
          <p:cNvSpPr/>
          <p:nvPr/>
        </p:nvSpPr>
        <p:spPr>
          <a:xfrm>
            <a:off x="3483863" y="4224527"/>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Add beneficiary</a:t>
            </a:r>
          </a:p>
        </p:txBody>
      </p:sp>
      <p:sp>
        <p:nvSpPr>
          <p:cNvPr id="16" name="Oval 15"/>
          <p:cNvSpPr/>
          <p:nvPr/>
        </p:nvSpPr>
        <p:spPr>
          <a:xfrm>
            <a:off x="6281927" y="4224527"/>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Release payout</a:t>
            </a:r>
          </a:p>
        </p:txBody>
      </p:sp>
      <p:sp>
        <p:nvSpPr>
          <p:cNvPr id="17" name="Oval 16"/>
          <p:cNvSpPr/>
          <p:nvPr/>
        </p:nvSpPr>
        <p:spPr>
          <a:xfrm>
            <a:off x="3483863" y="4754879"/>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Review campaigns</a:t>
            </a:r>
          </a:p>
        </p:txBody>
      </p:sp>
      <p:sp>
        <p:nvSpPr>
          <p:cNvPr id="18" name="Oval 17"/>
          <p:cNvSpPr/>
          <p:nvPr/>
        </p:nvSpPr>
        <p:spPr>
          <a:xfrm>
            <a:off x="6281927" y="4754879"/>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Verify beneficiary</a:t>
            </a:r>
          </a:p>
        </p:txBody>
      </p:sp>
      <p:sp>
        <p:nvSpPr>
          <p:cNvPr id="19" name="Oval 18"/>
          <p:cNvSpPr/>
          <p:nvPr/>
        </p:nvSpPr>
        <p:spPr>
          <a:xfrm>
            <a:off x="3483863" y="5285231"/>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Approve disbursement</a:t>
            </a:r>
          </a:p>
        </p:txBody>
      </p:sp>
      <p:sp>
        <p:nvSpPr>
          <p:cNvPr id="20" name="Oval 19"/>
          <p:cNvSpPr/>
          <p:nvPr/>
        </p:nvSpPr>
        <p:spPr>
          <a:xfrm>
            <a:off x="6281927" y="5285231"/>
            <a:ext cx="2432304" cy="402336"/>
          </a:xfrm>
          <a:prstGeom prst="ellipse">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Generate reports</a:t>
            </a:r>
          </a:p>
        </p:txBody>
      </p:sp>
      <p:sp>
        <p:nvSpPr>
          <p:cNvPr id="21" name="Oval 20"/>
          <p:cNvSpPr/>
          <p:nvPr/>
        </p:nvSpPr>
        <p:spPr>
          <a:xfrm>
            <a:off x="1627632" y="2304287"/>
            <a:ext cx="146304" cy="146304"/>
          </a:xfrm>
          <a:prstGeom prst="ellipse">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695297" y="2450591"/>
            <a:ext cx="10972" cy="27432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527048" y="2514599"/>
            <a:ext cx="347472" cy="10972"/>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4" name="Connector 23"/>
          <p:cNvCxnSpPr/>
          <p:nvPr/>
        </p:nvCxnSpPr>
        <p:spPr>
          <a:xfrm flipH="1">
            <a:off x="1563624" y="2724911"/>
            <a:ext cx="137160" cy="237745"/>
          </a:xfrm>
          <a:prstGeom prst="line">
            <a:avLst/>
          </a:prstGeom>
          <a:ln w="12700">
            <a:solidFill>
              <a:srgbClr val="134E4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00784" y="2724911"/>
            <a:ext cx="137160" cy="237745"/>
          </a:xfrm>
          <a:prstGeom prst="line">
            <a:avLst/>
          </a:prstGeom>
          <a:ln w="12700">
            <a:solidFill>
              <a:srgbClr val="134E4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14984" y="3017520"/>
            <a:ext cx="1371600" cy="237744"/>
          </a:xfrm>
          <a:prstGeom prst="rect">
            <a:avLst/>
          </a:prstGeom>
          <a:noFill/>
        </p:spPr>
        <p:txBody>
          <a:bodyPr wrap="square" lIns="0" rIns="0" tIns="0" bIns="0" anchor="t">
            <a:spAutoFit/>
          </a:bodyPr>
          <a:lstStyle/>
          <a:p>
            <a:pPr algn="ctr">
              <a:lnSpc>
                <a:spcPct val="125000"/>
              </a:lnSpc>
              <a:spcBef>
                <a:spcPts val="0"/>
              </a:spcBef>
              <a:spcAft>
                <a:spcPts val="0"/>
              </a:spcAft>
            </a:pPr>
            <a:r>
              <a:rPr sz="950" b="1" i="0">
                <a:solidFill>
                  <a:srgbClr val="0F172A"/>
                </a:solidFill>
                <a:latin typeface="Segoe UI"/>
              </a:rPr>
              <a:t>Donor</a:t>
            </a:r>
          </a:p>
        </p:txBody>
      </p:sp>
      <p:sp>
        <p:nvSpPr>
          <p:cNvPr id="27" name="Oval 26"/>
          <p:cNvSpPr/>
          <p:nvPr/>
        </p:nvSpPr>
        <p:spPr>
          <a:xfrm>
            <a:off x="1627632" y="3913631"/>
            <a:ext cx="146304" cy="146304"/>
          </a:xfrm>
          <a:prstGeom prst="ellipse">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695297" y="4059935"/>
            <a:ext cx="10972" cy="27432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527048" y="4123944"/>
            <a:ext cx="347472" cy="10972"/>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0" name="Connector 29"/>
          <p:cNvCxnSpPr/>
          <p:nvPr/>
        </p:nvCxnSpPr>
        <p:spPr>
          <a:xfrm flipH="1">
            <a:off x="1563624" y="4334255"/>
            <a:ext cx="137160" cy="237745"/>
          </a:xfrm>
          <a:prstGeom prst="line">
            <a:avLst/>
          </a:prstGeom>
          <a:ln w="12700">
            <a:solidFill>
              <a:srgbClr val="134E4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700784" y="4334255"/>
            <a:ext cx="137160" cy="237745"/>
          </a:xfrm>
          <a:prstGeom prst="line">
            <a:avLst/>
          </a:prstGeom>
          <a:ln w="12700">
            <a:solidFill>
              <a:srgbClr val="134E4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14984" y="4626864"/>
            <a:ext cx="1371600" cy="237744"/>
          </a:xfrm>
          <a:prstGeom prst="rect">
            <a:avLst/>
          </a:prstGeom>
          <a:noFill/>
        </p:spPr>
        <p:txBody>
          <a:bodyPr wrap="square" lIns="0" rIns="0" tIns="0" bIns="0" anchor="t">
            <a:spAutoFit/>
          </a:bodyPr>
          <a:lstStyle/>
          <a:p>
            <a:pPr algn="ctr">
              <a:lnSpc>
                <a:spcPct val="125000"/>
              </a:lnSpc>
              <a:spcBef>
                <a:spcPts val="0"/>
              </a:spcBef>
              <a:spcAft>
                <a:spcPts val="0"/>
              </a:spcAft>
            </a:pPr>
            <a:r>
              <a:rPr sz="950" b="1" i="0">
                <a:solidFill>
                  <a:srgbClr val="0F172A"/>
                </a:solidFill>
                <a:latin typeface="Segoe UI"/>
              </a:rPr>
              <a:t>Fundraiser</a:t>
            </a:r>
          </a:p>
        </p:txBody>
      </p:sp>
      <p:sp>
        <p:nvSpPr>
          <p:cNvPr id="33" name="Oval 32"/>
          <p:cNvSpPr/>
          <p:nvPr/>
        </p:nvSpPr>
        <p:spPr>
          <a:xfrm>
            <a:off x="10369296" y="4242816"/>
            <a:ext cx="146304" cy="146304"/>
          </a:xfrm>
          <a:prstGeom prst="ellipse">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0436961" y="4389120"/>
            <a:ext cx="10972" cy="27432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0268712" y="4453128"/>
            <a:ext cx="347472" cy="10972"/>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6" name="Connector 35"/>
          <p:cNvCxnSpPr/>
          <p:nvPr/>
        </p:nvCxnSpPr>
        <p:spPr>
          <a:xfrm flipH="1">
            <a:off x="10305288" y="4663440"/>
            <a:ext cx="137160" cy="237743"/>
          </a:xfrm>
          <a:prstGeom prst="line">
            <a:avLst/>
          </a:prstGeom>
          <a:ln w="12700">
            <a:solidFill>
              <a:srgbClr val="134E4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442448" y="4663440"/>
            <a:ext cx="137160" cy="237743"/>
          </a:xfrm>
          <a:prstGeom prst="line">
            <a:avLst/>
          </a:prstGeom>
          <a:ln w="12700">
            <a:solidFill>
              <a:srgbClr val="134E4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756648" y="4956048"/>
            <a:ext cx="1371600" cy="237744"/>
          </a:xfrm>
          <a:prstGeom prst="rect">
            <a:avLst/>
          </a:prstGeom>
          <a:noFill/>
        </p:spPr>
        <p:txBody>
          <a:bodyPr wrap="square" lIns="0" rIns="0" tIns="0" bIns="0" anchor="t">
            <a:spAutoFit/>
          </a:bodyPr>
          <a:lstStyle/>
          <a:p>
            <a:pPr algn="ctr">
              <a:lnSpc>
                <a:spcPct val="125000"/>
              </a:lnSpc>
              <a:spcBef>
                <a:spcPts val="0"/>
              </a:spcBef>
              <a:spcAft>
                <a:spcPts val="0"/>
              </a:spcAft>
            </a:pPr>
            <a:r>
              <a:rPr sz="950" b="1" i="0">
                <a:solidFill>
                  <a:srgbClr val="0F172A"/>
                </a:solidFill>
                <a:latin typeface="Segoe UI"/>
              </a:rPr>
              <a:t>Administrator</a:t>
            </a:r>
          </a:p>
        </p:txBody>
      </p:sp>
      <p:sp>
        <p:nvSpPr>
          <p:cNvPr id="39" name="Rounded Rectangle 38"/>
          <p:cNvSpPr/>
          <p:nvPr/>
        </p:nvSpPr>
        <p:spPr>
          <a:xfrm>
            <a:off x="9418320" y="2286000"/>
            <a:ext cx="2084831" cy="512064"/>
          </a:xfrm>
          <a:prstGeom prst="roundRect">
            <a:avLst>
              <a:gd name="adj" fmla="val 8000"/>
            </a:avLst>
          </a:prstGeom>
          <a:solidFill>
            <a:srgbClr val="F1F5F9"/>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Payment Gateway</a:t>
            </a:r>
          </a:p>
        </p:txBody>
      </p:sp>
      <p:sp>
        <p:nvSpPr>
          <p:cNvPr id="40" name="TextBox 39"/>
          <p:cNvSpPr txBox="1"/>
          <p:nvPr/>
        </p:nvSpPr>
        <p:spPr>
          <a:xfrm>
            <a:off x="9418320" y="2816352"/>
            <a:ext cx="20848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spc="60">
                <a:solidFill>
                  <a:srgbClr val="94A3B8"/>
                </a:solidFill>
                <a:latin typeface="Segoe UI"/>
              </a:rPr>
              <a:t>external system</a:t>
            </a:r>
          </a:p>
        </p:txBody>
      </p:sp>
      <p:sp>
        <p:nvSpPr>
          <p:cNvPr id="41" name="Rounded Rectangle 40"/>
          <p:cNvSpPr/>
          <p:nvPr/>
        </p:nvSpPr>
        <p:spPr>
          <a:xfrm>
            <a:off x="9418320" y="3072384"/>
            <a:ext cx="2084831" cy="512064"/>
          </a:xfrm>
          <a:prstGeom prst="roundRect">
            <a:avLst>
              <a:gd name="adj" fmla="val 8000"/>
            </a:avLst>
          </a:prstGeom>
          <a:solidFill>
            <a:srgbClr val="F1F5F9"/>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Ethereum Sepolia</a:t>
            </a:r>
          </a:p>
        </p:txBody>
      </p:sp>
      <p:sp>
        <p:nvSpPr>
          <p:cNvPr id="42" name="TextBox 41"/>
          <p:cNvSpPr txBox="1"/>
          <p:nvPr/>
        </p:nvSpPr>
        <p:spPr>
          <a:xfrm>
            <a:off x="9418320" y="3602736"/>
            <a:ext cx="20848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spc="60">
                <a:solidFill>
                  <a:srgbClr val="94A3B8"/>
                </a:solidFill>
                <a:latin typeface="Segoe UI"/>
              </a:rPr>
              <a:t>external system</a:t>
            </a:r>
          </a:p>
        </p:txBody>
      </p:sp>
      <p:cxnSp>
        <p:nvCxnSpPr>
          <p:cNvPr id="43" name="Connector 42"/>
          <p:cNvCxnSpPr/>
          <p:nvPr/>
        </p:nvCxnSpPr>
        <p:spPr>
          <a:xfrm>
            <a:off x="2029968" y="2743200"/>
            <a:ext cx="1399032" cy="9144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029968" y="2743200"/>
            <a:ext cx="1399032" cy="621792"/>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029968" y="3895344"/>
            <a:ext cx="1399032" cy="45720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029968" y="4352544"/>
            <a:ext cx="1399032" cy="73151"/>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778240" y="4681727"/>
            <a:ext cx="1335024" cy="27432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8778240" y="4681727"/>
            <a:ext cx="1335024" cy="804672"/>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778240" y="2542032"/>
            <a:ext cx="640080" cy="822960"/>
          </a:xfrm>
          <a:prstGeom prst="line">
            <a:avLst/>
          </a:prstGeom>
          <a:ln w="11430">
            <a:solidFill>
              <a:srgbClr val="94A3B8"/>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8778240" y="3328415"/>
            <a:ext cx="640080" cy="347473"/>
          </a:xfrm>
          <a:prstGeom prst="line">
            <a:avLst/>
          </a:prstGeom>
          <a:ln w="11430">
            <a:solidFill>
              <a:srgbClr val="94A3B8"/>
            </a:solidFill>
            <a:prstDash val="dash"/>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658368" y="6345936"/>
            <a:ext cx="3540684"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Five  ·  System Requirement Specification</a:t>
            </a:r>
          </a:p>
        </p:txBody>
      </p:sp>
      <p:sp>
        <p:nvSpPr>
          <p:cNvPr id="54" name="TextBox 5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766E"/>
              </a:gs>
              <a:gs pos="100000">
                <a:srgbClr val="0A3331"/>
              </a:gs>
            </a:gsLst>
            <a:lin scaled="0" ang="1992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887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12191695" cy="27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769864" y="274320"/>
            <a:ext cx="5760720" cy="4023360"/>
          </a:xfrm>
          <a:prstGeom prst="rect">
            <a:avLst/>
          </a:prstGeom>
          <a:noFill/>
        </p:spPr>
        <p:txBody>
          <a:bodyPr wrap="square" lIns="0" rIns="0" tIns="0" bIns="0" anchor="t">
            <a:spAutoFit/>
          </a:bodyPr>
          <a:lstStyle/>
          <a:p>
            <a:pPr algn="r">
              <a:lnSpc>
                <a:spcPct val="92000"/>
              </a:lnSpc>
              <a:spcBef>
                <a:spcPts val="0"/>
              </a:spcBef>
              <a:spcAft>
                <a:spcPts val="0"/>
              </a:spcAft>
            </a:pPr>
            <a:r>
              <a:rPr sz="21000" b="1" i="0">
                <a:solidFill>
                  <a:srgbClr val="134E4A"/>
                </a:solidFill>
                <a:latin typeface="Georgia"/>
              </a:rPr>
              <a:t>6</a:t>
            </a:r>
          </a:p>
        </p:txBody>
      </p:sp>
      <p:sp>
        <p:nvSpPr>
          <p:cNvPr id="6" name="TextBox 5"/>
          <p:cNvSpPr txBox="1"/>
          <p:nvPr/>
        </p:nvSpPr>
        <p:spPr>
          <a:xfrm>
            <a:off x="932688" y="1298448"/>
            <a:ext cx="5486400" cy="365760"/>
          </a:xfrm>
          <a:prstGeom prst="rect">
            <a:avLst/>
          </a:prstGeom>
          <a:noFill/>
        </p:spPr>
        <p:txBody>
          <a:bodyPr wrap="square" lIns="0" rIns="0" tIns="0" bIns="0" anchor="t">
            <a:spAutoFit/>
          </a:bodyPr>
          <a:lstStyle/>
          <a:p>
            <a:pPr algn="l">
              <a:lnSpc>
                <a:spcPct val="125000"/>
              </a:lnSpc>
              <a:spcBef>
                <a:spcPts val="0"/>
              </a:spcBef>
              <a:spcAft>
                <a:spcPts val="0"/>
              </a:spcAft>
            </a:pPr>
            <a:r>
              <a:rPr sz="1000" b="1" i="0" spc="200">
                <a:solidFill>
                  <a:srgbClr val="5EEAD4"/>
                </a:solidFill>
                <a:latin typeface="Segoe UI"/>
              </a:rPr>
              <a:t>CHAPTER 6</a:t>
            </a:r>
          </a:p>
        </p:txBody>
      </p:sp>
      <p:sp>
        <p:nvSpPr>
          <p:cNvPr id="7" name="TextBox 6"/>
          <p:cNvSpPr txBox="1"/>
          <p:nvPr/>
        </p:nvSpPr>
        <p:spPr>
          <a:xfrm>
            <a:off x="932688" y="1700784"/>
            <a:ext cx="6035040" cy="1371600"/>
          </a:xfrm>
          <a:prstGeom prst="rect">
            <a:avLst/>
          </a:prstGeom>
          <a:noFill/>
        </p:spPr>
        <p:txBody>
          <a:bodyPr wrap="square" lIns="0" rIns="0" tIns="0" bIns="0" anchor="t">
            <a:spAutoFit/>
          </a:bodyPr>
          <a:lstStyle/>
          <a:p>
            <a:pPr algn="l">
              <a:lnSpc>
                <a:spcPct val="112000"/>
              </a:lnSpc>
              <a:spcBef>
                <a:spcPts val="0"/>
              </a:spcBef>
              <a:spcAft>
                <a:spcPts val="0"/>
              </a:spcAft>
            </a:pPr>
            <a:r>
              <a:rPr sz="3600" b="0" i="0">
                <a:solidFill>
                  <a:srgbClr val="FFFFFF"/>
                </a:solidFill>
                <a:latin typeface="Georgia"/>
              </a:rPr>
              <a:t>System Design</a:t>
            </a:r>
          </a:p>
        </p:txBody>
      </p:sp>
      <p:sp>
        <p:nvSpPr>
          <p:cNvPr id="8" name="Rectangle 7"/>
          <p:cNvSpPr/>
          <p:nvPr/>
        </p:nvSpPr>
        <p:spPr>
          <a:xfrm>
            <a:off x="932688" y="3127248"/>
            <a:ext cx="1280160" cy="25400"/>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345643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01</a:t>
            </a:r>
          </a:p>
        </p:txBody>
      </p:sp>
      <p:sp>
        <p:nvSpPr>
          <p:cNvPr id="10" name="TextBox 9"/>
          <p:cNvSpPr txBox="1"/>
          <p:nvPr/>
        </p:nvSpPr>
        <p:spPr>
          <a:xfrm>
            <a:off x="1371600" y="345643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Architecture</a:t>
            </a:r>
          </a:p>
        </p:txBody>
      </p:sp>
      <p:sp>
        <p:nvSpPr>
          <p:cNvPr id="11" name="TextBox 10"/>
          <p:cNvSpPr txBox="1"/>
          <p:nvPr/>
        </p:nvSpPr>
        <p:spPr>
          <a:xfrm>
            <a:off x="932688" y="400507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02</a:t>
            </a:r>
          </a:p>
        </p:txBody>
      </p:sp>
      <p:sp>
        <p:nvSpPr>
          <p:cNvPr id="12" name="TextBox 11"/>
          <p:cNvSpPr txBox="1"/>
          <p:nvPr/>
        </p:nvSpPr>
        <p:spPr>
          <a:xfrm>
            <a:off x="1371600" y="400507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Data Modeling</a:t>
            </a:r>
          </a:p>
        </p:txBody>
      </p:sp>
      <p:sp>
        <p:nvSpPr>
          <p:cNvPr id="13" name="TextBox 12"/>
          <p:cNvSpPr txBox="1"/>
          <p:nvPr/>
        </p:nvSpPr>
        <p:spPr>
          <a:xfrm>
            <a:off x="932688" y="455371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03</a:t>
            </a:r>
          </a:p>
        </p:txBody>
      </p:sp>
      <p:sp>
        <p:nvSpPr>
          <p:cNvPr id="14" name="TextBox 13"/>
          <p:cNvSpPr txBox="1"/>
          <p:nvPr/>
        </p:nvSpPr>
        <p:spPr>
          <a:xfrm>
            <a:off x="1371600" y="455371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Database Design</a:t>
            </a:r>
          </a:p>
        </p:txBody>
      </p:sp>
      <p:sp>
        <p:nvSpPr>
          <p:cNvPr id="15" name="TextBox 14"/>
          <p:cNvSpPr txBox="1"/>
          <p:nvPr/>
        </p:nvSpPr>
        <p:spPr>
          <a:xfrm>
            <a:off x="932688" y="510235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04</a:t>
            </a:r>
          </a:p>
        </p:txBody>
      </p:sp>
      <p:sp>
        <p:nvSpPr>
          <p:cNvPr id="16" name="TextBox 15"/>
          <p:cNvSpPr txBox="1"/>
          <p:nvPr/>
        </p:nvSpPr>
        <p:spPr>
          <a:xfrm>
            <a:off x="1371600" y="510235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UML Process Models</a:t>
            </a:r>
          </a:p>
        </p:txBody>
      </p:sp>
      <p:sp>
        <p:nvSpPr>
          <p:cNvPr id="17" name="TextBox 16"/>
          <p:cNvSpPr txBox="1"/>
          <p:nvPr/>
        </p:nvSpPr>
        <p:spPr>
          <a:xfrm>
            <a:off x="4178808" y="345643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05</a:t>
            </a:r>
          </a:p>
        </p:txBody>
      </p:sp>
      <p:sp>
        <p:nvSpPr>
          <p:cNvPr id="18" name="TextBox 17"/>
          <p:cNvSpPr txBox="1"/>
          <p:nvPr/>
        </p:nvSpPr>
        <p:spPr>
          <a:xfrm>
            <a:off x="4617720" y="345643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Interface Design</a:t>
            </a:r>
          </a:p>
        </p:txBody>
      </p:sp>
      <p:sp>
        <p:nvSpPr>
          <p:cNvPr id="19" name="TextBox 18"/>
          <p:cNvSpPr txBox="1"/>
          <p:nvPr/>
        </p:nvSpPr>
        <p:spPr>
          <a:xfrm>
            <a:off x="4178808" y="400507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06</a:t>
            </a:r>
          </a:p>
        </p:txBody>
      </p:sp>
      <p:sp>
        <p:nvSpPr>
          <p:cNvPr id="20" name="TextBox 19"/>
          <p:cNvSpPr txBox="1"/>
          <p:nvPr/>
        </p:nvSpPr>
        <p:spPr>
          <a:xfrm>
            <a:off x="4617720" y="400507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Fraud-Detection Model</a:t>
            </a:r>
          </a:p>
        </p:txBody>
      </p:sp>
      <p:sp>
        <p:nvSpPr>
          <p:cNvPr id="21" name="TextBox 20"/>
          <p:cNvSpPr txBox="1"/>
          <p:nvPr/>
        </p:nvSpPr>
        <p:spPr>
          <a:xfrm>
            <a:off x="4178808" y="455371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07</a:t>
            </a:r>
          </a:p>
        </p:txBody>
      </p:sp>
      <p:sp>
        <p:nvSpPr>
          <p:cNvPr id="22" name="TextBox 21"/>
          <p:cNvSpPr txBox="1"/>
          <p:nvPr/>
        </p:nvSpPr>
        <p:spPr>
          <a:xfrm>
            <a:off x="4617720" y="455371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Algorithms and Flowchart</a:t>
            </a:r>
          </a:p>
        </p:txBody>
      </p:sp>
      <p:sp>
        <p:nvSpPr>
          <p:cNvPr id="23" name="TextBox 22"/>
          <p:cNvSpPr txBox="1"/>
          <p:nvPr/>
        </p:nvSpPr>
        <p:spPr>
          <a:xfrm>
            <a:off x="4178808" y="510235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08</a:t>
            </a:r>
          </a:p>
        </p:txBody>
      </p:sp>
      <p:sp>
        <p:nvSpPr>
          <p:cNvPr id="24" name="TextBox 23"/>
          <p:cNvSpPr txBox="1"/>
          <p:nvPr/>
        </p:nvSpPr>
        <p:spPr>
          <a:xfrm>
            <a:off x="4617720" y="510235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Security Design</a:t>
            </a:r>
          </a:p>
        </p:txBody>
      </p:sp>
      <p:sp>
        <p:nvSpPr>
          <p:cNvPr id="25" name="Rounded Rectangle 24"/>
          <p:cNvSpPr/>
          <p:nvPr/>
        </p:nvSpPr>
        <p:spPr>
          <a:xfrm>
            <a:off x="932688" y="6053328"/>
            <a:ext cx="274320" cy="274320"/>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6" name="Connector 25"/>
          <p:cNvCxnSpPr/>
          <p:nvPr/>
        </p:nvCxnSpPr>
        <p:spPr>
          <a:xfrm>
            <a:off x="998524" y="6195974"/>
            <a:ext cx="52121" cy="52121"/>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47902" y="6135624"/>
            <a:ext cx="96012" cy="112471"/>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71600" y="6089904"/>
            <a:ext cx="2743200" cy="274320"/>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A7D8D2"/>
                </a:solidFill>
                <a:latin typeface="Georgia"/>
              </a:rPr>
              <a:t>Changia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Introduction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Chapter 5 defined WHAT. This chapter defines HOW.</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121408"/>
            <a:ext cx="6524975" cy="3108960"/>
          </a:xfrm>
          <a:prstGeom prst="rect">
            <a:avLst/>
          </a:prstGeom>
          <a:noFill/>
        </p:spPr>
        <p:txBody>
          <a:bodyPr wrap="square" lIns="0" rIns="0" tIns="0" bIns="0" anchor="t">
            <a:spAutoFit/>
          </a:bodyPr>
          <a:lstStyle/>
          <a:p>
            <a:pPr algn="l" marL="160020" indent="-160020">
              <a:lnSpc>
                <a:spcPct val="150000"/>
              </a:lnSpc>
              <a:spcBef>
                <a:spcPts val="0"/>
              </a:spcBef>
              <a:spcAft>
                <a:spcPts val="1600"/>
              </a:spcAft>
              <a:buClr>
                <a:srgbClr val="0F766E"/>
              </a:buClr>
              <a:buSzPts val="1300"/>
              <a:buFont typeface="Segoe UI"/>
              <a:buChar char="•"/>
            </a:pPr>
            <a:r>
              <a:rPr sz="1300" b="0" i="0">
                <a:solidFill>
                  <a:srgbClr val="0F172A"/>
                </a:solidFill>
                <a:latin typeface="Segoe UI"/>
              </a:rPr>
              <a:t>The system follows a layered client-server architecture with a strict backend flow of routes, controllers, services and repositories. No layer is ever skipped.</a:t>
            </a:r>
          </a:p>
          <a:p>
            <a:pPr algn="l" marL="160020" indent="-160020">
              <a:lnSpc>
                <a:spcPct val="150000"/>
              </a:lnSpc>
              <a:spcBef>
                <a:spcPts val="0"/>
              </a:spcBef>
              <a:spcAft>
                <a:spcPts val="1600"/>
              </a:spcAft>
              <a:buClr>
                <a:srgbClr val="0F766E"/>
              </a:buClr>
              <a:buSzPts val="1300"/>
              <a:buFont typeface="Segoe UI"/>
              <a:buChar char="•"/>
            </a:pPr>
            <a:r>
              <a:rPr sz="1300" b="0" i="0">
                <a:solidFill>
                  <a:srgbClr val="64748B"/>
                </a:solidFill>
                <a:latin typeface="Segoe UI"/>
              </a:rPr>
              <a:t>Three notations carry the design: data flow diagrams for process decomposition, an entity relationship diagram for the data model, and UML for behaviour.</a:t>
            </a:r>
          </a:p>
          <a:p>
            <a:pPr algn="l" marL="160020" indent="-160020">
              <a:lnSpc>
                <a:spcPct val="150000"/>
              </a:lnSpc>
              <a:spcBef>
                <a:spcPts val="0"/>
              </a:spcBef>
              <a:spcAft>
                <a:spcPts val="1600"/>
              </a:spcAft>
              <a:buClr>
                <a:srgbClr val="0F766E"/>
              </a:buClr>
              <a:buSzPts val="1300"/>
              <a:buFont typeface="Segoe UI"/>
              <a:buChar char="•"/>
            </a:pPr>
            <a:r>
              <a:rPr sz="1300" b="0" i="0">
                <a:solidFill>
                  <a:srgbClr val="64748B"/>
                </a:solidFill>
                <a:latin typeface="Segoe UI"/>
              </a:rPr>
              <a:t>One architectural rule shapes everything: PostgreSQL holds operational data, the blockchain holds proof only, and the frontend never talks to the chain directly.</a:t>
            </a:r>
          </a:p>
        </p:txBody>
      </p:sp>
      <p:sp>
        <p:nvSpPr>
          <p:cNvPr id="8" name="Rounded Rectangle 7"/>
          <p:cNvSpPr/>
          <p:nvPr/>
        </p:nvSpPr>
        <p:spPr>
          <a:xfrm>
            <a:off x="7567391" y="2121408"/>
            <a:ext cx="3965935" cy="1828800"/>
          </a:xfrm>
          <a:prstGeom prst="roundRect">
            <a:avLst>
              <a:gd name="adj" fmla="val 50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567391" y="2231136"/>
            <a:ext cx="32004" cy="16093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23423" y="2322576"/>
            <a:ext cx="3508735" cy="1463040"/>
          </a:xfrm>
          <a:prstGeom prst="rect">
            <a:avLst/>
          </a:prstGeom>
          <a:noFill/>
        </p:spPr>
        <p:txBody>
          <a:bodyPr wrap="square" lIns="0" rIns="0" tIns="0" bIns="0" anchor="t">
            <a:spAutoFit/>
          </a:bodyPr>
          <a:lstStyle/>
          <a:p>
            <a:pPr algn="l">
              <a:lnSpc>
                <a:spcPct val="125000"/>
              </a:lnSpc>
              <a:spcBef>
                <a:spcPts val="0"/>
              </a:spcBef>
              <a:spcAft>
                <a:spcPts val="700"/>
              </a:spcAft>
            </a:pPr>
            <a:r>
              <a:rPr sz="850" b="1" i="0" spc="110">
                <a:solidFill>
                  <a:srgbClr val="134E4A"/>
                </a:solidFill>
                <a:latin typeface="Segoe UI"/>
              </a:rPr>
              <a:t>FRAMING</a:t>
            </a:r>
          </a:p>
          <a:p>
            <a:pPr algn="l">
              <a:lnSpc>
                <a:spcPct val="135000"/>
              </a:lnSpc>
              <a:spcBef>
                <a:spcPts val="0"/>
              </a:spcBef>
              <a:spcAft>
                <a:spcPts val="0"/>
              </a:spcAft>
            </a:pPr>
            <a:r>
              <a:rPr sz="1100" b="0" i="0">
                <a:solidFill>
                  <a:srgbClr val="134E4A"/>
                </a:solidFill>
                <a:latin typeface="Segoe UI"/>
              </a:rPr>
              <a:t>Chapter 5 is the contract. Chapter 6 is the mechanism that satisfies it. Every design choice below answers a numbered requirement.</a:t>
            </a:r>
          </a:p>
        </p:txBody>
      </p:sp>
      <p:sp>
        <p:nvSpPr>
          <p:cNvPr id="11" name="Rectangle 1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6345936"/>
            <a:ext cx="4046496"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14" name="TextBox 1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6.2</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System Architecture</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Layered client-server. The backend never skips a layer, and the frontend never talks to the chain.</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7123098" cy="1042415"/>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50292" cy="1042415"/>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212848"/>
            <a:ext cx="6501306" cy="73152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0F172A"/>
                </a:solidFill>
                <a:latin typeface="Georgia"/>
              </a:rPr>
              <a:t>Presentation Layer</a:t>
            </a:r>
            <a:r>
              <a:rPr sz="950" b="0" i="0">
                <a:solidFill>
                  <a:srgbClr val="0F766E"/>
                </a:solidFill>
                <a:latin typeface="Segoe UI"/>
              </a:rPr>
              <a:t>     React 19, TypeScript, Vite, Tailwind v4</a:t>
            </a:r>
          </a:p>
          <a:p>
            <a:pPr algn="l">
              <a:lnSpc>
                <a:spcPct val="135000"/>
              </a:lnSpc>
              <a:spcBef>
                <a:spcPts val="0"/>
              </a:spcBef>
              <a:spcAft>
                <a:spcPts val="0"/>
              </a:spcAft>
            </a:pPr>
            <a:r>
              <a:rPr sz="1000" b="0" i="0">
                <a:solidFill>
                  <a:srgbClr val="64748B"/>
                </a:solidFill>
                <a:latin typeface="Segoe UI"/>
              </a:rPr>
              <a:t>Public site, donor account, fundraiser console, administrator console. Talks only to the API, over an Axios service layer.</a:t>
            </a:r>
          </a:p>
        </p:txBody>
      </p:sp>
      <p:cxnSp>
        <p:nvCxnSpPr>
          <p:cNvPr id="10" name="Connector 9"/>
          <p:cNvCxnSpPr/>
          <p:nvPr/>
        </p:nvCxnSpPr>
        <p:spPr>
          <a:xfrm>
            <a:off x="4219917" y="3072383"/>
            <a:ext cx="0" cy="146304"/>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8368" y="3236976"/>
            <a:ext cx="7123098" cy="1042415"/>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3236976"/>
            <a:ext cx="50292" cy="1042415"/>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9264" y="3419856"/>
            <a:ext cx="6501306" cy="73152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0F172A"/>
                </a:solidFill>
                <a:latin typeface="Georgia"/>
              </a:rPr>
              <a:t>Application Layer</a:t>
            </a:r>
            <a:r>
              <a:rPr sz="950" b="0" i="0">
                <a:solidFill>
                  <a:srgbClr val="0F766E"/>
                </a:solidFill>
                <a:latin typeface="Segoe UI"/>
              </a:rPr>
              <a:t>     Node.js, Express, TypeScript</a:t>
            </a:r>
          </a:p>
          <a:p>
            <a:pPr algn="l">
              <a:lnSpc>
                <a:spcPct val="135000"/>
              </a:lnSpc>
              <a:spcBef>
                <a:spcPts val="0"/>
              </a:spcBef>
              <a:spcAft>
                <a:spcPts val="0"/>
              </a:spcAft>
            </a:pPr>
            <a:r>
              <a:rPr sz="1000" b="0" i="0">
                <a:solidFill>
                  <a:srgbClr val="64748B"/>
                </a:solidFill>
                <a:latin typeface="Segoe UI"/>
              </a:rPr>
              <a:t>Routes to controllers to services to repositories. Business rules live in services. Owns payments, blockchain writes and authorisation.</a:t>
            </a:r>
          </a:p>
        </p:txBody>
      </p:sp>
      <p:cxnSp>
        <p:nvCxnSpPr>
          <p:cNvPr id="14" name="Connector 13"/>
          <p:cNvCxnSpPr/>
          <p:nvPr/>
        </p:nvCxnSpPr>
        <p:spPr>
          <a:xfrm>
            <a:off x="4219917" y="4279392"/>
            <a:ext cx="0" cy="146304"/>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8368" y="4443983"/>
            <a:ext cx="7123098" cy="1042415"/>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4443983"/>
            <a:ext cx="50292" cy="1042415"/>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4626864"/>
            <a:ext cx="6501306" cy="73152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0F172A"/>
                </a:solidFill>
                <a:latin typeface="Georgia"/>
              </a:rPr>
              <a:t>Data Layer</a:t>
            </a:r>
            <a:r>
              <a:rPr sz="950" b="0" i="0">
                <a:solidFill>
                  <a:srgbClr val="0F766E"/>
                </a:solidFill>
                <a:latin typeface="Segoe UI"/>
              </a:rPr>
              <a:t>     PostgreSQL on Neon, Drizzle ORM</a:t>
            </a:r>
          </a:p>
          <a:p>
            <a:pPr algn="l">
              <a:lnSpc>
                <a:spcPct val="135000"/>
              </a:lnSpc>
              <a:spcBef>
                <a:spcPts val="0"/>
              </a:spcBef>
              <a:spcAft>
                <a:spcPts val="0"/>
              </a:spcAft>
            </a:pPr>
            <a:r>
              <a:rPr sz="1000" b="0" i="0">
                <a:solidFill>
                  <a:srgbClr val="64748B"/>
                </a:solidFill>
                <a:latin typeface="Segoe UI"/>
              </a:rPr>
              <a:t>14 tables, 11 migrations. Donations are immutable. Foreign keys enforced, every query parameterised.</a:t>
            </a:r>
          </a:p>
        </p:txBody>
      </p:sp>
      <p:sp>
        <p:nvSpPr>
          <p:cNvPr id="18" name="TextBox 17"/>
          <p:cNvSpPr txBox="1"/>
          <p:nvPr/>
        </p:nvSpPr>
        <p:spPr>
          <a:xfrm>
            <a:off x="8092362" y="2011679"/>
            <a:ext cx="3440964"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EXTERNAL SYSTEMS</a:t>
            </a:r>
          </a:p>
        </p:txBody>
      </p:sp>
      <p:sp>
        <p:nvSpPr>
          <p:cNvPr id="19" name="Rounded Rectangle 18"/>
          <p:cNvSpPr/>
          <p:nvPr/>
        </p:nvSpPr>
        <p:spPr>
          <a:xfrm>
            <a:off x="8092362" y="2304287"/>
            <a:ext cx="3440964" cy="914400"/>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348394" y="2487168"/>
            <a:ext cx="2928900" cy="640080"/>
          </a:xfrm>
          <a:prstGeom prst="rect">
            <a:avLst/>
          </a:prstGeom>
          <a:noFill/>
        </p:spPr>
        <p:txBody>
          <a:bodyPr wrap="square" lIns="0" rIns="0" tIns="0" bIns="0" anchor="t">
            <a:spAutoFit/>
          </a:bodyPr>
          <a:lstStyle/>
          <a:p>
            <a:pPr algn="l">
              <a:lnSpc>
                <a:spcPct val="125000"/>
              </a:lnSpc>
              <a:spcBef>
                <a:spcPts val="0"/>
              </a:spcBef>
              <a:spcAft>
                <a:spcPts val="500"/>
              </a:spcAft>
            </a:pPr>
            <a:r>
              <a:rPr sz="1200" b="1" i="0">
                <a:solidFill>
                  <a:srgbClr val="134E4A"/>
                </a:solidFill>
                <a:latin typeface="Georgia"/>
              </a:rPr>
              <a:t>Payment Provider</a:t>
            </a:r>
          </a:p>
          <a:p>
            <a:pPr algn="l">
              <a:lnSpc>
                <a:spcPct val="132000"/>
              </a:lnSpc>
              <a:spcBef>
                <a:spcPts val="0"/>
              </a:spcBef>
              <a:spcAft>
                <a:spcPts val="0"/>
              </a:spcAft>
            </a:pPr>
            <a:r>
              <a:rPr sz="950" b="0" i="0">
                <a:solidFill>
                  <a:srgbClr val="64748B"/>
                </a:solidFill>
                <a:latin typeface="Segoe UI"/>
              </a:rPr>
              <a:t>Adapter interface. Mock and AzamPay behind one seam.</a:t>
            </a:r>
          </a:p>
        </p:txBody>
      </p:sp>
      <p:cxnSp>
        <p:nvCxnSpPr>
          <p:cNvPr id="21" name="Connector 20"/>
          <p:cNvCxnSpPr/>
          <p:nvPr/>
        </p:nvCxnSpPr>
        <p:spPr>
          <a:xfrm>
            <a:off x="7781466" y="2688335"/>
            <a:ext cx="310896" cy="73152"/>
          </a:xfrm>
          <a:prstGeom prst="line">
            <a:avLst/>
          </a:prstGeom>
          <a:ln w="12700">
            <a:solidFill>
              <a:srgbClr val="94A3B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92362" y="3364991"/>
            <a:ext cx="3440964" cy="914400"/>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48394" y="3547872"/>
            <a:ext cx="2928900" cy="640080"/>
          </a:xfrm>
          <a:prstGeom prst="rect">
            <a:avLst/>
          </a:prstGeom>
          <a:noFill/>
        </p:spPr>
        <p:txBody>
          <a:bodyPr wrap="square" lIns="0" rIns="0" tIns="0" bIns="0" anchor="t">
            <a:spAutoFit/>
          </a:bodyPr>
          <a:lstStyle/>
          <a:p>
            <a:pPr algn="l">
              <a:lnSpc>
                <a:spcPct val="125000"/>
              </a:lnSpc>
              <a:spcBef>
                <a:spcPts val="0"/>
              </a:spcBef>
              <a:spcAft>
                <a:spcPts val="500"/>
              </a:spcAft>
            </a:pPr>
            <a:r>
              <a:rPr sz="1200" b="1" i="0">
                <a:solidFill>
                  <a:srgbClr val="134E4A"/>
                </a:solidFill>
                <a:latin typeface="Georgia"/>
              </a:rPr>
              <a:t>Ethereum Sepolia</a:t>
            </a:r>
          </a:p>
          <a:p>
            <a:pPr algn="l">
              <a:lnSpc>
                <a:spcPct val="132000"/>
              </a:lnSpc>
              <a:spcBef>
                <a:spcPts val="0"/>
              </a:spcBef>
              <a:spcAft>
                <a:spcPts val="0"/>
              </a:spcAft>
            </a:pPr>
            <a:r>
              <a:rPr sz="950" b="0" i="0">
                <a:solidFill>
                  <a:srgbClr val="64748B"/>
                </a:solidFill>
                <a:latin typeface="Segoe UI"/>
              </a:rPr>
              <a:t>TransparencyRegistry.sol. Proof records only.</a:t>
            </a:r>
          </a:p>
        </p:txBody>
      </p:sp>
      <p:cxnSp>
        <p:nvCxnSpPr>
          <p:cNvPr id="24" name="Connector 23"/>
          <p:cNvCxnSpPr/>
          <p:nvPr/>
        </p:nvCxnSpPr>
        <p:spPr>
          <a:xfrm flipV="1">
            <a:off x="7781466" y="3822191"/>
            <a:ext cx="310896" cy="603505"/>
          </a:xfrm>
          <a:prstGeom prst="line">
            <a:avLst/>
          </a:prstGeom>
          <a:ln w="12700">
            <a:solidFill>
              <a:srgbClr val="94A3B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092362" y="4462272"/>
            <a:ext cx="3440964" cy="1188720"/>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48394" y="4645152"/>
            <a:ext cx="2928900" cy="91440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134E4A"/>
                </a:solidFill>
                <a:latin typeface="Segoe UI"/>
              </a:rPr>
              <a:t>THE RULE</a:t>
            </a:r>
          </a:p>
          <a:p>
            <a:pPr algn="l">
              <a:lnSpc>
                <a:spcPct val="138000"/>
              </a:lnSpc>
              <a:spcBef>
                <a:spcPts val="0"/>
              </a:spcBef>
              <a:spcAft>
                <a:spcPts val="0"/>
              </a:spcAft>
            </a:pPr>
            <a:r>
              <a:rPr sz="1050" b="0" i="0">
                <a:solidFill>
                  <a:srgbClr val="134E4A"/>
                </a:solidFill>
                <a:latin typeface="Segoe UI"/>
              </a:rPr>
              <a:t>PostgreSQL holds operational data. The chain holds proof only. Personal data never leaves the database.</a:t>
            </a:r>
          </a:p>
        </p:txBody>
      </p:sp>
      <p:sp>
        <p:nvSpPr>
          <p:cNvPr id="27" name="Rectangle 26"/>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6345936"/>
            <a:ext cx="429940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0" name="TextBox 29"/>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6.2.1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Blockchain Design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What goes on-chain, what never does, and why the split matters.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5282031" cy="2286000"/>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2304287"/>
            <a:ext cx="4660239" cy="1737360"/>
          </a:xfrm>
          <a:prstGeom prst="rect">
            <a:avLst/>
          </a:prstGeom>
          <a:noFill/>
        </p:spPr>
        <p:txBody>
          <a:bodyPr wrap="square" lIns="0" rIns="0" tIns="0" bIns="0" anchor="t">
            <a:spAutoFit/>
          </a:bodyPr>
          <a:lstStyle/>
          <a:p>
            <a:pPr algn="l">
              <a:lnSpc>
                <a:spcPct val="125000"/>
              </a:lnSpc>
              <a:spcBef>
                <a:spcPts val="0"/>
              </a:spcBef>
              <a:spcAft>
                <a:spcPts val="1200"/>
              </a:spcAft>
            </a:pPr>
            <a:r>
              <a:rPr sz="850" b="1" i="0" spc="140">
                <a:solidFill>
                  <a:srgbClr val="5EEAD4"/>
                </a:solidFill>
                <a:latin typeface="Segoe UI"/>
              </a:rPr>
              <a:t>ON-CHAIN</a:t>
            </a:r>
          </a:p>
          <a:p>
            <a:pPr algn="l" marL="160020" indent="-160020">
              <a:lnSpc>
                <a:spcPct val="130000"/>
              </a:lnSpc>
              <a:spcBef>
                <a:spcPts val="0"/>
              </a:spcBef>
              <a:spcAft>
                <a:spcPts val="700"/>
              </a:spcAft>
              <a:buClr>
                <a:srgbClr val="5EEAD4"/>
              </a:buClr>
              <a:buSzPts val="1100"/>
              <a:buFont typeface="Segoe UI"/>
              <a:buChar char="•"/>
            </a:pPr>
            <a:r>
              <a:rPr sz="1100" b="0" i="0">
                <a:solidFill>
                  <a:srgbClr val="FFFFFF"/>
                </a:solidFill>
                <a:latin typeface="Segoe UI"/>
              </a:rPr>
              <a:t>Record type, donation or disbursement</a:t>
            </a:r>
          </a:p>
          <a:p>
            <a:pPr algn="l" marL="160020" indent="-160020">
              <a:lnSpc>
                <a:spcPct val="130000"/>
              </a:lnSpc>
              <a:spcBef>
                <a:spcPts val="0"/>
              </a:spcBef>
              <a:spcAft>
                <a:spcPts val="700"/>
              </a:spcAft>
              <a:buClr>
                <a:srgbClr val="5EEAD4"/>
              </a:buClr>
              <a:buSzPts val="1100"/>
              <a:buFont typeface="Segoe UI"/>
              <a:buChar char="•"/>
            </a:pPr>
            <a:r>
              <a:rPr sz="1100" b="0" i="0">
                <a:solidFill>
                  <a:srgbClr val="FFFFFF"/>
                </a:solidFill>
                <a:latin typeface="Segoe UI"/>
              </a:rPr>
              <a:t>SHA-256 proof hash</a:t>
            </a:r>
          </a:p>
          <a:p>
            <a:pPr algn="l" marL="160020" indent="-160020">
              <a:lnSpc>
                <a:spcPct val="130000"/>
              </a:lnSpc>
              <a:spcBef>
                <a:spcPts val="0"/>
              </a:spcBef>
              <a:spcAft>
                <a:spcPts val="700"/>
              </a:spcAft>
              <a:buClr>
                <a:srgbClr val="5EEAD4"/>
              </a:buClr>
              <a:buSzPts val="1100"/>
              <a:buFont typeface="Segoe UI"/>
              <a:buChar char="•"/>
            </a:pPr>
            <a:r>
              <a:rPr sz="1100" b="0" i="0">
                <a:solidFill>
                  <a:srgbClr val="FFFFFF"/>
                </a:solidFill>
                <a:latin typeface="Segoe UI"/>
              </a:rPr>
              <a:t>Amount and timestamp</a:t>
            </a:r>
          </a:p>
          <a:p>
            <a:pPr algn="l" marL="160020" indent="-160020">
              <a:lnSpc>
                <a:spcPct val="130000"/>
              </a:lnSpc>
              <a:spcBef>
                <a:spcPts val="0"/>
              </a:spcBef>
              <a:spcAft>
                <a:spcPts val="0"/>
              </a:spcAft>
              <a:buClr>
                <a:srgbClr val="5EEAD4"/>
              </a:buClr>
              <a:buSzPts val="1100"/>
              <a:buFont typeface="Segoe UI"/>
              <a:buChar char="•"/>
            </a:pPr>
            <a:r>
              <a:rPr sz="1100" b="0" i="0">
                <a:solidFill>
                  <a:srgbClr val="FFFFFF"/>
                </a:solidFill>
                <a:latin typeface="Segoe UI"/>
              </a:rPr>
              <a:t>Internal reference identifier</a:t>
            </a:r>
          </a:p>
        </p:txBody>
      </p:sp>
      <p:sp>
        <p:nvSpPr>
          <p:cNvPr id="9" name="Rounded Rectangle 8"/>
          <p:cNvSpPr/>
          <p:nvPr/>
        </p:nvSpPr>
        <p:spPr>
          <a:xfrm>
            <a:off x="6251295" y="2029967"/>
            <a:ext cx="5282031" cy="22860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62191" y="2304287"/>
            <a:ext cx="4660239" cy="1737360"/>
          </a:xfrm>
          <a:prstGeom prst="rect">
            <a:avLst/>
          </a:prstGeom>
          <a:noFill/>
        </p:spPr>
        <p:txBody>
          <a:bodyPr wrap="square" lIns="0" rIns="0" tIns="0" bIns="0" anchor="t">
            <a:spAutoFit/>
          </a:bodyPr>
          <a:lstStyle/>
          <a:p>
            <a:pPr algn="l">
              <a:lnSpc>
                <a:spcPct val="125000"/>
              </a:lnSpc>
              <a:spcBef>
                <a:spcPts val="0"/>
              </a:spcBef>
              <a:spcAft>
                <a:spcPts val="1200"/>
              </a:spcAft>
            </a:pPr>
            <a:r>
              <a:rPr sz="850" b="1" i="0" spc="140">
                <a:solidFill>
                  <a:srgbClr val="FF6B6B"/>
                </a:solidFill>
                <a:latin typeface="Segoe UI"/>
              </a:rPr>
              <a:t>NEVER ON-CHAIN</a:t>
            </a:r>
          </a:p>
          <a:p>
            <a:pPr algn="l" marL="160020" indent="-160020">
              <a:lnSpc>
                <a:spcPct val="130000"/>
              </a:lnSpc>
              <a:spcBef>
                <a:spcPts val="0"/>
              </a:spcBef>
              <a:spcAft>
                <a:spcPts val="700"/>
              </a:spcAft>
              <a:buClr>
                <a:srgbClr val="FF6B6B"/>
              </a:buClr>
              <a:buSzPts val="1100"/>
              <a:buFont typeface="Segoe UI"/>
              <a:buChar char="•"/>
            </a:pPr>
            <a:r>
              <a:rPr sz="1100" b="0" i="0">
                <a:solidFill>
                  <a:srgbClr val="0F172A"/>
                </a:solidFill>
                <a:latin typeface="Segoe UI"/>
              </a:rPr>
              <a:t>Donor name, email or phone number</a:t>
            </a:r>
          </a:p>
          <a:p>
            <a:pPr algn="l" marL="160020" indent="-160020">
              <a:lnSpc>
                <a:spcPct val="130000"/>
              </a:lnSpc>
              <a:spcBef>
                <a:spcPts val="0"/>
              </a:spcBef>
              <a:spcAft>
                <a:spcPts val="700"/>
              </a:spcAft>
              <a:buClr>
                <a:srgbClr val="FF6B6B"/>
              </a:buClr>
              <a:buSzPts val="1100"/>
              <a:buFont typeface="Segoe UI"/>
              <a:buChar char="•"/>
            </a:pPr>
            <a:r>
              <a:rPr sz="1100" b="0" i="0">
                <a:solidFill>
                  <a:srgbClr val="0F172A"/>
                </a:solidFill>
                <a:latin typeface="Segoe UI"/>
              </a:rPr>
              <a:t>Beneficiary identity or contact details</a:t>
            </a:r>
          </a:p>
          <a:p>
            <a:pPr algn="l" marL="160020" indent="-160020">
              <a:lnSpc>
                <a:spcPct val="130000"/>
              </a:lnSpc>
              <a:spcBef>
                <a:spcPts val="0"/>
              </a:spcBef>
              <a:spcAft>
                <a:spcPts val="700"/>
              </a:spcAft>
              <a:buClr>
                <a:srgbClr val="FF6B6B"/>
              </a:buClr>
              <a:buSzPts val="1100"/>
              <a:buFont typeface="Segoe UI"/>
              <a:buChar char="•"/>
            </a:pPr>
            <a:r>
              <a:rPr sz="1100" b="0" i="0">
                <a:solidFill>
                  <a:srgbClr val="0F172A"/>
                </a:solidFill>
                <a:latin typeface="Segoe UI"/>
              </a:rPr>
              <a:t>Payment reference or provider payload</a:t>
            </a:r>
          </a:p>
          <a:p>
            <a:pPr algn="l" marL="160020" indent="-160020">
              <a:lnSpc>
                <a:spcPct val="130000"/>
              </a:lnSpc>
              <a:spcBef>
                <a:spcPts val="0"/>
              </a:spcBef>
              <a:spcAft>
                <a:spcPts val="0"/>
              </a:spcAft>
              <a:buClr>
                <a:srgbClr val="FF6B6B"/>
              </a:buClr>
              <a:buSzPts val="1100"/>
              <a:buFont typeface="Segoe UI"/>
              <a:buChar char="•"/>
            </a:pPr>
            <a:r>
              <a:rPr sz="1100" b="0" i="0">
                <a:solidFill>
                  <a:srgbClr val="0F172A"/>
                </a:solidFill>
                <a:latin typeface="Segoe UI"/>
              </a:rPr>
              <a:t>Anything that could identify a person</a:t>
            </a:r>
          </a:p>
        </p:txBody>
      </p:sp>
      <p:sp>
        <p:nvSpPr>
          <p:cNvPr id="11" name="Rounded Rectangle 10"/>
          <p:cNvSpPr/>
          <p:nvPr/>
        </p:nvSpPr>
        <p:spPr>
          <a:xfrm>
            <a:off x="658368" y="4572000"/>
            <a:ext cx="2403271" cy="85953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736592"/>
            <a:ext cx="196435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Donation commits</a:t>
            </a:r>
          </a:p>
          <a:p>
            <a:pPr algn="l">
              <a:lnSpc>
                <a:spcPct val="125000"/>
              </a:lnSpc>
              <a:spcBef>
                <a:spcPts val="0"/>
              </a:spcBef>
              <a:spcAft>
                <a:spcPts val="0"/>
              </a:spcAft>
            </a:pPr>
            <a:r>
              <a:rPr sz="900" b="0" i="0">
                <a:solidFill>
                  <a:srgbClr val="64748B"/>
                </a:solidFill>
                <a:latin typeface="Consolas"/>
              </a:rPr>
              <a:t>in PostgreSQL</a:t>
            </a:r>
          </a:p>
        </p:txBody>
      </p:sp>
      <p:cxnSp>
        <p:nvCxnSpPr>
          <p:cNvPr id="13" name="Connector 12"/>
          <p:cNvCxnSpPr/>
          <p:nvPr/>
        </p:nvCxnSpPr>
        <p:spPr>
          <a:xfrm>
            <a:off x="3134791" y="5001768"/>
            <a:ext cx="274320" cy="0"/>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82263" y="4572000"/>
            <a:ext cx="2403271" cy="85953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1719" y="4736592"/>
            <a:ext cx="196435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Hash the payload</a:t>
            </a:r>
          </a:p>
          <a:p>
            <a:pPr algn="l">
              <a:lnSpc>
                <a:spcPct val="125000"/>
              </a:lnSpc>
              <a:spcBef>
                <a:spcPts val="0"/>
              </a:spcBef>
              <a:spcAft>
                <a:spcPts val="0"/>
              </a:spcAft>
            </a:pPr>
            <a:r>
              <a:rPr sz="900" b="0" i="0">
                <a:solidFill>
                  <a:srgbClr val="64748B"/>
                </a:solidFill>
                <a:latin typeface="Consolas"/>
              </a:rPr>
              <a:t>SHA-256, deterministic</a:t>
            </a:r>
          </a:p>
        </p:txBody>
      </p:sp>
      <p:cxnSp>
        <p:nvCxnSpPr>
          <p:cNvPr id="16" name="Connector 15"/>
          <p:cNvCxnSpPr/>
          <p:nvPr/>
        </p:nvCxnSpPr>
        <p:spPr>
          <a:xfrm>
            <a:off x="5958687" y="5001768"/>
            <a:ext cx="274320" cy="0"/>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06159" y="4572000"/>
            <a:ext cx="2403271" cy="85953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25615" y="4736592"/>
            <a:ext cx="196435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Submit to contract</a:t>
            </a:r>
          </a:p>
          <a:p>
            <a:pPr algn="l">
              <a:lnSpc>
                <a:spcPct val="125000"/>
              </a:lnSpc>
              <a:spcBef>
                <a:spcPts val="0"/>
              </a:spcBef>
              <a:spcAft>
                <a:spcPts val="0"/>
              </a:spcAft>
            </a:pPr>
            <a:r>
              <a:rPr sz="900" b="0" i="0">
                <a:solidFill>
                  <a:srgbClr val="64748B"/>
                </a:solidFill>
                <a:latin typeface="Consolas"/>
              </a:rPr>
              <a:t>registerDonation()</a:t>
            </a:r>
          </a:p>
        </p:txBody>
      </p:sp>
      <p:cxnSp>
        <p:nvCxnSpPr>
          <p:cNvPr id="19" name="Connector 18"/>
          <p:cNvCxnSpPr/>
          <p:nvPr/>
        </p:nvCxnSpPr>
        <p:spPr>
          <a:xfrm>
            <a:off x="8782583" y="5001768"/>
            <a:ext cx="274320" cy="0"/>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30055" y="4572000"/>
            <a:ext cx="2403271" cy="85953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349511" y="4736592"/>
            <a:ext cx="196435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Store the receipt</a:t>
            </a:r>
          </a:p>
          <a:p>
            <a:pPr algn="l">
              <a:lnSpc>
                <a:spcPct val="125000"/>
              </a:lnSpc>
              <a:spcBef>
                <a:spcPts val="0"/>
              </a:spcBef>
              <a:spcAft>
                <a:spcPts val="0"/>
              </a:spcAft>
            </a:pPr>
            <a:r>
              <a:rPr sz="900" b="0" i="0">
                <a:solidFill>
                  <a:srgbClr val="64748B"/>
                </a:solidFill>
                <a:latin typeface="Consolas"/>
              </a:rPr>
              <a:t>tx hash, block, network</a:t>
            </a:r>
          </a:p>
        </p:txBody>
      </p:sp>
      <p:sp>
        <p:nvSpPr>
          <p:cNvPr id="22" name="Rounded Rectangle 21"/>
          <p:cNvSpPr/>
          <p:nvPr/>
        </p:nvSpPr>
        <p:spPr>
          <a:xfrm>
            <a:off x="658368" y="5614416"/>
            <a:ext cx="10874959" cy="512064"/>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4400" y="5614416"/>
            <a:ext cx="10362895" cy="512064"/>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134E4A"/>
                </a:solidFill>
                <a:latin typeface="Segoe UI"/>
              </a:rPr>
              <a:t>Why a hash and not the data.  </a:t>
            </a:r>
            <a:r>
              <a:rPr sz="1050" b="0" i="0">
                <a:solidFill>
                  <a:srgbClr val="134E4A"/>
                </a:solidFill>
                <a:latin typeface="Segoe UI"/>
              </a:rPr>
              <a:t>A hash proves the record has not changed without publishing anything about the person who gave. Verification compares a recomputed hash against the chain.</a:t>
            </a:r>
          </a:p>
        </p:txBody>
      </p:sp>
      <p:sp>
        <p:nvSpPr>
          <p:cNvPr id="24" name="Rectangle 23"/>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6345936"/>
            <a:ext cx="455230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27" name="TextBox 26"/>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6.3</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Data Modeling  ·  Context Diagram</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Level 0. The system as a single process against the entities it exchanges data with.</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4846320" y="3328415"/>
            <a:ext cx="2514600" cy="1188720"/>
          </a:xfrm>
          <a:prstGeom prst="roundRect">
            <a:avLst>
              <a:gd name="adj" fmla="val 10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250" b="1" i="0">
                <a:solidFill>
                  <a:srgbClr val="FFFFFF"/>
                </a:solidFill>
                <a:latin typeface="Segoe UI"/>
              </a:rPr>
              <a:t>0
Changia
Donation Platform</a:t>
            </a:r>
          </a:p>
        </p:txBody>
      </p:sp>
      <p:sp>
        <p:nvSpPr>
          <p:cNvPr id="8" name="Rounded Rectangle 7"/>
          <p:cNvSpPr/>
          <p:nvPr/>
        </p:nvSpPr>
        <p:spPr>
          <a:xfrm>
            <a:off x="960120" y="2231136"/>
            <a:ext cx="1920240" cy="621792"/>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50" b="1" i="0">
                <a:solidFill>
                  <a:srgbClr val="0F172A"/>
                </a:solidFill>
                <a:latin typeface="Segoe UI"/>
              </a:rPr>
              <a:t>Donor</a:t>
            </a:r>
          </a:p>
        </p:txBody>
      </p:sp>
      <p:cxnSp>
        <p:nvCxnSpPr>
          <p:cNvPr id="9" name="Connector 8"/>
          <p:cNvCxnSpPr/>
          <p:nvPr/>
        </p:nvCxnSpPr>
        <p:spPr>
          <a:xfrm>
            <a:off x="2880360" y="2450591"/>
            <a:ext cx="1965960" cy="1261872"/>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2880360" y="2688336"/>
            <a:ext cx="1965960" cy="1371599"/>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935224" y="2249424"/>
            <a:ext cx="18562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a:solidFill>
                  <a:srgbClr val="0F766E"/>
                </a:solidFill>
                <a:latin typeface="Segoe UI"/>
              </a:rPr>
              <a:t>donation, credentials</a:t>
            </a:r>
          </a:p>
        </p:txBody>
      </p:sp>
      <p:sp>
        <p:nvSpPr>
          <p:cNvPr id="12" name="Rounded Rectangle 11"/>
          <p:cNvSpPr/>
          <p:nvPr/>
        </p:nvSpPr>
        <p:spPr>
          <a:xfrm>
            <a:off x="960120" y="4334256"/>
            <a:ext cx="1920240" cy="621792"/>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50" b="1" i="0">
                <a:solidFill>
                  <a:srgbClr val="0F172A"/>
                </a:solidFill>
                <a:latin typeface="Segoe UI"/>
              </a:rPr>
              <a:t>Fundraiser</a:t>
            </a:r>
          </a:p>
        </p:txBody>
      </p:sp>
      <p:cxnSp>
        <p:nvCxnSpPr>
          <p:cNvPr id="13" name="Connector 12"/>
          <p:cNvCxnSpPr/>
          <p:nvPr/>
        </p:nvCxnSpPr>
        <p:spPr>
          <a:xfrm flipV="1">
            <a:off x="2880360" y="3712463"/>
            <a:ext cx="1965960" cy="841249"/>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880360" y="4059935"/>
            <a:ext cx="1965960" cy="731521"/>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935224" y="3346703"/>
            <a:ext cx="18562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a:solidFill>
                  <a:srgbClr val="0F766E"/>
                </a:solidFill>
                <a:latin typeface="Segoe UI"/>
              </a:rPr>
              <a:t>campaign, beneficiary</a:t>
            </a:r>
          </a:p>
        </p:txBody>
      </p:sp>
      <p:sp>
        <p:nvSpPr>
          <p:cNvPr id="16" name="Rounded Rectangle 15"/>
          <p:cNvSpPr/>
          <p:nvPr/>
        </p:nvSpPr>
        <p:spPr>
          <a:xfrm>
            <a:off x="9326880" y="2231136"/>
            <a:ext cx="1920240" cy="621792"/>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50" b="1" i="0">
                <a:solidFill>
                  <a:srgbClr val="0F172A"/>
                </a:solidFill>
                <a:latin typeface="Segoe UI"/>
              </a:rPr>
              <a:t>Administrator</a:t>
            </a:r>
          </a:p>
        </p:txBody>
      </p:sp>
      <p:cxnSp>
        <p:nvCxnSpPr>
          <p:cNvPr id="17" name="Connector 16"/>
          <p:cNvCxnSpPr/>
          <p:nvPr/>
        </p:nvCxnSpPr>
        <p:spPr>
          <a:xfrm flipH="1">
            <a:off x="7360920" y="2450591"/>
            <a:ext cx="1965960" cy="1261872"/>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360920" y="2688336"/>
            <a:ext cx="1965960" cy="1371599"/>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15784" y="2249424"/>
            <a:ext cx="18562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a:solidFill>
                  <a:srgbClr val="0F766E"/>
                </a:solidFill>
                <a:latin typeface="Segoe UI"/>
              </a:rPr>
              <a:t>review, approval</a:t>
            </a:r>
          </a:p>
        </p:txBody>
      </p:sp>
      <p:sp>
        <p:nvSpPr>
          <p:cNvPr id="20" name="Rounded Rectangle 19"/>
          <p:cNvSpPr/>
          <p:nvPr/>
        </p:nvSpPr>
        <p:spPr>
          <a:xfrm>
            <a:off x="9326880" y="3511296"/>
            <a:ext cx="1920240" cy="621792"/>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50" b="1" i="0">
                <a:solidFill>
                  <a:srgbClr val="0F172A"/>
                </a:solidFill>
                <a:latin typeface="Segoe UI"/>
              </a:rPr>
              <a:t>Payment Gateway</a:t>
            </a:r>
          </a:p>
        </p:txBody>
      </p:sp>
      <p:cxnSp>
        <p:nvCxnSpPr>
          <p:cNvPr id="21" name="Connector 20"/>
          <p:cNvCxnSpPr/>
          <p:nvPr/>
        </p:nvCxnSpPr>
        <p:spPr>
          <a:xfrm flipH="1" flipV="1">
            <a:off x="7360920" y="3712463"/>
            <a:ext cx="1965960" cy="18289"/>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360920" y="3968496"/>
            <a:ext cx="1965960" cy="91439"/>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15784" y="3346703"/>
            <a:ext cx="18562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a:solidFill>
                  <a:srgbClr val="0F766E"/>
                </a:solidFill>
                <a:latin typeface="Segoe UI"/>
              </a:rPr>
              <a:t>callback</a:t>
            </a:r>
          </a:p>
        </p:txBody>
      </p:sp>
      <p:sp>
        <p:nvSpPr>
          <p:cNvPr id="24" name="Rounded Rectangle 23"/>
          <p:cNvSpPr/>
          <p:nvPr/>
        </p:nvSpPr>
        <p:spPr>
          <a:xfrm>
            <a:off x="9326880" y="4791456"/>
            <a:ext cx="1920240" cy="621792"/>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50" b="1" i="0">
                <a:solidFill>
                  <a:srgbClr val="0F172A"/>
                </a:solidFill>
                <a:latin typeface="Segoe UI"/>
              </a:rPr>
              <a:t>Ethereum Sepolia</a:t>
            </a:r>
          </a:p>
        </p:txBody>
      </p:sp>
      <p:cxnSp>
        <p:nvCxnSpPr>
          <p:cNvPr id="25" name="Connector 24"/>
          <p:cNvCxnSpPr/>
          <p:nvPr/>
        </p:nvCxnSpPr>
        <p:spPr>
          <a:xfrm flipH="1" flipV="1">
            <a:off x="7360920" y="3712463"/>
            <a:ext cx="1965960" cy="1298449"/>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360920" y="4059935"/>
            <a:ext cx="1965960" cy="1188721"/>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15784" y="3346703"/>
            <a:ext cx="1856231" cy="201168"/>
          </a:xfrm>
          <a:prstGeom prst="rect">
            <a:avLst/>
          </a:prstGeom>
          <a:noFill/>
        </p:spPr>
        <p:txBody>
          <a:bodyPr wrap="square" lIns="0" rIns="0" tIns="0" bIns="0" anchor="t">
            <a:spAutoFit/>
          </a:bodyPr>
          <a:lstStyle/>
          <a:p>
            <a:pPr algn="ctr">
              <a:lnSpc>
                <a:spcPct val="125000"/>
              </a:lnSpc>
              <a:spcBef>
                <a:spcPts val="0"/>
              </a:spcBef>
              <a:spcAft>
                <a:spcPts val="0"/>
              </a:spcAft>
            </a:pPr>
            <a:r>
              <a:rPr sz="750" b="0" i="0">
                <a:solidFill>
                  <a:srgbClr val="0F766E"/>
                </a:solidFill>
                <a:latin typeface="Segoe UI"/>
              </a:rPr>
              <a:t>tx receipt</a:t>
            </a:r>
          </a:p>
        </p:txBody>
      </p:sp>
      <p:sp>
        <p:nvSpPr>
          <p:cNvPr id="28" name="Rounded Rectangle 27"/>
          <p:cNvSpPr/>
          <p:nvPr/>
        </p:nvSpPr>
        <p:spPr>
          <a:xfrm>
            <a:off x="658368" y="5632704"/>
            <a:ext cx="10874959" cy="512064"/>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14400" y="5632704"/>
            <a:ext cx="10362895" cy="512064"/>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0F172A"/>
                </a:solidFill>
                <a:latin typeface="Segoe UI"/>
              </a:rPr>
              <a:t>Teal arrows carry data into the system, grey arrows carry it back out.  </a:t>
            </a:r>
            <a:r>
              <a:rPr sz="1050" b="0" i="0">
                <a:solidFill>
                  <a:srgbClr val="64748B"/>
                </a:solidFill>
                <a:latin typeface="Segoe UI"/>
              </a:rPr>
              <a:t>Level 1 on the next slide decomposes process 0 into its six major sub-processes.</a:t>
            </a:r>
          </a:p>
        </p:txBody>
      </p:sp>
      <p:sp>
        <p:nvSpPr>
          <p:cNvPr id="30" name="Rectangle 29"/>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6345936"/>
            <a:ext cx="4805214"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3" name="TextBox 32"/>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6.3.1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Data Flow Diagram  ·  Level 1</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Process 0 decomposed. Six sub-processes and the stores they read and write.</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3090672"/>
            <a:ext cx="1629613" cy="896112"/>
          </a:xfrm>
          <a:prstGeom prst="roundRect">
            <a:avLst>
              <a:gd name="adj" fmla="val 9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Authenticate
and authorise</a:t>
            </a:r>
          </a:p>
        </p:txBody>
      </p:sp>
      <p:sp>
        <p:nvSpPr>
          <p:cNvPr id="8" name="TextBox 7"/>
          <p:cNvSpPr txBox="1"/>
          <p:nvPr/>
        </p:nvSpPr>
        <p:spPr>
          <a:xfrm>
            <a:off x="658368" y="2852928"/>
            <a:ext cx="1629613" cy="201168"/>
          </a:xfrm>
          <a:prstGeom prst="rect">
            <a:avLst/>
          </a:prstGeom>
          <a:noFill/>
        </p:spPr>
        <p:txBody>
          <a:bodyPr wrap="square" lIns="0" rIns="0" tIns="0" bIns="0" anchor="t">
            <a:spAutoFit/>
          </a:bodyPr>
          <a:lstStyle/>
          <a:p>
            <a:pPr algn="ctr">
              <a:lnSpc>
                <a:spcPct val="125000"/>
              </a:lnSpc>
              <a:spcBef>
                <a:spcPts val="0"/>
              </a:spcBef>
              <a:spcAft>
                <a:spcPts val="0"/>
              </a:spcAft>
            </a:pPr>
            <a:r>
              <a:rPr sz="900" b="1" i="0">
                <a:solidFill>
                  <a:srgbClr val="134E4A"/>
                </a:solidFill>
                <a:latin typeface="Consolas"/>
              </a:rPr>
              <a:t>1.0</a:t>
            </a:r>
          </a:p>
        </p:txBody>
      </p:sp>
      <p:cxnSp>
        <p:nvCxnSpPr>
          <p:cNvPr id="9" name="Connector 8"/>
          <p:cNvCxnSpPr/>
          <p:nvPr/>
        </p:nvCxnSpPr>
        <p:spPr>
          <a:xfrm>
            <a:off x="2306269" y="3538728"/>
            <a:ext cx="164592"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07437" y="3090672"/>
            <a:ext cx="1629613" cy="896112"/>
          </a:xfrm>
          <a:prstGeom prst="roundRect">
            <a:avLst>
              <a:gd name="adj" fmla="val 9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Manage
campaigns</a:t>
            </a:r>
          </a:p>
        </p:txBody>
      </p:sp>
      <p:sp>
        <p:nvSpPr>
          <p:cNvPr id="11" name="TextBox 10"/>
          <p:cNvSpPr txBox="1"/>
          <p:nvPr/>
        </p:nvSpPr>
        <p:spPr>
          <a:xfrm>
            <a:off x="2507437" y="2852928"/>
            <a:ext cx="1629613" cy="201168"/>
          </a:xfrm>
          <a:prstGeom prst="rect">
            <a:avLst/>
          </a:prstGeom>
          <a:noFill/>
        </p:spPr>
        <p:txBody>
          <a:bodyPr wrap="square" lIns="0" rIns="0" tIns="0" bIns="0" anchor="t">
            <a:spAutoFit/>
          </a:bodyPr>
          <a:lstStyle/>
          <a:p>
            <a:pPr algn="ctr">
              <a:lnSpc>
                <a:spcPct val="125000"/>
              </a:lnSpc>
              <a:spcBef>
                <a:spcPts val="0"/>
              </a:spcBef>
              <a:spcAft>
                <a:spcPts val="0"/>
              </a:spcAft>
            </a:pPr>
            <a:r>
              <a:rPr sz="900" b="1" i="0">
                <a:solidFill>
                  <a:srgbClr val="134E4A"/>
                </a:solidFill>
                <a:latin typeface="Consolas"/>
              </a:rPr>
              <a:t>2.0</a:t>
            </a:r>
          </a:p>
        </p:txBody>
      </p:sp>
      <p:cxnSp>
        <p:nvCxnSpPr>
          <p:cNvPr id="12" name="Connector 11"/>
          <p:cNvCxnSpPr/>
          <p:nvPr/>
        </p:nvCxnSpPr>
        <p:spPr>
          <a:xfrm>
            <a:off x="4155338" y="3538728"/>
            <a:ext cx="164592"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56506" y="3090672"/>
            <a:ext cx="1629613" cy="896112"/>
          </a:xfrm>
          <a:prstGeom prst="roundRect">
            <a:avLst>
              <a:gd name="adj" fmla="val 9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Process
donation</a:t>
            </a:r>
          </a:p>
        </p:txBody>
      </p:sp>
      <p:sp>
        <p:nvSpPr>
          <p:cNvPr id="14" name="TextBox 13"/>
          <p:cNvSpPr txBox="1"/>
          <p:nvPr/>
        </p:nvSpPr>
        <p:spPr>
          <a:xfrm>
            <a:off x="4356506" y="2852928"/>
            <a:ext cx="1629613" cy="201168"/>
          </a:xfrm>
          <a:prstGeom prst="rect">
            <a:avLst/>
          </a:prstGeom>
          <a:noFill/>
        </p:spPr>
        <p:txBody>
          <a:bodyPr wrap="square" lIns="0" rIns="0" tIns="0" bIns="0" anchor="t">
            <a:spAutoFit/>
          </a:bodyPr>
          <a:lstStyle/>
          <a:p>
            <a:pPr algn="ctr">
              <a:lnSpc>
                <a:spcPct val="125000"/>
              </a:lnSpc>
              <a:spcBef>
                <a:spcPts val="0"/>
              </a:spcBef>
              <a:spcAft>
                <a:spcPts val="0"/>
              </a:spcAft>
            </a:pPr>
            <a:r>
              <a:rPr sz="900" b="1" i="0">
                <a:solidFill>
                  <a:srgbClr val="134E4A"/>
                </a:solidFill>
                <a:latin typeface="Consolas"/>
              </a:rPr>
              <a:t>3.0</a:t>
            </a:r>
          </a:p>
        </p:txBody>
      </p:sp>
      <p:cxnSp>
        <p:nvCxnSpPr>
          <p:cNvPr id="15" name="Connector 14"/>
          <p:cNvCxnSpPr/>
          <p:nvPr/>
        </p:nvCxnSpPr>
        <p:spPr>
          <a:xfrm>
            <a:off x="6004407" y="3538728"/>
            <a:ext cx="164592"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05575" y="3090672"/>
            <a:ext cx="1629613" cy="896112"/>
          </a:xfrm>
          <a:prstGeom prst="roundRect">
            <a:avLst>
              <a:gd name="adj" fmla="val 9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Record
proof</a:t>
            </a:r>
          </a:p>
        </p:txBody>
      </p:sp>
      <p:sp>
        <p:nvSpPr>
          <p:cNvPr id="17" name="TextBox 16"/>
          <p:cNvSpPr txBox="1"/>
          <p:nvPr/>
        </p:nvSpPr>
        <p:spPr>
          <a:xfrm>
            <a:off x="6205575" y="2852928"/>
            <a:ext cx="1629613" cy="201168"/>
          </a:xfrm>
          <a:prstGeom prst="rect">
            <a:avLst/>
          </a:prstGeom>
          <a:noFill/>
        </p:spPr>
        <p:txBody>
          <a:bodyPr wrap="square" lIns="0" rIns="0" tIns="0" bIns="0" anchor="t">
            <a:spAutoFit/>
          </a:bodyPr>
          <a:lstStyle/>
          <a:p>
            <a:pPr algn="ctr">
              <a:lnSpc>
                <a:spcPct val="125000"/>
              </a:lnSpc>
              <a:spcBef>
                <a:spcPts val="0"/>
              </a:spcBef>
              <a:spcAft>
                <a:spcPts val="0"/>
              </a:spcAft>
            </a:pPr>
            <a:r>
              <a:rPr sz="900" b="1" i="0">
                <a:solidFill>
                  <a:srgbClr val="134E4A"/>
                </a:solidFill>
                <a:latin typeface="Consolas"/>
              </a:rPr>
              <a:t>4.0</a:t>
            </a:r>
          </a:p>
        </p:txBody>
      </p:sp>
      <p:cxnSp>
        <p:nvCxnSpPr>
          <p:cNvPr id="18" name="Connector 17"/>
          <p:cNvCxnSpPr/>
          <p:nvPr/>
        </p:nvCxnSpPr>
        <p:spPr>
          <a:xfrm>
            <a:off x="7853476" y="3538728"/>
            <a:ext cx="164592"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054644" y="3090672"/>
            <a:ext cx="1629613" cy="896112"/>
          </a:xfrm>
          <a:prstGeom prst="roundRect">
            <a:avLst>
              <a:gd name="adj" fmla="val 9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Disburse
funds</a:t>
            </a:r>
          </a:p>
        </p:txBody>
      </p:sp>
      <p:sp>
        <p:nvSpPr>
          <p:cNvPr id="20" name="TextBox 19"/>
          <p:cNvSpPr txBox="1"/>
          <p:nvPr/>
        </p:nvSpPr>
        <p:spPr>
          <a:xfrm>
            <a:off x="8054644" y="2852928"/>
            <a:ext cx="1629613" cy="201168"/>
          </a:xfrm>
          <a:prstGeom prst="rect">
            <a:avLst/>
          </a:prstGeom>
          <a:noFill/>
        </p:spPr>
        <p:txBody>
          <a:bodyPr wrap="square" lIns="0" rIns="0" tIns="0" bIns="0" anchor="t">
            <a:spAutoFit/>
          </a:bodyPr>
          <a:lstStyle/>
          <a:p>
            <a:pPr algn="ctr">
              <a:lnSpc>
                <a:spcPct val="125000"/>
              </a:lnSpc>
              <a:spcBef>
                <a:spcPts val="0"/>
              </a:spcBef>
              <a:spcAft>
                <a:spcPts val="0"/>
              </a:spcAft>
            </a:pPr>
            <a:r>
              <a:rPr sz="900" b="1" i="0">
                <a:solidFill>
                  <a:srgbClr val="134E4A"/>
                </a:solidFill>
                <a:latin typeface="Consolas"/>
              </a:rPr>
              <a:t>5.0</a:t>
            </a:r>
          </a:p>
        </p:txBody>
      </p:sp>
      <p:cxnSp>
        <p:nvCxnSpPr>
          <p:cNvPr id="21" name="Connector 20"/>
          <p:cNvCxnSpPr/>
          <p:nvPr/>
        </p:nvCxnSpPr>
        <p:spPr>
          <a:xfrm>
            <a:off x="9702546" y="3538728"/>
            <a:ext cx="164592"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903714" y="3090672"/>
            <a:ext cx="1629613" cy="896112"/>
          </a:xfrm>
          <a:prstGeom prst="roundRect">
            <a:avLst>
              <a:gd name="adj" fmla="val 9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Report
and audit</a:t>
            </a:r>
          </a:p>
        </p:txBody>
      </p:sp>
      <p:sp>
        <p:nvSpPr>
          <p:cNvPr id="23" name="TextBox 22"/>
          <p:cNvSpPr txBox="1"/>
          <p:nvPr/>
        </p:nvSpPr>
        <p:spPr>
          <a:xfrm>
            <a:off x="9903714" y="2852928"/>
            <a:ext cx="1629613" cy="201168"/>
          </a:xfrm>
          <a:prstGeom prst="rect">
            <a:avLst/>
          </a:prstGeom>
          <a:noFill/>
        </p:spPr>
        <p:txBody>
          <a:bodyPr wrap="square" lIns="0" rIns="0" tIns="0" bIns="0" anchor="t">
            <a:spAutoFit/>
          </a:bodyPr>
          <a:lstStyle/>
          <a:p>
            <a:pPr algn="ctr">
              <a:lnSpc>
                <a:spcPct val="125000"/>
              </a:lnSpc>
              <a:spcBef>
                <a:spcPts val="0"/>
              </a:spcBef>
              <a:spcAft>
                <a:spcPts val="0"/>
              </a:spcAft>
            </a:pPr>
            <a:r>
              <a:rPr sz="900" b="1" i="0">
                <a:solidFill>
                  <a:srgbClr val="134E4A"/>
                </a:solidFill>
                <a:latin typeface="Consolas"/>
              </a:rPr>
              <a:t>6.0</a:t>
            </a:r>
          </a:p>
        </p:txBody>
      </p:sp>
      <p:sp>
        <p:nvSpPr>
          <p:cNvPr id="24" name="Rectangle 23"/>
          <p:cNvSpPr/>
          <p:nvPr/>
        </p:nvSpPr>
        <p:spPr>
          <a:xfrm>
            <a:off x="658368" y="4572000"/>
            <a:ext cx="1629613" cy="548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4572000"/>
            <a:ext cx="365760" cy="54864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4572000"/>
            <a:ext cx="365760" cy="548640"/>
          </a:xfrm>
          <a:prstGeom prst="rect">
            <a:avLst/>
          </a:prstGeom>
          <a:noFill/>
        </p:spPr>
        <p:txBody>
          <a:bodyPr wrap="square" lIns="0" rIns="0" tIns="0" bIns="0" anchor="ctr">
            <a:spAutoFit/>
          </a:bodyPr>
          <a:lstStyle/>
          <a:p>
            <a:pPr algn="ctr">
              <a:lnSpc>
                <a:spcPct val="125000"/>
              </a:lnSpc>
              <a:spcBef>
                <a:spcPts val="0"/>
              </a:spcBef>
              <a:spcAft>
                <a:spcPts val="0"/>
              </a:spcAft>
            </a:pPr>
            <a:r>
              <a:rPr sz="900" b="1" i="0">
                <a:solidFill>
                  <a:srgbClr val="FFFFFF"/>
                </a:solidFill>
                <a:latin typeface="Consolas"/>
              </a:rPr>
              <a:t>D1</a:t>
            </a:r>
          </a:p>
        </p:txBody>
      </p:sp>
      <p:sp>
        <p:nvSpPr>
          <p:cNvPr id="27" name="TextBox 26"/>
          <p:cNvSpPr txBox="1"/>
          <p:nvPr/>
        </p:nvSpPr>
        <p:spPr>
          <a:xfrm>
            <a:off x="1097280" y="4572000"/>
            <a:ext cx="1099261" cy="548640"/>
          </a:xfrm>
          <a:prstGeom prst="rect">
            <a:avLst/>
          </a:prstGeom>
          <a:noFill/>
        </p:spPr>
        <p:txBody>
          <a:bodyPr wrap="square" lIns="0" rIns="0" tIns="0" bIns="0" anchor="ctr">
            <a:spAutoFit/>
          </a:bodyPr>
          <a:lstStyle/>
          <a:p>
            <a:pPr algn="l">
              <a:lnSpc>
                <a:spcPct val="120000"/>
              </a:lnSpc>
              <a:spcBef>
                <a:spcPts val="0"/>
              </a:spcBef>
              <a:spcAft>
                <a:spcPts val="0"/>
              </a:spcAft>
            </a:pPr>
            <a:r>
              <a:rPr sz="850" b="0" i="0">
                <a:solidFill>
                  <a:srgbClr val="0F172A"/>
                </a:solidFill>
                <a:latin typeface="Segoe UI"/>
              </a:rPr>
              <a:t>users, sessions</a:t>
            </a:r>
          </a:p>
        </p:txBody>
      </p:sp>
      <p:cxnSp>
        <p:nvCxnSpPr>
          <p:cNvPr id="28" name="Connector 27"/>
          <p:cNvCxnSpPr/>
          <p:nvPr/>
        </p:nvCxnSpPr>
        <p:spPr>
          <a:xfrm>
            <a:off x="1473174" y="3986783"/>
            <a:ext cx="0" cy="585217"/>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507437" y="4572000"/>
            <a:ext cx="1629613" cy="548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507437" y="4572000"/>
            <a:ext cx="365760" cy="54864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507437" y="4572000"/>
            <a:ext cx="365760" cy="548640"/>
          </a:xfrm>
          <a:prstGeom prst="rect">
            <a:avLst/>
          </a:prstGeom>
          <a:noFill/>
        </p:spPr>
        <p:txBody>
          <a:bodyPr wrap="square" lIns="0" rIns="0" tIns="0" bIns="0" anchor="ctr">
            <a:spAutoFit/>
          </a:bodyPr>
          <a:lstStyle/>
          <a:p>
            <a:pPr algn="ctr">
              <a:lnSpc>
                <a:spcPct val="125000"/>
              </a:lnSpc>
              <a:spcBef>
                <a:spcPts val="0"/>
              </a:spcBef>
              <a:spcAft>
                <a:spcPts val="0"/>
              </a:spcAft>
            </a:pPr>
            <a:r>
              <a:rPr sz="900" b="1" i="0">
                <a:solidFill>
                  <a:srgbClr val="FFFFFF"/>
                </a:solidFill>
                <a:latin typeface="Consolas"/>
              </a:rPr>
              <a:t>D2</a:t>
            </a:r>
          </a:p>
        </p:txBody>
      </p:sp>
      <p:sp>
        <p:nvSpPr>
          <p:cNvPr id="32" name="TextBox 31"/>
          <p:cNvSpPr txBox="1"/>
          <p:nvPr/>
        </p:nvSpPr>
        <p:spPr>
          <a:xfrm>
            <a:off x="2946349" y="4572000"/>
            <a:ext cx="1099261" cy="548640"/>
          </a:xfrm>
          <a:prstGeom prst="rect">
            <a:avLst/>
          </a:prstGeom>
          <a:noFill/>
        </p:spPr>
        <p:txBody>
          <a:bodyPr wrap="square" lIns="0" rIns="0" tIns="0" bIns="0" anchor="ctr">
            <a:spAutoFit/>
          </a:bodyPr>
          <a:lstStyle/>
          <a:p>
            <a:pPr algn="l">
              <a:lnSpc>
                <a:spcPct val="120000"/>
              </a:lnSpc>
              <a:spcBef>
                <a:spcPts val="0"/>
              </a:spcBef>
              <a:spcAft>
                <a:spcPts val="0"/>
              </a:spcAft>
            </a:pPr>
            <a:r>
              <a:rPr sz="850" b="0" i="0">
                <a:solidFill>
                  <a:srgbClr val="0F172A"/>
                </a:solidFill>
                <a:latin typeface="Segoe UI"/>
              </a:rPr>
              <a:t>campaigns, beneficiaries</a:t>
            </a:r>
          </a:p>
        </p:txBody>
      </p:sp>
      <p:cxnSp>
        <p:nvCxnSpPr>
          <p:cNvPr id="33" name="Connector 32"/>
          <p:cNvCxnSpPr/>
          <p:nvPr/>
        </p:nvCxnSpPr>
        <p:spPr>
          <a:xfrm>
            <a:off x="3322243" y="3986783"/>
            <a:ext cx="0" cy="585217"/>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356506" y="4572000"/>
            <a:ext cx="1629613" cy="548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356506" y="4572000"/>
            <a:ext cx="365760" cy="54864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356506" y="4572000"/>
            <a:ext cx="365760" cy="548640"/>
          </a:xfrm>
          <a:prstGeom prst="rect">
            <a:avLst/>
          </a:prstGeom>
          <a:noFill/>
        </p:spPr>
        <p:txBody>
          <a:bodyPr wrap="square" lIns="0" rIns="0" tIns="0" bIns="0" anchor="ctr">
            <a:spAutoFit/>
          </a:bodyPr>
          <a:lstStyle/>
          <a:p>
            <a:pPr algn="ctr">
              <a:lnSpc>
                <a:spcPct val="125000"/>
              </a:lnSpc>
              <a:spcBef>
                <a:spcPts val="0"/>
              </a:spcBef>
              <a:spcAft>
                <a:spcPts val="0"/>
              </a:spcAft>
            </a:pPr>
            <a:r>
              <a:rPr sz="900" b="1" i="0">
                <a:solidFill>
                  <a:srgbClr val="FFFFFF"/>
                </a:solidFill>
                <a:latin typeface="Consolas"/>
              </a:rPr>
              <a:t>D3</a:t>
            </a:r>
          </a:p>
        </p:txBody>
      </p:sp>
      <p:sp>
        <p:nvSpPr>
          <p:cNvPr id="37" name="TextBox 36"/>
          <p:cNvSpPr txBox="1"/>
          <p:nvPr/>
        </p:nvSpPr>
        <p:spPr>
          <a:xfrm>
            <a:off x="4795418" y="4572000"/>
            <a:ext cx="1099261" cy="548640"/>
          </a:xfrm>
          <a:prstGeom prst="rect">
            <a:avLst/>
          </a:prstGeom>
          <a:noFill/>
        </p:spPr>
        <p:txBody>
          <a:bodyPr wrap="square" lIns="0" rIns="0" tIns="0" bIns="0" anchor="ctr">
            <a:spAutoFit/>
          </a:bodyPr>
          <a:lstStyle/>
          <a:p>
            <a:pPr algn="l">
              <a:lnSpc>
                <a:spcPct val="120000"/>
              </a:lnSpc>
              <a:spcBef>
                <a:spcPts val="0"/>
              </a:spcBef>
              <a:spcAft>
                <a:spcPts val="0"/>
              </a:spcAft>
            </a:pPr>
            <a:r>
              <a:rPr sz="850" b="0" i="0">
                <a:solidFill>
                  <a:srgbClr val="0F172A"/>
                </a:solidFill>
                <a:latin typeface="Segoe UI"/>
              </a:rPr>
              <a:t>donations, payments</a:t>
            </a:r>
          </a:p>
        </p:txBody>
      </p:sp>
      <p:cxnSp>
        <p:nvCxnSpPr>
          <p:cNvPr id="38" name="Connector 37"/>
          <p:cNvCxnSpPr/>
          <p:nvPr/>
        </p:nvCxnSpPr>
        <p:spPr>
          <a:xfrm>
            <a:off x="5171313" y="3986783"/>
            <a:ext cx="0" cy="585217"/>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205575" y="4572000"/>
            <a:ext cx="1629613" cy="548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205575" y="4572000"/>
            <a:ext cx="365760" cy="54864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205575" y="4572000"/>
            <a:ext cx="365760" cy="548640"/>
          </a:xfrm>
          <a:prstGeom prst="rect">
            <a:avLst/>
          </a:prstGeom>
          <a:noFill/>
        </p:spPr>
        <p:txBody>
          <a:bodyPr wrap="square" lIns="0" rIns="0" tIns="0" bIns="0" anchor="ctr">
            <a:spAutoFit/>
          </a:bodyPr>
          <a:lstStyle/>
          <a:p>
            <a:pPr algn="ctr">
              <a:lnSpc>
                <a:spcPct val="125000"/>
              </a:lnSpc>
              <a:spcBef>
                <a:spcPts val="0"/>
              </a:spcBef>
              <a:spcAft>
                <a:spcPts val="0"/>
              </a:spcAft>
            </a:pPr>
            <a:r>
              <a:rPr sz="900" b="1" i="0">
                <a:solidFill>
                  <a:srgbClr val="FFFFFF"/>
                </a:solidFill>
                <a:latin typeface="Consolas"/>
              </a:rPr>
              <a:t>D4</a:t>
            </a:r>
          </a:p>
        </p:txBody>
      </p:sp>
      <p:sp>
        <p:nvSpPr>
          <p:cNvPr id="42" name="TextBox 41"/>
          <p:cNvSpPr txBox="1"/>
          <p:nvPr/>
        </p:nvSpPr>
        <p:spPr>
          <a:xfrm>
            <a:off x="6644487" y="4572000"/>
            <a:ext cx="1099261" cy="548640"/>
          </a:xfrm>
          <a:prstGeom prst="rect">
            <a:avLst/>
          </a:prstGeom>
          <a:noFill/>
        </p:spPr>
        <p:txBody>
          <a:bodyPr wrap="square" lIns="0" rIns="0" tIns="0" bIns="0" anchor="ctr">
            <a:spAutoFit/>
          </a:bodyPr>
          <a:lstStyle/>
          <a:p>
            <a:pPr algn="l">
              <a:lnSpc>
                <a:spcPct val="120000"/>
              </a:lnSpc>
              <a:spcBef>
                <a:spcPts val="0"/>
              </a:spcBef>
              <a:spcAft>
                <a:spcPts val="0"/>
              </a:spcAft>
            </a:pPr>
            <a:r>
              <a:rPr sz="850" b="0" i="0">
                <a:solidFill>
                  <a:srgbClr val="0F172A"/>
                </a:solidFill>
                <a:latin typeface="Segoe UI"/>
              </a:rPr>
              <a:t>blockchain_records</a:t>
            </a:r>
          </a:p>
        </p:txBody>
      </p:sp>
      <p:cxnSp>
        <p:nvCxnSpPr>
          <p:cNvPr id="43" name="Connector 42"/>
          <p:cNvCxnSpPr/>
          <p:nvPr/>
        </p:nvCxnSpPr>
        <p:spPr>
          <a:xfrm>
            <a:off x="7020382" y="3986783"/>
            <a:ext cx="0" cy="585217"/>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8054644" y="4572000"/>
            <a:ext cx="1629613" cy="548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8054644" y="4572000"/>
            <a:ext cx="365760" cy="54864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054644" y="4572000"/>
            <a:ext cx="365760" cy="548640"/>
          </a:xfrm>
          <a:prstGeom prst="rect">
            <a:avLst/>
          </a:prstGeom>
          <a:noFill/>
        </p:spPr>
        <p:txBody>
          <a:bodyPr wrap="square" lIns="0" rIns="0" tIns="0" bIns="0" anchor="ctr">
            <a:spAutoFit/>
          </a:bodyPr>
          <a:lstStyle/>
          <a:p>
            <a:pPr algn="ctr">
              <a:lnSpc>
                <a:spcPct val="125000"/>
              </a:lnSpc>
              <a:spcBef>
                <a:spcPts val="0"/>
              </a:spcBef>
              <a:spcAft>
                <a:spcPts val="0"/>
              </a:spcAft>
            </a:pPr>
            <a:r>
              <a:rPr sz="900" b="1" i="0">
                <a:solidFill>
                  <a:srgbClr val="FFFFFF"/>
                </a:solidFill>
                <a:latin typeface="Consolas"/>
              </a:rPr>
              <a:t>D5</a:t>
            </a:r>
          </a:p>
        </p:txBody>
      </p:sp>
      <p:sp>
        <p:nvSpPr>
          <p:cNvPr id="47" name="TextBox 46"/>
          <p:cNvSpPr txBox="1"/>
          <p:nvPr/>
        </p:nvSpPr>
        <p:spPr>
          <a:xfrm>
            <a:off x="8493556" y="4572000"/>
            <a:ext cx="1099261" cy="548640"/>
          </a:xfrm>
          <a:prstGeom prst="rect">
            <a:avLst/>
          </a:prstGeom>
          <a:noFill/>
        </p:spPr>
        <p:txBody>
          <a:bodyPr wrap="square" lIns="0" rIns="0" tIns="0" bIns="0" anchor="ctr">
            <a:spAutoFit/>
          </a:bodyPr>
          <a:lstStyle/>
          <a:p>
            <a:pPr algn="l">
              <a:lnSpc>
                <a:spcPct val="120000"/>
              </a:lnSpc>
              <a:spcBef>
                <a:spcPts val="0"/>
              </a:spcBef>
              <a:spcAft>
                <a:spcPts val="0"/>
              </a:spcAft>
            </a:pPr>
            <a:r>
              <a:rPr sz="850" b="0" i="0">
                <a:solidFill>
                  <a:srgbClr val="0F172A"/>
                </a:solidFill>
                <a:latin typeface="Segoe UI"/>
              </a:rPr>
              <a:t>disbursements</a:t>
            </a:r>
          </a:p>
        </p:txBody>
      </p:sp>
      <p:cxnSp>
        <p:nvCxnSpPr>
          <p:cNvPr id="48" name="Connector 47"/>
          <p:cNvCxnSpPr/>
          <p:nvPr/>
        </p:nvCxnSpPr>
        <p:spPr>
          <a:xfrm>
            <a:off x="8869451" y="3986783"/>
            <a:ext cx="0" cy="585217"/>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903714" y="4572000"/>
            <a:ext cx="1629613" cy="548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9903714" y="4572000"/>
            <a:ext cx="365760" cy="548640"/>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903714" y="4572000"/>
            <a:ext cx="365760" cy="548640"/>
          </a:xfrm>
          <a:prstGeom prst="rect">
            <a:avLst/>
          </a:prstGeom>
          <a:noFill/>
        </p:spPr>
        <p:txBody>
          <a:bodyPr wrap="square" lIns="0" rIns="0" tIns="0" bIns="0" anchor="ctr">
            <a:spAutoFit/>
          </a:bodyPr>
          <a:lstStyle/>
          <a:p>
            <a:pPr algn="ctr">
              <a:lnSpc>
                <a:spcPct val="125000"/>
              </a:lnSpc>
              <a:spcBef>
                <a:spcPts val="0"/>
              </a:spcBef>
              <a:spcAft>
                <a:spcPts val="0"/>
              </a:spcAft>
            </a:pPr>
            <a:r>
              <a:rPr sz="900" b="1" i="0">
                <a:solidFill>
                  <a:srgbClr val="FFFFFF"/>
                </a:solidFill>
                <a:latin typeface="Consolas"/>
              </a:rPr>
              <a:t>D6</a:t>
            </a:r>
          </a:p>
        </p:txBody>
      </p:sp>
      <p:sp>
        <p:nvSpPr>
          <p:cNvPr id="52" name="TextBox 51"/>
          <p:cNvSpPr txBox="1"/>
          <p:nvPr/>
        </p:nvSpPr>
        <p:spPr>
          <a:xfrm>
            <a:off x="10342626" y="4572000"/>
            <a:ext cx="1099261" cy="548640"/>
          </a:xfrm>
          <a:prstGeom prst="rect">
            <a:avLst/>
          </a:prstGeom>
          <a:noFill/>
        </p:spPr>
        <p:txBody>
          <a:bodyPr wrap="square" lIns="0" rIns="0" tIns="0" bIns="0" anchor="ctr">
            <a:spAutoFit/>
          </a:bodyPr>
          <a:lstStyle/>
          <a:p>
            <a:pPr algn="l">
              <a:lnSpc>
                <a:spcPct val="120000"/>
              </a:lnSpc>
              <a:spcBef>
                <a:spcPts val="0"/>
              </a:spcBef>
              <a:spcAft>
                <a:spcPts val="0"/>
              </a:spcAft>
            </a:pPr>
            <a:r>
              <a:rPr sz="850" b="0" i="0">
                <a:solidFill>
                  <a:srgbClr val="0F172A"/>
                </a:solidFill>
                <a:latin typeface="Segoe UI"/>
              </a:rPr>
              <a:t>audit_logs, notifications</a:t>
            </a:r>
          </a:p>
        </p:txBody>
      </p:sp>
      <p:cxnSp>
        <p:nvCxnSpPr>
          <p:cNvPr id="53" name="Connector 52"/>
          <p:cNvCxnSpPr/>
          <p:nvPr/>
        </p:nvCxnSpPr>
        <p:spPr>
          <a:xfrm>
            <a:off x="10718520" y="3986783"/>
            <a:ext cx="0" cy="585217"/>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58368" y="2048255"/>
            <a:ext cx="2487168" cy="475488"/>
          </a:xfrm>
          <a:prstGeom prst="rect">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58368" y="2048255"/>
            <a:ext cx="2487168" cy="475488"/>
          </a:xfrm>
          <a:prstGeom prst="rect">
            <a:avLst/>
          </a:prstGeom>
          <a:noFill/>
        </p:spPr>
        <p:txBody>
          <a:bodyPr wrap="square" lIns="0" rIns="0" tIns="0" bIns="0" anchor="ctr">
            <a:spAutoFit/>
          </a:bodyPr>
          <a:lstStyle/>
          <a:p>
            <a:pPr algn="ctr">
              <a:lnSpc>
                <a:spcPct val="125000"/>
              </a:lnSpc>
              <a:spcBef>
                <a:spcPts val="0"/>
              </a:spcBef>
              <a:spcAft>
                <a:spcPts val="0"/>
              </a:spcAft>
            </a:pPr>
            <a:r>
              <a:rPr sz="1000" b="1" i="0">
                <a:solidFill>
                  <a:srgbClr val="0F172A"/>
                </a:solidFill>
                <a:latin typeface="Segoe UI"/>
              </a:rPr>
              <a:t>Donor</a:t>
            </a:r>
          </a:p>
        </p:txBody>
      </p:sp>
      <p:cxnSp>
        <p:nvCxnSpPr>
          <p:cNvPr id="56" name="Connector 55"/>
          <p:cNvCxnSpPr/>
          <p:nvPr/>
        </p:nvCxnSpPr>
        <p:spPr>
          <a:xfrm>
            <a:off x="1901952" y="2523744"/>
            <a:ext cx="0" cy="292608"/>
          </a:xfrm>
          <a:prstGeom prst="line">
            <a:avLst/>
          </a:prstGeom>
          <a:ln w="127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447287" y="2048255"/>
            <a:ext cx="2487168" cy="475488"/>
          </a:xfrm>
          <a:prstGeom prst="rect">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3447287" y="2048255"/>
            <a:ext cx="2487168" cy="475488"/>
          </a:xfrm>
          <a:prstGeom prst="rect">
            <a:avLst/>
          </a:prstGeom>
          <a:noFill/>
        </p:spPr>
        <p:txBody>
          <a:bodyPr wrap="square" lIns="0" rIns="0" tIns="0" bIns="0" anchor="ctr">
            <a:spAutoFit/>
          </a:bodyPr>
          <a:lstStyle/>
          <a:p>
            <a:pPr algn="ctr">
              <a:lnSpc>
                <a:spcPct val="125000"/>
              </a:lnSpc>
              <a:spcBef>
                <a:spcPts val="0"/>
              </a:spcBef>
              <a:spcAft>
                <a:spcPts val="0"/>
              </a:spcAft>
            </a:pPr>
            <a:r>
              <a:rPr sz="1000" b="1" i="0">
                <a:solidFill>
                  <a:srgbClr val="0F172A"/>
                </a:solidFill>
                <a:latin typeface="Segoe UI"/>
              </a:rPr>
              <a:t>Fundraiser</a:t>
            </a:r>
          </a:p>
        </p:txBody>
      </p:sp>
      <p:cxnSp>
        <p:nvCxnSpPr>
          <p:cNvPr id="59" name="Connector 58"/>
          <p:cNvCxnSpPr/>
          <p:nvPr/>
        </p:nvCxnSpPr>
        <p:spPr>
          <a:xfrm>
            <a:off x="4690872" y="2523744"/>
            <a:ext cx="0" cy="292608"/>
          </a:xfrm>
          <a:prstGeom prst="line">
            <a:avLst/>
          </a:prstGeom>
          <a:ln w="127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6236207" y="2048255"/>
            <a:ext cx="2487168" cy="475488"/>
          </a:xfrm>
          <a:prstGeom prst="rect">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236207" y="2048255"/>
            <a:ext cx="2487168" cy="475488"/>
          </a:xfrm>
          <a:prstGeom prst="rect">
            <a:avLst/>
          </a:prstGeom>
          <a:noFill/>
        </p:spPr>
        <p:txBody>
          <a:bodyPr wrap="square" lIns="0" rIns="0" tIns="0" bIns="0" anchor="ctr">
            <a:spAutoFit/>
          </a:bodyPr>
          <a:lstStyle/>
          <a:p>
            <a:pPr algn="ctr">
              <a:lnSpc>
                <a:spcPct val="125000"/>
              </a:lnSpc>
              <a:spcBef>
                <a:spcPts val="0"/>
              </a:spcBef>
              <a:spcAft>
                <a:spcPts val="0"/>
              </a:spcAft>
            </a:pPr>
            <a:r>
              <a:rPr sz="1000" b="1" i="0">
                <a:solidFill>
                  <a:srgbClr val="0F172A"/>
                </a:solidFill>
                <a:latin typeface="Segoe UI"/>
              </a:rPr>
              <a:t>Administrator</a:t>
            </a:r>
          </a:p>
        </p:txBody>
      </p:sp>
      <p:cxnSp>
        <p:nvCxnSpPr>
          <p:cNvPr id="62" name="Connector 61"/>
          <p:cNvCxnSpPr/>
          <p:nvPr/>
        </p:nvCxnSpPr>
        <p:spPr>
          <a:xfrm>
            <a:off x="7479792" y="2523744"/>
            <a:ext cx="0" cy="292608"/>
          </a:xfrm>
          <a:prstGeom prst="line">
            <a:avLst/>
          </a:prstGeom>
          <a:ln w="127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025128" y="2048255"/>
            <a:ext cx="2487168" cy="475488"/>
          </a:xfrm>
          <a:prstGeom prst="rect">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9025128" y="2048255"/>
            <a:ext cx="2487168" cy="475488"/>
          </a:xfrm>
          <a:prstGeom prst="rect">
            <a:avLst/>
          </a:prstGeom>
          <a:noFill/>
        </p:spPr>
        <p:txBody>
          <a:bodyPr wrap="square" lIns="0" rIns="0" tIns="0" bIns="0" anchor="ctr">
            <a:spAutoFit/>
          </a:bodyPr>
          <a:lstStyle/>
          <a:p>
            <a:pPr algn="ctr">
              <a:lnSpc>
                <a:spcPct val="125000"/>
              </a:lnSpc>
              <a:spcBef>
                <a:spcPts val="0"/>
              </a:spcBef>
              <a:spcAft>
                <a:spcPts val="0"/>
              </a:spcAft>
            </a:pPr>
            <a:r>
              <a:rPr sz="1000" b="1" i="0">
                <a:solidFill>
                  <a:srgbClr val="0F172A"/>
                </a:solidFill>
                <a:latin typeface="Segoe UI"/>
              </a:rPr>
              <a:t>Gateway / Chain</a:t>
            </a:r>
          </a:p>
        </p:txBody>
      </p:sp>
      <p:cxnSp>
        <p:nvCxnSpPr>
          <p:cNvPr id="65" name="Connector 64"/>
          <p:cNvCxnSpPr/>
          <p:nvPr/>
        </p:nvCxnSpPr>
        <p:spPr>
          <a:xfrm>
            <a:off x="10268712" y="2523744"/>
            <a:ext cx="0" cy="292608"/>
          </a:xfrm>
          <a:prstGeom prst="line">
            <a:avLst/>
          </a:prstGeom>
          <a:ln w="127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58368" y="5358384"/>
            <a:ext cx="10874959" cy="65836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32688" y="5358384"/>
            <a:ext cx="10326319" cy="658368"/>
          </a:xfrm>
          <a:prstGeom prst="rect">
            <a:avLst/>
          </a:prstGeom>
          <a:noFill/>
        </p:spPr>
        <p:txBody>
          <a:bodyPr wrap="square" lIns="0" rIns="0" tIns="0" bIns="0" anchor="ctr">
            <a:spAutoFit/>
          </a:bodyPr>
          <a:lstStyle/>
          <a:p>
            <a:pPr algn="l">
              <a:lnSpc>
                <a:spcPct val="130000"/>
              </a:lnSpc>
              <a:spcBef>
                <a:spcPts val="0"/>
              </a:spcBef>
              <a:spcAft>
                <a:spcPts val="0"/>
              </a:spcAft>
            </a:pPr>
            <a:r>
              <a:rPr sz="1050" b="1" i="0">
                <a:solidFill>
                  <a:srgbClr val="134E4A"/>
                </a:solidFill>
                <a:latin typeface="Segoe UI"/>
              </a:rPr>
              <a:t>Read the ordering, not just the boxes.  </a:t>
            </a:r>
            <a:r>
              <a:rPr sz="1050" b="0" i="0">
                <a:solidFill>
                  <a:srgbClr val="134E4A"/>
                </a:solidFill>
                <a:latin typeface="Segoe UI"/>
              </a:rPr>
              <a:t>Money is written to D3 and D5 before any proof is written to D4. The proof is always downstream of the transaction it describes, which is why a failed chain write can never destroy a donation record.</a:t>
            </a:r>
          </a:p>
        </p:txBody>
      </p:sp>
      <p:sp>
        <p:nvSpPr>
          <p:cNvPr id="68" name="Rectangle 67"/>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658368" y="6345936"/>
            <a:ext cx="5058120"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71" name="TextBox 70"/>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6.4</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Database Design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14 tables, 11 applied migrations, managed PostgreSQL on Neon.</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26715" cy="2084831"/>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304287"/>
            <a:ext cx="2014651" cy="27432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34E4A"/>
                </a:solidFill>
                <a:latin typeface="Georgia"/>
              </a:rPr>
              <a:t>Identity</a:t>
            </a:r>
          </a:p>
        </p:txBody>
      </p:sp>
      <p:sp>
        <p:nvSpPr>
          <p:cNvPr id="10" name="TextBox 9"/>
          <p:cNvSpPr txBox="1"/>
          <p:nvPr/>
        </p:nvSpPr>
        <p:spPr>
          <a:xfrm>
            <a:off x="914400" y="2651760"/>
            <a:ext cx="2014651" cy="1371600"/>
          </a:xfrm>
          <a:prstGeom prst="rect">
            <a:avLst/>
          </a:prstGeom>
          <a:noFill/>
        </p:spPr>
        <p:txBody>
          <a:bodyPr wrap="square" lIns="0" rIns="0" tIns="0" bIns="0" anchor="t">
            <a:spAutoFit/>
          </a:bodyPr>
          <a:lstStyle/>
          <a:p>
            <a:pPr algn="l">
              <a:lnSpc>
                <a:spcPct val="130000"/>
              </a:lnSpc>
              <a:spcBef>
                <a:spcPts val="0"/>
              </a:spcBef>
              <a:spcAft>
                <a:spcPts val="500"/>
              </a:spcAft>
            </a:pPr>
            <a:r>
              <a:rPr sz="1000" b="0" i="0">
                <a:solidFill>
                  <a:srgbClr val="64748B"/>
                </a:solidFill>
                <a:latin typeface="Consolas"/>
              </a:rPr>
              <a:t>users</a:t>
            </a:r>
          </a:p>
          <a:p>
            <a:pPr algn="l">
              <a:lnSpc>
                <a:spcPct val="130000"/>
              </a:lnSpc>
              <a:spcBef>
                <a:spcPts val="0"/>
              </a:spcBef>
              <a:spcAft>
                <a:spcPts val="500"/>
              </a:spcAft>
            </a:pPr>
            <a:r>
              <a:rPr sz="1000" b="0" i="0">
                <a:solidFill>
                  <a:srgbClr val="64748B"/>
                </a:solidFill>
                <a:latin typeface="Consolas"/>
              </a:rPr>
              <a:t>sessions</a:t>
            </a:r>
          </a:p>
          <a:p>
            <a:pPr algn="l">
              <a:lnSpc>
                <a:spcPct val="130000"/>
              </a:lnSpc>
              <a:spcBef>
                <a:spcPts val="0"/>
              </a:spcBef>
              <a:spcAft>
                <a:spcPts val="500"/>
              </a:spcAft>
            </a:pPr>
            <a:r>
              <a:rPr sz="1000" b="0" i="0">
                <a:solidFill>
                  <a:srgbClr val="64748B"/>
                </a:solidFill>
                <a:latin typeface="Consolas"/>
              </a:rPr>
              <a:t>password_resets</a:t>
            </a:r>
          </a:p>
          <a:p>
            <a:pPr algn="l">
              <a:lnSpc>
                <a:spcPct val="130000"/>
              </a:lnSpc>
              <a:spcBef>
                <a:spcPts val="0"/>
              </a:spcBef>
              <a:spcAft>
                <a:spcPts val="500"/>
              </a:spcAft>
            </a:pPr>
            <a:r>
              <a:rPr sz="1000" b="0" i="0">
                <a:solidFill>
                  <a:srgbClr val="64748B"/>
                </a:solidFill>
                <a:latin typeface="Consolas"/>
              </a:rPr>
              <a:t>fundraiser_applications</a:t>
            </a:r>
          </a:p>
        </p:txBody>
      </p:sp>
      <p:sp>
        <p:nvSpPr>
          <p:cNvPr id="11" name="Rounded Rectangle 10"/>
          <p:cNvSpPr/>
          <p:nvPr/>
        </p:nvSpPr>
        <p:spPr>
          <a:xfrm>
            <a:off x="3441115" y="2029967"/>
            <a:ext cx="2526715" cy="2084831"/>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41115"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97147" y="2304287"/>
            <a:ext cx="2014651" cy="27432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34E4A"/>
                </a:solidFill>
                <a:latin typeface="Georgia"/>
              </a:rPr>
              <a:t>Fundraising</a:t>
            </a:r>
          </a:p>
        </p:txBody>
      </p:sp>
      <p:sp>
        <p:nvSpPr>
          <p:cNvPr id="14" name="TextBox 13"/>
          <p:cNvSpPr txBox="1"/>
          <p:nvPr/>
        </p:nvSpPr>
        <p:spPr>
          <a:xfrm>
            <a:off x="3697147" y="2651760"/>
            <a:ext cx="2014651" cy="1371600"/>
          </a:xfrm>
          <a:prstGeom prst="rect">
            <a:avLst/>
          </a:prstGeom>
          <a:noFill/>
        </p:spPr>
        <p:txBody>
          <a:bodyPr wrap="square" lIns="0" rIns="0" tIns="0" bIns="0" anchor="t">
            <a:spAutoFit/>
          </a:bodyPr>
          <a:lstStyle/>
          <a:p>
            <a:pPr algn="l">
              <a:lnSpc>
                <a:spcPct val="130000"/>
              </a:lnSpc>
              <a:spcBef>
                <a:spcPts val="0"/>
              </a:spcBef>
              <a:spcAft>
                <a:spcPts val="500"/>
              </a:spcAft>
            </a:pPr>
            <a:r>
              <a:rPr sz="1000" b="0" i="0">
                <a:solidFill>
                  <a:srgbClr val="64748B"/>
                </a:solidFill>
                <a:latin typeface="Consolas"/>
              </a:rPr>
              <a:t>campaigns</a:t>
            </a:r>
          </a:p>
          <a:p>
            <a:pPr algn="l">
              <a:lnSpc>
                <a:spcPct val="130000"/>
              </a:lnSpc>
              <a:spcBef>
                <a:spcPts val="0"/>
              </a:spcBef>
              <a:spcAft>
                <a:spcPts val="500"/>
              </a:spcAft>
            </a:pPr>
            <a:r>
              <a:rPr sz="1000" b="0" i="0">
                <a:solidFill>
                  <a:srgbClr val="64748B"/>
                </a:solidFill>
                <a:latin typeface="Consolas"/>
              </a:rPr>
              <a:t>beneficiaries</a:t>
            </a:r>
          </a:p>
        </p:txBody>
      </p:sp>
      <p:sp>
        <p:nvSpPr>
          <p:cNvPr id="15" name="Rounded Rectangle 14"/>
          <p:cNvSpPr/>
          <p:nvPr/>
        </p:nvSpPr>
        <p:spPr>
          <a:xfrm>
            <a:off x="6223863" y="2029967"/>
            <a:ext cx="2526715" cy="2084831"/>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23863"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79895" y="2304287"/>
            <a:ext cx="2014651" cy="27432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34E4A"/>
                </a:solidFill>
                <a:latin typeface="Georgia"/>
              </a:rPr>
              <a:t>Money</a:t>
            </a:r>
          </a:p>
        </p:txBody>
      </p:sp>
      <p:sp>
        <p:nvSpPr>
          <p:cNvPr id="18" name="TextBox 17"/>
          <p:cNvSpPr txBox="1"/>
          <p:nvPr/>
        </p:nvSpPr>
        <p:spPr>
          <a:xfrm>
            <a:off x="6479895" y="2651760"/>
            <a:ext cx="2014651" cy="1371600"/>
          </a:xfrm>
          <a:prstGeom prst="rect">
            <a:avLst/>
          </a:prstGeom>
          <a:noFill/>
        </p:spPr>
        <p:txBody>
          <a:bodyPr wrap="square" lIns="0" rIns="0" tIns="0" bIns="0" anchor="t">
            <a:spAutoFit/>
          </a:bodyPr>
          <a:lstStyle/>
          <a:p>
            <a:pPr algn="l">
              <a:lnSpc>
                <a:spcPct val="130000"/>
              </a:lnSpc>
              <a:spcBef>
                <a:spcPts val="0"/>
              </a:spcBef>
              <a:spcAft>
                <a:spcPts val="500"/>
              </a:spcAft>
            </a:pPr>
            <a:r>
              <a:rPr sz="1000" b="0" i="0">
                <a:solidFill>
                  <a:srgbClr val="64748B"/>
                </a:solidFill>
                <a:latin typeface="Consolas"/>
              </a:rPr>
              <a:t>donations</a:t>
            </a:r>
          </a:p>
          <a:p>
            <a:pPr algn="l">
              <a:lnSpc>
                <a:spcPct val="130000"/>
              </a:lnSpc>
              <a:spcBef>
                <a:spcPts val="0"/>
              </a:spcBef>
              <a:spcAft>
                <a:spcPts val="500"/>
              </a:spcAft>
            </a:pPr>
            <a:r>
              <a:rPr sz="1000" b="0" i="0">
                <a:solidFill>
                  <a:srgbClr val="64748B"/>
                </a:solidFill>
                <a:latin typeface="Consolas"/>
              </a:rPr>
              <a:t>payment_transactions</a:t>
            </a:r>
          </a:p>
          <a:p>
            <a:pPr algn="l">
              <a:lnSpc>
                <a:spcPct val="130000"/>
              </a:lnSpc>
              <a:spcBef>
                <a:spcPts val="0"/>
              </a:spcBef>
              <a:spcAft>
                <a:spcPts val="500"/>
              </a:spcAft>
            </a:pPr>
            <a:r>
              <a:rPr sz="1000" b="0" i="0">
                <a:solidFill>
                  <a:srgbClr val="64748B"/>
                </a:solidFill>
                <a:latin typeface="Consolas"/>
              </a:rPr>
              <a:t>disbursements</a:t>
            </a:r>
          </a:p>
          <a:p>
            <a:pPr algn="l">
              <a:lnSpc>
                <a:spcPct val="130000"/>
              </a:lnSpc>
              <a:spcBef>
                <a:spcPts val="0"/>
              </a:spcBef>
              <a:spcAft>
                <a:spcPts val="500"/>
              </a:spcAft>
            </a:pPr>
            <a:r>
              <a:rPr sz="1000" b="0" i="0">
                <a:solidFill>
                  <a:srgbClr val="64748B"/>
                </a:solidFill>
                <a:latin typeface="Consolas"/>
              </a:rPr>
              <a:t>disbursement_approvals</a:t>
            </a:r>
          </a:p>
        </p:txBody>
      </p:sp>
      <p:sp>
        <p:nvSpPr>
          <p:cNvPr id="19" name="Rounded Rectangle 18"/>
          <p:cNvSpPr/>
          <p:nvPr/>
        </p:nvSpPr>
        <p:spPr>
          <a:xfrm>
            <a:off x="9006611" y="2029967"/>
            <a:ext cx="2526715" cy="2084831"/>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006611"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262643" y="2304287"/>
            <a:ext cx="2014651" cy="27432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34E4A"/>
                </a:solidFill>
                <a:latin typeface="Georgia"/>
              </a:rPr>
              <a:t>Proof and oversight</a:t>
            </a:r>
          </a:p>
        </p:txBody>
      </p:sp>
      <p:sp>
        <p:nvSpPr>
          <p:cNvPr id="22" name="TextBox 21"/>
          <p:cNvSpPr txBox="1"/>
          <p:nvPr/>
        </p:nvSpPr>
        <p:spPr>
          <a:xfrm>
            <a:off x="9262643" y="2651760"/>
            <a:ext cx="2014651" cy="1371600"/>
          </a:xfrm>
          <a:prstGeom prst="rect">
            <a:avLst/>
          </a:prstGeom>
          <a:noFill/>
        </p:spPr>
        <p:txBody>
          <a:bodyPr wrap="square" lIns="0" rIns="0" tIns="0" bIns="0" anchor="t">
            <a:spAutoFit/>
          </a:bodyPr>
          <a:lstStyle/>
          <a:p>
            <a:pPr algn="l">
              <a:lnSpc>
                <a:spcPct val="130000"/>
              </a:lnSpc>
              <a:spcBef>
                <a:spcPts val="0"/>
              </a:spcBef>
              <a:spcAft>
                <a:spcPts val="500"/>
              </a:spcAft>
            </a:pPr>
            <a:r>
              <a:rPr sz="1000" b="0" i="0">
                <a:solidFill>
                  <a:srgbClr val="64748B"/>
                </a:solidFill>
                <a:latin typeface="Consolas"/>
              </a:rPr>
              <a:t>blockchain_records</a:t>
            </a:r>
          </a:p>
          <a:p>
            <a:pPr algn="l">
              <a:lnSpc>
                <a:spcPct val="130000"/>
              </a:lnSpc>
              <a:spcBef>
                <a:spcPts val="0"/>
              </a:spcBef>
              <a:spcAft>
                <a:spcPts val="500"/>
              </a:spcAft>
            </a:pPr>
            <a:r>
              <a:rPr sz="1000" b="0" i="0">
                <a:solidFill>
                  <a:srgbClr val="64748B"/>
                </a:solidFill>
                <a:latin typeface="Consolas"/>
              </a:rPr>
              <a:t>audit_logs</a:t>
            </a:r>
          </a:p>
          <a:p>
            <a:pPr algn="l">
              <a:lnSpc>
                <a:spcPct val="130000"/>
              </a:lnSpc>
              <a:spcBef>
                <a:spcPts val="0"/>
              </a:spcBef>
              <a:spcAft>
                <a:spcPts val="500"/>
              </a:spcAft>
            </a:pPr>
            <a:r>
              <a:rPr sz="1000" b="0" i="0">
                <a:solidFill>
                  <a:srgbClr val="64748B"/>
                </a:solidFill>
                <a:latin typeface="Consolas"/>
              </a:rPr>
              <a:t>notifications</a:t>
            </a:r>
          </a:p>
          <a:p>
            <a:pPr algn="l">
              <a:lnSpc>
                <a:spcPct val="130000"/>
              </a:lnSpc>
              <a:spcBef>
                <a:spcPts val="0"/>
              </a:spcBef>
              <a:spcAft>
                <a:spcPts val="500"/>
              </a:spcAft>
            </a:pPr>
            <a:r>
              <a:rPr sz="1000" b="0" i="0">
                <a:solidFill>
                  <a:srgbClr val="64748B"/>
                </a:solidFill>
                <a:latin typeface="Consolas"/>
              </a:rPr>
              <a:t>reward_events</a:t>
            </a:r>
          </a:p>
        </p:txBody>
      </p:sp>
      <p:sp>
        <p:nvSpPr>
          <p:cNvPr id="23" name="TextBox 22"/>
          <p:cNvSpPr txBox="1"/>
          <p:nvPr/>
        </p:nvSpPr>
        <p:spPr>
          <a:xfrm>
            <a:off x="658368" y="4352544"/>
            <a:ext cx="45720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DESIGN RULES THAT CONSTRAIN THE SCHEMA</a:t>
            </a:r>
          </a:p>
        </p:txBody>
      </p:sp>
      <p:sp>
        <p:nvSpPr>
          <p:cNvPr id="24" name="TextBox 23"/>
          <p:cNvSpPr txBox="1"/>
          <p:nvPr/>
        </p:nvSpPr>
        <p:spPr>
          <a:xfrm>
            <a:off x="658368" y="4645152"/>
            <a:ext cx="7177473" cy="1554480"/>
          </a:xfrm>
          <a:prstGeom prst="rect">
            <a:avLst/>
          </a:prstGeom>
          <a:noFill/>
        </p:spPr>
        <p:txBody>
          <a:bodyPr wrap="square" lIns="0" rIns="0" tIns="0" bIns="0" anchor="t">
            <a:spAutoFit/>
          </a:bodyPr>
          <a:lstStyle/>
          <a:p>
            <a:pPr algn="l" marL="160020" indent="-160020">
              <a:lnSpc>
                <a:spcPct val="138000"/>
              </a:lnSpc>
              <a:spcBef>
                <a:spcPts val="0"/>
              </a:spcBef>
              <a:spcAft>
                <a:spcPts val="700"/>
              </a:spcAft>
              <a:buClr>
                <a:srgbClr val="0F766E"/>
              </a:buClr>
              <a:buSzPts val="1100"/>
              <a:buFont typeface="Segoe UI"/>
              <a:buChar char="•"/>
            </a:pPr>
            <a:r>
              <a:rPr sz="1100" b="0" i="0">
                <a:solidFill>
                  <a:srgbClr val="0F172A"/>
                </a:solidFill>
                <a:latin typeface="Segoe UI"/>
              </a:rPr>
              <a:t>Donations are never updated or deleted. Correction happens by a new row, never a rewrite.</a:t>
            </a:r>
          </a:p>
          <a:p>
            <a:pPr algn="l" marL="160020" indent="-160020">
              <a:lnSpc>
                <a:spcPct val="138000"/>
              </a:lnSpc>
              <a:spcBef>
                <a:spcPts val="0"/>
              </a:spcBef>
              <a:spcAft>
                <a:spcPts val="700"/>
              </a:spcAft>
              <a:buClr>
                <a:srgbClr val="0F766E"/>
              </a:buClr>
              <a:buSzPts val="1100"/>
              <a:buFont typeface="Segoe UI"/>
              <a:buChar char="•"/>
            </a:pPr>
            <a:r>
              <a:rPr sz="1100" b="0" i="0">
                <a:solidFill>
                  <a:srgbClr val="0F172A"/>
                </a:solidFill>
                <a:latin typeface="Segoe UI"/>
              </a:rPr>
              <a:t>blockchain_records is polymorphic: one table proves both donations and disbursements, mirroring the contract's own record type.</a:t>
            </a:r>
          </a:p>
          <a:p>
            <a:pPr algn="l" marL="160020" indent="-160020">
              <a:lnSpc>
                <a:spcPct val="138000"/>
              </a:lnSpc>
              <a:spcBef>
                <a:spcPts val="0"/>
              </a:spcBef>
              <a:spcAft>
                <a:spcPts val="700"/>
              </a:spcAft>
              <a:buClr>
                <a:srgbClr val="0F766E"/>
              </a:buClr>
              <a:buSzPts val="1100"/>
              <a:buFont typeface="Segoe UI"/>
              <a:buChar char="•"/>
            </a:pPr>
            <a:r>
              <a:rPr sz="1100" b="0" i="0">
                <a:solidFill>
                  <a:srgbClr val="0F172A"/>
                </a:solidFill>
                <a:latin typeface="Segoe UI"/>
              </a:rPr>
              <a:t>reward_events is an append-only ledger. A donor's balance is the sum of history, never a stored figure.</a:t>
            </a:r>
          </a:p>
          <a:p>
            <a:pPr algn="l" marL="160020" indent="-160020">
              <a:lnSpc>
                <a:spcPct val="138000"/>
              </a:lnSpc>
              <a:spcBef>
                <a:spcPts val="0"/>
              </a:spcBef>
              <a:spcAft>
                <a:spcPts val="700"/>
              </a:spcAft>
              <a:buClr>
                <a:srgbClr val="0F766E"/>
              </a:buClr>
              <a:buSzPts val="1100"/>
              <a:buFont typeface="Segoe UI"/>
              <a:buChar char="•"/>
            </a:pPr>
            <a:r>
              <a:rPr sz="1100" b="0" i="0">
                <a:solidFill>
                  <a:srgbClr val="0F172A"/>
                </a:solidFill>
                <a:latin typeface="Segoe UI"/>
              </a:rPr>
              <a:t>Users are soft-deleted so that donation history keeps its owner.</a:t>
            </a:r>
          </a:p>
        </p:txBody>
      </p:sp>
      <p:sp>
        <p:nvSpPr>
          <p:cNvPr id="25" name="Rounded Rectangle 24"/>
          <p:cNvSpPr/>
          <p:nvPr/>
        </p:nvSpPr>
        <p:spPr>
          <a:xfrm>
            <a:off x="8270839" y="4608576"/>
            <a:ext cx="1533369" cy="7863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508583" y="4809744"/>
            <a:ext cx="1057881" cy="384048"/>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14</a:t>
            </a:r>
          </a:p>
          <a:p>
            <a:pPr algn="l">
              <a:lnSpc>
                <a:spcPct val="130000"/>
              </a:lnSpc>
              <a:spcBef>
                <a:spcPts val="0"/>
              </a:spcBef>
              <a:spcAft>
                <a:spcPts val="0"/>
              </a:spcAft>
            </a:pPr>
            <a:r>
              <a:rPr sz="1000" b="0" i="0">
                <a:solidFill>
                  <a:srgbClr val="64748B"/>
                </a:solidFill>
                <a:latin typeface="Segoe UI"/>
              </a:rPr>
              <a:t>tables</a:t>
            </a:r>
          </a:p>
        </p:txBody>
      </p:sp>
      <p:sp>
        <p:nvSpPr>
          <p:cNvPr id="27" name="Rounded Rectangle 26"/>
          <p:cNvSpPr/>
          <p:nvPr/>
        </p:nvSpPr>
        <p:spPr>
          <a:xfrm>
            <a:off x="9902083" y="4608576"/>
            <a:ext cx="1533369" cy="7863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139827" y="4809744"/>
            <a:ext cx="1057881" cy="384048"/>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11</a:t>
            </a:r>
          </a:p>
          <a:p>
            <a:pPr algn="l">
              <a:lnSpc>
                <a:spcPct val="130000"/>
              </a:lnSpc>
              <a:spcBef>
                <a:spcPts val="0"/>
              </a:spcBef>
              <a:spcAft>
                <a:spcPts val="0"/>
              </a:spcAft>
            </a:pPr>
            <a:r>
              <a:rPr sz="1000" b="0" i="0">
                <a:solidFill>
                  <a:srgbClr val="64748B"/>
                </a:solidFill>
                <a:latin typeface="Segoe UI"/>
              </a:rPr>
              <a:t>migrations</a:t>
            </a:r>
          </a:p>
        </p:txBody>
      </p:sp>
      <p:sp>
        <p:nvSpPr>
          <p:cNvPr id="29" name="Rectangle 28"/>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6345936"/>
            <a:ext cx="5311026"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2" name="TextBox 31"/>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6.4.1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Entity Relationship Diagram</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Core entities. The full 14-table model is in the appendix.</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121408"/>
            <a:ext cx="2487168" cy="1536192"/>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21408"/>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2121408"/>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users</a:t>
            </a:r>
          </a:p>
        </p:txBody>
      </p:sp>
      <p:sp>
        <p:nvSpPr>
          <p:cNvPr id="10" name="TextBox 9"/>
          <p:cNvSpPr txBox="1"/>
          <p:nvPr/>
        </p:nvSpPr>
        <p:spPr>
          <a:xfrm>
            <a:off x="841247" y="2596896"/>
            <a:ext cx="2157984" cy="1024128"/>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64748B"/>
                </a:solidFill>
                <a:latin typeface="Consolas"/>
              </a:rPr>
              <a:t>email, username</a:t>
            </a:r>
          </a:p>
          <a:p>
            <a:pPr algn="l">
              <a:lnSpc>
                <a:spcPct val="100000"/>
              </a:lnSpc>
              <a:spcBef>
                <a:spcPts val="0"/>
              </a:spcBef>
              <a:spcAft>
                <a:spcPts val="400"/>
              </a:spcAft>
            </a:pPr>
            <a:r>
              <a:rPr sz="850" b="0" i="0">
                <a:solidFill>
                  <a:srgbClr val="64748B"/>
                </a:solidFill>
                <a:latin typeface="Consolas"/>
              </a:rPr>
              <a:t>role</a:t>
            </a:r>
          </a:p>
          <a:p>
            <a:pPr algn="l">
              <a:lnSpc>
                <a:spcPct val="100000"/>
              </a:lnSpc>
              <a:spcBef>
                <a:spcPts val="0"/>
              </a:spcBef>
              <a:spcAft>
                <a:spcPts val="400"/>
              </a:spcAft>
            </a:pPr>
            <a:r>
              <a:rPr sz="850" b="0" i="0">
                <a:solidFill>
                  <a:srgbClr val="64748B"/>
                </a:solidFill>
                <a:latin typeface="Consolas"/>
              </a:rPr>
              <a:t>status</a:t>
            </a:r>
          </a:p>
        </p:txBody>
      </p:sp>
      <p:sp>
        <p:nvSpPr>
          <p:cNvPr id="11" name="Rounded Rectangle 10"/>
          <p:cNvSpPr/>
          <p:nvPr/>
        </p:nvSpPr>
        <p:spPr>
          <a:xfrm>
            <a:off x="3447287" y="2121408"/>
            <a:ext cx="2487168" cy="1536192"/>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47287" y="2121408"/>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593591" y="2121408"/>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campaigns</a:t>
            </a:r>
          </a:p>
        </p:txBody>
      </p:sp>
      <p:sp>
        <p:nvSpPr>
          <p:cNvPr id="14" name="TextBox 13"/>
          <p:cNvSpPr txBox="1"/>
          <p:nvPr/>
        </p:nvSpPr>
        <p:spPr>
          <a:xfrm>
            <a:off x="3630168" y="2596896"/>
            <a:ext cx="2157984" cy="1024128"/>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0F766E"/>
                </a:solidFill>
                <a:latin typeface="Consolas"/>
              </a:rPr>
              <a:t>owner_id  FK</a:t>
            </a:r>
          </a:p>
          <a:p>
            <a:pPr algn="l">
              <a:lnSpc>
                <a:spcPct val="100000"/>
              </a:lnSpc>
              <a:spcBef>
                <a:spcPts val="0"/>
              </a:spcBef>
              <a:spcAft>
                <a:spcPts val="400"/>
              </a:spcAft>
            </a:pPr>
            <a:r>
              <a:rPr sz="850" b="0" i="0">
                <a:solidFill>
                  <a:srgbClr val="64748B"/>
                </a:solidFill>
                <a:latin typeface="Consolas"/>
              </a:rPr>
              <a:t>status</a:t>
            </a:r>
          </a:p>
          <a:p>
            <a:pPr algn="l">
              <a:lnSpc>
                <a:spcPct val="100000"/>
              </a:lnSpc>
              <a:spcBef>
                <a:spcPts val="0"/>
              </a:spcBef>
              <a:spcAft>
                <a:spcPts val="400"/>
              </a:spcAft>
            </a:pPr>
            <a:r>
              <a:rPr sz="850" b="0" i="0">
                <a:solidFill>
                  <a:srgbClr val="64748B"/>
                </a:solidFill>
                <a:latin typeface="Consolas"/>
              </a:rPr>
              <a:t>raised</a:t>
            </a:r>
          </a:p>
        </p:txBody>
      </p:sp>
      <p:sp>
        <p:nvSpPr>
          <p:cNvPr id="15" name="Rounded Rectangle 14"/>
          <p:cNvSpPr/>
          <p:nvPr/>
        </p:nvSpPr>
        <p:spPr>
          <a:xfrm>
            <a:off x="6236207" y="2121408"/>
            <a:ext cx="2487168" cy="1536192"/>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236207" y="2121408"/>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82512" y="2121408"/>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donations</a:t>
            </a:r>
          </a:p>
        </p:txBody>
      </p:sp>
      <p:sp>
        <p:nvSpPr>
          <p:cNvPr id="18" name="TextBox 17"/>
          <p:cNvSpPr txBox="1"/>
          <p:nvPr/>
        </p:nvSpPr>
        <p:spPr>
          <a:xfrm>
            <a:off x="6419088" y="2596896"/>
            <a:ext cx="2157984" cy="1024128"/>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0F766E"/>
                </a:solidFill>
                <a:latin typeface="Consolas"/>
              </a:rPr>
              <a:t>donor_id  FK</a:t>
            </a:r>
          </a:p>
          <a:p>
            <a:pPr algn="l">
              <a:lnSpc>
                <a:spcPct val="100000"/>
              </a:lnSpc>
              <a:spcBef>
                <a:spcPts val="0"/>
              </a:spcBef>
              <a:spcAft>
                <a:spcPts val="400"/>
              </a:spcAft>
            </a:pPr>
            <a:r>
              <a:rPr sz="850" b="0" i="0">
                <a:solidFill>
                  <a:srgbClr val="0F766E"/>
                </a:solidFill>
                <a:latin typeface="Consolas"/>
              </a:rPr>
              <a:t>campaign_id  FK</a:t>
            </a:r>
          </a:p>
          <a:p>
            <a:pPr algn="l">
              <a:lnSpc>
                <a:spcPct val="100000"/>
              </a:lnSpc>
              <a:spcBef>
                <a:spcPts val="0"/>
              </a:spcBef>
              <a:spcAft>
                <a:spcPts val="400"/>
              </a:spcAft>
            </a:pPr>
            <a:r>
              <a:rPr sz="850" b="0" i="0">
                <a:solidFill>
                  <a:srgbClr val="64748B"/>
                </a:solidFill>
                <a:latin typeface="Consolas"/>
              </a:rPr>
              <a:t>receipt_number</a:t>
            </a:r>
          </a:p>
        </p:txBody>
      </p:sp>
      <p:sp>
        <p:nvSpPr>
          <p:cNvPr id="19" name="Rounded Rectangle 18"/>
          <p:cNvSpPr/>
          <p:nvPr/>
        </p:nvSpPr>
        <p:spPr>
          <a:xfrm>
            <a:off x="9025128" y="2121408"/>
            <a:ext cx="2487168" cy="1536192"/>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025128" y="2121408"/>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71432" y="2121408"/>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payment_transactions</a:t>
            </a:r>
          </a:p>
        </p:txBody>
      </p:sp>
      <p:sp>
        <p:nvSpPr>
          <p:cNvPr id="22" name="TextBox 21"/>
          <p:cNvSpPr txBox="1"/>
          <p:nvPr/>
        </p:nvSpPr>
        <p:spPr>
          <a:xfrm>
            <a:off x="9208008" y="2596896"/>
            <a:ext cx="2157984" cy="1024128"/>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0F766E"/>
                </a:solidFill>
                <a:latin typeface="Consolas"/>
              </a:rPr>
              <a:t>donation_id  FK</a:t>
            </a:r>
          </a:p>
          <a:p>
            <a:pPr algn="l">
              <a:lnSpc>
                <a:spcPct val="100000"/>
              </a:lnSpc>
              <a:spcBef>
                <a:spcPts val="0"/>
              </a:spcBef>
              <a:spcAft>
                <a:spcPts val="400"/>
              </a:spcAft>
            </a:pPr>
            <a:r>
              <a:rPr sz="850" b="0" i="0">
                <a:solidFill>
                  <a:srgbClr val="0F766E"/>
                </a:solidFill>
                <a:latin typeface="Consolas"/>
              </a:rPr>
              <a:t>reference  UQ</a:t>
            </a:r>
          </a:p>
          <a:p>
            <a:pPr algn="l">
              <a:lnSpc>
                <a:spcPct val="100000"/>
              </a:lnSpc>
              <a:spcBef>
                <a:spcPts val="0"/>
              </a:spcBef>
              <a:spcAft>
                <a:spcPts val="400"/>
              </a:spcAft>
            </a:pPr>
            <a:r>
              <a:rPr sz="850" b="0" i="0">
                <a:solidFill>
                  <a:srgbClr val="64748B"/>
                </a:solidFill>
                <a:latin typeface="Consolas"/>
              </a:rPr>
              <a:t>status</a:t>
            </a:r>
          </a:p>
        </p:txBody>
      </p:sp>
      <p:sp>
        <p:nvSpPr>
          <p:cNvPr id="23" name="Rounded Rectangle 22"/>
          <p:cNvSpPr/>
          <p:nvPr/>
        </p:nvSpPr>
        <p:spPr>
          <a:xfrm>
            <a:off x="3447287" y="4133087"/>
            <a:ext cx="2487168" cy="1280160"/>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447287" y="4133087"/>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93591" y="4133087"/>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beneficiaries</a:t>
            </a:r>
          </a:p>
        </p:txBody>
      </p:sp>
      <p:sp>
        <p:nvSpPr>
          <p:cNvPr id="26" name="TextBox 25"/>
          <p:cNvSpPr txBox="1"/>
          <p:nvPr/>
        </p:nvSpPr>
        <p:spPr>
          <a:xfrm>
            <a:off x="3630168" y="4608575"/>
            <a:ext cx="2157984" cy="768096"/>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0F766E"/>
                </a:solidFill>
                <a:latin typeface="Consolas"/>
              </a:rPr>
              <a:t>campaign_id  FK</a:t>
            </a:r>
          </a:p>
          <a:p>
            <a:pPr algn="l">
              <a:lnSpc>
                <a:spcPct val="100000"/>
              </a:lnSpc>
              <a:spcBef>
                <a:spcPts val="0"/>
              </a:spcBef>
              <a:spcAft>
                <a:spcPts val="400"/>
              </a:spcAft>
            </a:pPr>
            <a:r>
              <a:rPr sz="850" b="0" i="0">
                <a:solidFill>
                  <a:srgbClr val="64748B"/>
                </a:solidFill>
                <a:latin typeface="Consolas"/>
              </a:rPr>
              <a:t>is_verified</a:t>
            </a:r>
          </a:p>
        </p:txBody>
      </p:sp>
      <p:sp>
        <p:nvSpPr>
          <p:cNvPr id="27" name="Rounded Rectangle 26"/>
          <p:cNvSpPr/>
          <p:nvPr/>
        </p:nvSpPr>
        <p:spPr>
          <a:xfrm>
            <a:off x="6236207" y="4133087"/>
            <a:ext cx="2487168" cy="1536192"/>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36207" y="4133087"/>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82512" y="4133087"/>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disbursements</a:t>
            </a:r>
          </a:p>
        </p:txBody>
      </p:sp>
      <p:sp>
        <p:nvSpPr>
          <p:cNvPr id="30" name="TextBox 29"/>
          <p:cNvSpPr txBox="1"/>
          <p:nvPr/>
        </p:nvSpPr>
        <p:spPr>
          <a:xfrm>
            <a:off x="6419088" y="4608575"/>
            <a:ext cx="2157984" cy="1024128"/>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0F766E"/>
                </a:solidFill>
                <a:latin typeface="Consolas"/>
              </a:rPr>
              <a:t>beneficiary_id  FK</a:t>
            </a:r>
          </a:p>
          <a:p>
            <a:pPr algn="l">
              <a:lnSpc>
                <a:spcPct val="100000"/>
              </a:lnSpc>
              <a:spcBef>
                <a:spcPts val="0"/>
              </a:spcBef>
              <a:spcAft>
                <a:spcPts val="400"/>
              </a:spcAft>
            </a:pPr>
            <a:r>
              <a:rPr sz="850" b="0" i="0">
                <a:solidFill>
                  <a:srgbClr val="64748B"/>
                </a:solidFill>
                <a:latin typeface="Consolas"/>
              </a:rPr>
              <a:t>amount</a:t>
            </a:r>
          </a:p>
          <a:p>
            <a:pPr algn="l">
              <a:lnSpc>
                <a:spcPct val="100000"/>
              </a:lnSpc>
              <a:spcBef>
                <a:spcPts val="0"/>
              </a:spcBef>
              <a:spcAft>
                <a:spcPts val="400"/>
              </a:spcAft>
            </a:pPr>
            <a:r>
              <a:rPr sz="850" b="0" i="0">
                <a:solidFill>
                  <a:srgbClr val="64748B"/>
                </a:solidFill>
                <a:latin typeface="Consolas"/>
              </a:rPr>
              <a:t>self_released</a:t>
            </a:r>
          </a:p>
        </p:txBody>
      </p:sp>
      <p:sp>
        <p:nvSpPr>
          <p:cNvPr id="31" name="Rounded Rectangle 30"/>
          <p:cNvSpPr/>
          <p:nvPr/>
        </p:nvSpPr>
        <p:spPr>
          <a:xfrm>
            <a:off x="9025128" y="4133087"/>
            <a:ext cx="2487168" cy="1536192"/>
          </a:xfrm>
          <a:prstGeom prst="roundRect">
            <a:avLst>
              <a:gd name="adj" fmla="val 4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025128" y="4133087"/>
            <a:ext cx="2487168"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171432" y="4133087"/>
            <a:ext cx="2194560" cy="384048"/>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FFFFFF"/>
                </a:solidFill>
                <a:latin typeface="Consolas"/>
              </a:rPr>
              <a:t>blockchain_records</a:t>
            </a:r>
          </a:p>
        </p:txBody>
      </p:sp>
      <p:sp>
        <p:nvSpPr>
          <p:cNvPr id="34" name="TextBox 33"/>
          <p:cNvSpPr txBox="1"/>
          <p:nvPr/>
        </p:nvSpPr>
        <p:spPr>
          <a:xfrm>
            <a:off x="9208008" y="4608575"/>
            <a:ext cx="2157984" cy="1024128"/>
          </a:xfrm>
          <a:prstGeom prst="rect">
            <a:avLst/>
          </a:prstGeom>
          <a:noFill/>
        </p:spPr>
        <p:txBody>
          <a:bodyPr wrap="square" lIns="0" rIns="0" tIns="0" bIns="0" anchor="t">
            <a:spAutoFit/>
          </a:bodyPr>
          <a:lstStyle/>
          <a:p>
            <a:pPr algn="l">
              <a:lnSpc>
                <a:spcPct val="100000"/>
              </a:lnSpc>
              <a:spcBef>
                <a:spcPts val="0"/>
              </a:spcBef>
              <a:spcAft>
                <a:spcPts val="400"/>
              </a:spcAft>
            </a:pPr>
            <a:r>
              <a:rPr sz="850" b="0" i="0">
                <a:solidFill>
                  <a:srgbClr val="0F766E"/>
                </a:solidFill>
                <a:latin typeface="Consolas"/>
              </a:rPr>
              <a:t>id  PK</a:t>
            </a:r>
          </a:p>
          <a:p>
            <a:pPr algn="l">
              <a:lnSpc>
                <a:spcPct val="100000"/>
              </a:lnSpc>
              <a:spcBef>
                <a:spcPts val="0"/>
              </a:spcBef>
              <a:spcAft>
                <a:spcPts val="400"/>
              </a:spcAft>
            </a:pPr>
            <a:r>
              <a:rPr sz="850" b="0" i="0">
                <a:solidFill>
                  <a:srgbClr val="64748B"/>
                </a:solidFill>
                <a:latin typeface="Consolas"/>
              </a:rPr>
              <a:t>record_type</a:t>
            </a:r>
          </a:p>
          <a:p>
            <a:pPr algn="l">
              <a:lnSpc>
                <a:spcPct val="100000"/>
              </a:lnSpc>
              <a:spcBef>
                <a:spcPts val="0"/>
              </a:spcBef>
              <a:spcAft>
                <a:spcPts val="400"/>
              </a:spcAft>
            </a:pPr>
            <a:r>
              <a:rPr sz="850" b="0" i="0">
                <a:solidFill>
                  <a:srgbClr val="64748B"/>
                </a:solidFill>
                <a:latin typeface="Consolas"/>
              </a:rPr>
              <a:t>reference_id</a:t>
            </a:r>
          </a:p>
          <a:p>
            <a:pPr algn="l">
              <a:lnSpc>
                <a:spcPct val="100000"/>
              </a:lnSpc>
              <a:spcBef>
                <a:spcPts val="0"/>
              </a:spcBef>
              <a:spcAft>
                <a:spcPts val="400"/>
              </a:spcAft>
            </a:pPr>
            <a:r>
              <a:rPr sz="850" b="0" i="0">
                <a:solidFill>
                  <a:srgbClr val="64748B"/>
                </a:solidFill>
                <a:latin typeface="Consolas"/>
              </a:rPr>
              <a:t>tx_hash</a:t>
            </a:r>
          </a:p>
        </p:txBody>
      </p:sp>
      <p:cxnSp>
        <p:nvCxnSpPr>
          <p:cNvPr id="35" name="Connector 34"/>
          <p:cNvCxnSpPr/>
          <p:nvPr/>
        </p:nvCxnSpPr>
        <p:spPr>
          <a:xfrm>
            <a:off x="3145536" y="2889504"/>
            <a:ext cx="301751"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163824" y="2715768"/>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sp>
        <p:nvSpPr>
          <p:cNvPr id="37" name="TextBox 36"/>
          <p:cNvSpPr txBox="1"/>
          <p:nvPr/>
        </p:nvSpPr>
        <p:spPr>
          <a:xfrm>
            <a:off x="3227831" y="2715768"/>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N</a:t>
            </a:r>
          </a:p>
        </p:txBody>
      </p:sp>
      <p:cxnSp>
        <p:nvCxnSpPr>
          <p:cNvPr id="38" name="Connector 37"/>
          <p:cNvCxnSpPr/>
          <p:nvPr/>
        </p:nvCxnSpPr>
        <p:spPr>
          <a:xfrm>
            <a:off x="5934456" y="2889504"/>
            <a:ext cx="301751"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952744" y="2715768"/>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sp>
        <p:nvSpPr>
          <p:cNvPr id="40" name="TextBox 39"/>
          <p:cNvSpPr txBox="1"/>
          <p:nvPr/>
        </p:nvSpPr>
        <p:spPr>
          <a:xfrm>
            <a:off x="6016751" y="2715768"/>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N</a:t>
            </a:r>
          </a:p>
        </p:txBody>
      </p:sp>
      <p:cxnSp>
        <p:nvCxnSpPr>
          <p:cNvPr id="41" name="Connector 40"/>
          <p:cNvCxnSpPr/>
          <p:nvPr/>
        </p:nvCxnSpPr>
        <p:spPr>
          <a:xfrm>
            <a:off x="8723376" y="2889504"/>
            <a:ext cx="301752"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741663" y="2715768"/>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sp>
        <p:nvSpPr>
          <p:cNvPr id="43" name="TextBox 42"/>
          <p:cNvSpPr txBox="1"/>
          <p:nvPr/>
        </p:nvSpPr>
        <p:spPr>
          <a:xfrm>
            <a:off x="8805672" y="2715768"/>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cxnSp>
        <p:nvCxnSpPr>
          <p:cNvPr id="44" name="Connector 43"/>
          <p:cNvCxnSpPr/>
          <p:nvPr/>
        </p:nvCxnSpPr>
        <p:spPr>
          <a:xfrm>
            <a:off x="4690872" y="3657600"/>
            <a:ext cx="0" cy="475487"/>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754880" y="3639312"/>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sp>
        <p:nvSpPr>
          <p:cNvPr id="46" name="TextBox 45"/>
          <p:cNvSpPr txBox="1"/>
          <p:nvPr/>
        </p:nvSpPr>
        <p:spPr>
          <a:xfrm>
            <a:off x="4754880" y="3950207"/>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N</a:t>
            </a:r>
          </a:p>
        </p:txBody>
      </p:sp>
      <p:cxnSp>
        <p:nvCxnSpPr>
          <p:cNvPr id="47" name="Connector 46"/>
          <p:cNvCxnSpPr/>
          <p:nvPr/>
        </p:nvCxnSpPr>
        <p:spPr>
          <a:xfrm>
            <a:off x="5934456" y="4773168"/>
            <a:ext cx="301751" cy="128015"/>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952744" y="4599431"/>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sp>
        <p:nvSpPr>
          <p:cNvPr id="49" name="TextBox 48"/>
          <p:cNvSpPr txBox="1"/>
          <p:nvPr/>
        </p:nvSpPr>
        <p:spPr>
          <a:xfrm>
            <a:off x="6016751" y="4727447"/>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N</a:t>
            </a:r>
          </a:p>
        </p:txBody>
      </p:sp>
      <p:cxnSp>
        <p:nvCxnSpPr>
          <p:cNvPr id="50" name="Connector 49"/>
          <p:cNvCxnSpPr/>
          <p:nvPr/>
        </p:nvCxnSpPr>
        <p:spPr>
          <a:xfrm>
            <a:off x="8723376" y="4901183"/>
            <a:ext cx="301752"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741663" y="4727447"/>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sp>
        <p:nvSpPr>
          <p:cNvPr id="52" name="TextBox 51"/>
          <p:cNvSpPr txBox="1"/>
          <p:nvPr/>
        </p:nvSpPr>
        <p:spPr>
          <a:xfrm>
            <a:off x="8805672" y="4727447"/>
            <a:ext cx="201168" cy="182880"/>
          </a:xfrm>
          <a:prstGeom prst="rect">
            <a:avLst/>
          </a:prstGeom>
          <a:noFill/>
        </p:spPr>
        <p:txBody>
          <a:bodyPr wrap="square" lIns="0" rIns="0" tIns="0" bIns="0" anchor="t">
            <a:spAutoFit/>
          </a:bodyPr>
          <a:lstStyle/>
          <a:p>
            <a:pPr algn="ctr">
              <a:lnSpc>
                <a:spcPct val="125000"/>
              </a:lnSpc>
              <a:spcBef>
                <a:spcPts val="0"/>
              </a:spcBef>
              <a:spcAft>
                <a:spcPts val="0"/>
              </a:spcAft>
            </a:pPr>
            <a:r>
              <a:rPr sz="800" b="1" i="0">
                <a:solidFill>
                  <a:srgbClr val="134E4A"/>
                </a:solidFill>
                <a:latin typeface="Segoe UI"/>
              </a:rPr>
              <a:t>1</a:t>
            </a:r>
          </a:p>
        </p:txBody>
      </p:sp>
      <p:cxnSp>
        <p:nvCxnSpPr>
          <p:cNvPr id="53" name="Connector 52"/>
          <p:cNvCxnSpPr/>
          <p:nvPr/>
        </p:nvCxnSpPr>
        <p:spPr>
          <a:xfrm>
            <a:off x="7479792" y="3602735"/>
            <a:ext cx="2788920" cy="530352"/>
          </a:xfrm>
          <a:prstGeom prst="line">
            <a:avLst/>
          </a:prstGeom>
          <a:ln w="13970">
            <a:solidFill>
              <a:srgbClr val="0F766E"/>
            </a:solidFill>
            <a:prstDash val="dash"/>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58368" y="5961888"/>
            <a:ext cx="10874959" cy="310896"/>
          </a:xfrm>
          <a:prstGeom prst="rect">
            <a:avLst/>
          </a:prstGeom>
          <a:noFill/>
        </p:spPr>
        <p:txBody>
          <a:bodyPr wrap="square" lIns="0" rIns="0" tIns="0" bIns="0" anchor="t">
            <a:spAutoFit/>
          </a:bodyPr>
          <a:lstStyle/>
          <a:p>
            <a:pPr algn="ctr">
              <a:lnSpc>
                <a:spcPct val="125000"/>
              </a:lnSpc>
              <a:spcBef>
                <a:spcPts val="0"/>
              </a:spcBef>
              <a:spcAft>
                <a:spcPts val="0"/>
              </a:spcAft>
            </a:pPr>
            <a:r>
              <a:rPr sz="1000" b="0" i="0">
                <a:solidFill>
                  <a:srgbClr val="64748B"/>
                </a:solidFill>
                <a:latin typeface="Segoe UI"/>
              </a:rPr>
              <a:t>blockchain_records is polymorphic: record_type plus reference_id point at either a donation or a disbursement, mirroring the contract's own record type.</a:t>
            </a:r>
          </a:p>
        </p:txBody>
      </p:sp>
      <p:sp>
        <p:nvSpPr>
          <p:cNvPr id="55" name="Rectangle 54"/>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658368" y="6345936"/>
            <a:ext cx="556393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58" name="TextBox 57"/>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6.5</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Class Diagram  ·  Service Layer</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Business logic lives in services. Controllers stay thin, repositories stay dumb.</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3442106" cy="164592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3442106" cy="402336"/>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2029967"/>
            <a:ext cx="3442106" cy="402336"/>
          </a:xfrm>
          <a:prstGeom prst="rect">
            <a:avLst/>
          </a:prstGeom>
          <a:noFill/>
        </p:spPr>
        <p:txBody>
          <a:bodyPr wrap="square" lIns="0" rIns="0" tIns="0" bIns="0" anchor="ctr">
            <a:spAutoFit/>
          </a:bodyPr>
          <a:lstStyle/>
          <a:p>
            <a:pPr algn="ctr">
              <a:lnSpc>
                <a:spcPct val="125000"/>
              </a:lnSpc>
              <a:spcBef>
                <a:spcPts val="0"/>
              </a:spcBef>
              <a:spcAft>
                <a:spcPts val="0"/>
              </a:spcAft>
            </a:pPr>
            <a:r>
              <a:rPr sz="1100" b="1" i="0">
                <a:solidFill>
                  <a:srgbClr val="FFFFFF"/>
                </a:solidFill>
                <a:latin typeface="Consolas"/>
              </a:rPr>
              <a:t>AuthService</a:t>
            </a:r>
          </a:p>
        </p:txBody>
      </p:sp>
      <p:sp>
        <p:nvSpPr>
          <p:cNvPr id="10" name="TextBox 9"/>
          <p:cNvSpPr txBox="1"/>
          <p:nvPr/>
        </p:nvSpPr>
        <p:spPr>
          <a:xfrm>
            <a:off x="859536" y="2542032"/>
            <a:ext cx="3039770" cy="45720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64748B"/>
                </a:solidFill>
                <a:latin typeface="Consolas"/>
              </a:rPr>
              <a:t>- userRepo</a:t>
            </a:r>
          </a:p>
          <a:p>
            <a:pPr algn="l">
              <a:lnSpc>
                <a:spcPct val="115000"/>
              </a:lnSpc>
              <a:spcBef>
                <a:spcPts val="0"/>
              </a:spcBef>
              <a:spcAft>
                <a:spcPts val="200"/>
              </a:spcAft>
            </a:pPr>
            <a:r>
              <a:rPr sz="900" b="0" i="0">
                <a:solidFill>
                  <a:srgbClr val="64748B"/>
                </a:solidFill>
                <a:latin typeface="Consolas"/>
              </a:rPr>
              <a:t>- sessionRepo</a:t>
            </a:r>
          </a:p>
        </p:txBody>
      </p:sp>
      <p:sp>
        <p:nvSpPr>
          <p:cNvPr id="11" name="Rectangle 10"/>
          <p:cNvSpPr/>
          <p:nvPr/>
        </p:nvSpPr>
        <p:spPr>
          <a:xfrm>
            <a:off x="786384" y="3017520"/>
            <a:ext cx="3186074" cy="8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59536" y="3072384"/>
            <a:ext cx="3039770" cy="82296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134E4A"/>
                </a:solidFill>
                <a:latin typeface="Consolas"/>
              </a:rPr>
              <a:t>+ register()</a:t>
            </a:r>
          </a:p>
          <a:p>
            <a:pPr algn="l">
              <a:lnSpc>
                <a:spcPct val="115000"/>
              </a:lnSpc>
              <a:spcBef>
                <a:spcPts val="0"/>
              </a:spcBef>
              <a:spcAft>
                <a:spcPts val="200"/>
              </a:spcAft>
            </a:pPr>
            <a:r>
              <a:rPr sz="900" b="0" i="0">
                <a:solidFill>
                  <a:srgbClr val="134E4A"/>
                </a:solidFill>
                <a:latin typeface="Consolas"/>
              </a:rPr>
              <a:t>+ login()</a:t>
            </a:r>
          </a:p>
          <a:p>
            <a:pPr algn="l">
              <a:lnSpc>
                <a:spcPct val="115000"/>
              </a:lnSpc>
              <a:spcBef>
                <a:spcPts val="0"/>
              </a:spcBef>
              <a:spcAft>
                <a:spcPts val="200"/>
              </a:spcAft>
            </a:pPr>
            <a:r>
              <a:rPr sz="900" b="0" i="0">
                <a:solidFill>
                  <a:srgbClr val="134E4A"/>
                </a:solidFill>
                <a:latin typeface="Consolas"/>
              </a:rPr>
              <a:t>+ rotateRefresh()</a:t>
            </a:r>
          </a:p>
        </p:txBody>
      </p:sp>
      <p:sp>
        <p:nvSpPr>
          <p:cNvPr id="13" name="Rounded Rectangle 12"/>
          <p:cNvSpPr/>
          <p:nvPr/>
        </p:nvSpPr>
        <p:spPr>
          <a:xfrm>
            <a:off x="4374794" y="2029967"/>
            <a:ext cx="3442106" cy="164592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74794" y="2029967"/>
            <a:ext cx="3442106" cy="402336"/>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74794" y="2029967"/>
            <a:ext cx="3442106" cy="402336"/>
          </a:xfrm>
          <a:prstGeom prst="rect">
            <a:avLst/>
          </a:prstGeom>
          <a:noFill/>
        </p:spPr>
        <p:txBody>
          <a:bodyPr wrap="square" lIns="0" rIns="0" tIns="0" bIns="0" anchor="ctr">
            <a:spAutoFit/>
          </a:bodyPr>
          <a:lstStyle/>
          <a:p>
            <a:pPr algn="ctr">
              <a:lnSpc>
                <a:spcPct val="125000"/>
              </a:lnSpc>
              <a:spcBef>
                <a:spcPts val="0"/>
              </a:spcBef>
              <a:spcAft>
                <a:spcPts val="0"/>
              </a:spcAft>
            </a:pPr>
            <a:r>
              <a:rPr sz="1100" b="1" i="0">
                <a:solidFill>
                  <a:srgbClr val="FFFFFF"/>
                </a:solidFill>
                <a:latin typeface="Consolas"/>
              </a:rPr>
              <a:t>DonationService</a:t>
            </a:r>
          </a:p>
        </p:txBody>
      </p:sp>
      <p:sp>
        <p:nvSpPr>
          <p:cNvPr id="16" name="TextBox 15"/>
          <p:cNvSpPr txBox="1"/>
          <p:nvPr/>
        </p:nvSpPr>
        <p:spPr>
          <a:xfrm>
            <a:off x="4575962" y="2542032"/>
            <a:ext cx="3039770" cy="45720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64748B"/>
                </a:solidFill>
                <a:latin typeface="Consolas"/>
              </a:rPr>
              <a:t>- donationRepo</a:t>
            </a:r>
          </a:p>
          <a:p>
            <a:pPr algn="l">
              <a:lnSpc>
                <a:spcPct val="115000"/>
              </a:lnSpc>
              <a:spcBef>
                <a:spcPts val="0"/>
              </a:spcBef>
              <a:spcAft>
                <a:spcPts val="200"/>
              </a:spcAft>
            </a:pPr>
            <a:r>
              <a:rPr sz="900" b="0" i="0">
                <a:solidFill>
                  <a:srgbClr val="64748B"/>
                </a:solidFill>
                <a:latin typeface="Consolas"/>
              </a:rPr>
              <a:t>- campaignRepo</a:t>
            </a:r>
          </a:p>
        </p:txBody>
      </p:sp>
      <p:sp>
        <p:nvSpPr>
          <p:cNvPr id="17" name="Rectangle 16"/>
          <p:cNvSpPr/>
          <p:nvPr/>
        </p:nvSpPr>
        <p:spPr>
          <a:xfrm>
            <a:off x="4502810" y="3017520"/>
            <a:ext cx="3186074" cy="8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5962" y="3072384"/>
            <a:ext cx="3039770" cy="82296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134E4A"/>
                </a:solidFill>
                <a:latin typeface="Consolas"/>
              </a:rPr>
              <a:t>+ finalise()</a:t>
            </a:r>
          </a:p>
          <a:p>
            <a:pPr algn="l">
              <a:lnSpc>
                <a:spcPct val="115000"/>
              </a:lnSpc>
              <a:spcBef>
                <a:spcPts val="0"/>
              </a:spcBef>
              <a:spcAft>
                <a:spcPts val="200"/>
              </a:spcAft>
            </a:pPr>
            <a:r>
              <a:rPr sz="900" b="0" i="0">
                <a:solidFill>
                  <a:srgbClr val="134E4A"/>
                </a:solidFill>
                <a:latin typeface="Consolas"/>
              </a:rPr>
              <a:t>+ history()</a:t>
            </a:r>
          </a:p>
          <a:p>
            <a:pPr algn="l">
              <a:lnSpc>
                <a:spcPct val="115000"/>
              </a:lnSpc>
              <a:spcBef>
                <a:spcPts val="0"/>
              </a:spcBef>
              <a:spcAft>
                <a:spcPts val="200"/>
              </a:spcAft>
            </a:pPr>
            <a:r>
              <a:rPr sz="900" b="0" i="0">
                <a:solidFill>
                  <a:srgbClr val="134E4A"/>
                </a:solidFill>
                <a:latin typeface="Consolas"/>
              </a:rPr>
              <a:t>+ receipt()</a:t>
            </a:r>
          </a:p>
        </p:txBody>
      </p:sp>
      <p:sp>
        <p:nvSpPr>
          <p:cNvPr id="19" name="Rounded Rectangle 18"/>
          <p:cNvSpPr/>
          <p:nvPr/>
        </p:nvSpPr>
        <p:spPr>
          <a:xfrm>
            <a:off x="8091220" y="2029967"/>
            <a:ext cx="3442106" cy="164592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91220" y="2029967"/>
            <a:ext cx="3442106" cy="402336"/>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091220" y="2029967"/>
            <a:ext cx="3442106" cy="402336"/>
          </a:xfrm>
          <a:prstGeom prst="rect">
            <a:avLst/>
          </a:prstGeom>
          <a:noFill/>
        </p:spPr>
        <p:txBody>
          <a:bodyPr wrap="square" lIns="0" rIns="0" tIns="0" bIns="0" anchor="ctr">
            <a:spAutoFit/>
          </a:bodyPr>
          <a:lstStyle/>
          <a:p>
            <a:pPr algn="ctr">
              <a:lnSpc>
                <a:spcPct val="125000"/>
              </a:lnSpc>
              <a:spcBef>
                <a:spcPts val="0"/>
              </a:spcBef>
              <a:spcAft>
                <a:spcPts val="0"/>
              </a:spcAft>
            </a:pPr>
            <a:r>
              <a:rPr sz="1100" b="1" i="0">
                <a:solidFill>
                  <a:srgbClr val="FFFFFF"/>
                </a:solidFill>
                <a:latin typeface="Consolas"/>
              </a:rPr>
              <a:t>PaymentService</a:t>
            </a:r>
          </a:p>
        </p:txBody>
      </p:sp>
      <p:sp>
        <p:nvSpPr>
          <p:cNvPr id="22" name="TextBox 21"/>
          <p:cNvSpPr txBox="1"/>
          <p:nvPr/>
        </p:nvSpPr>
        <p:spPr>
          <a:xfrm>
            <a:off x="8292388" y="2542032"/>
            <a:ext cx="3039770" cy="45720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64748B"/>
                </a:solidFill>
                <a:latin typeface="Consolas"/>
              </a:rPr>
              <a:t>- provider: PaymentProvider</a:t>
            </a:r>
          </a:p>
        </p:txBody>
      </p:sp>
      <p:sp>
        <p:nvSpPr>
          <p:cNvPr id="23" name="Rectangle 22"/>
          <p:cNvSpPr/>
          <p:nvPr/>
        </p:nvSpPr>
        <p:spPr>
          <a:xfrm>
            <a:off x="8219236" y="2816352"/>
            <a:ext cx="3186074" cy="8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92388" y="2871216"/>
            <a:ext cx="3039770" cy="82296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134E4A"/>
                </a:solidFill>
                <a:latin typeface="Consolas"/>
              </a:rPr>
              <a:t>+ createSession()</a:t>
            </a:r>
          </a:p>
          <a:p>
            <a:pPr algn="l">
              <a:lnSpc>
                <a:spcPct val="115000"/>
              </a:lnSpc>
              <a:spcBef>
                <a:spcPts val="0"/>
              </a:spcBef>
              <a:spcAft>
                <a:spcPts val="200"/>
              </a:spcAft>
            </a:pPr>
            <a:r>
              <a:rPr sz="900" b="0" i="0">
                <a:solidFill>
                  <a:srgbClr val="134E4A"/>
                </a:solidFill>
                <a:latin typeface="Consolas"/>
              </a:rPr>
              <a:t>+ handleCallback()</a:t>
            </a:r>
          </a:p>
        </p:txBody>
      </p:sp>
      <p:sp>
        <p:nvSpPr>
          <p:cNvPr id="25" name="Rounded Rectangle 24"/>
          <p:cNvSpPr/>
          <p:nvPr/>
        </p:nvSpPr>
        <p:spPr>
          <a:xfrm>
            <a:off x="658368" y="3913631"/>
            <a:ext cx="3442106" cy="164592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58368" y="3913631"/>
            <a:ext cx="3442106" cy="402336"/>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3913631"/>
            <a:ext cx="3442106" cy="402336"/>
          </a:xfrm>
          <a:prstGeom prst="rect">
            <a:avLst/>
          </a:prstGeom>
          <a:noFill/>
        </p:spPr>
        <p:txBody>
          <a:bodyPr wrap="square" lIns="0" rIns="0" tIns="0" bIns="0" anchor="ctr">
            <a:spAutoFit/>
          </a:bodyPr>
          <a:lstStyle/>
          <a:p>
            <a:pPr algn="ctr">
              <a:lnSpc>
                <a:spcPct val="125000"/>
              </a:lnSpc>
              <a:spcBef>
                <a:spcPts val="0"/>
              </a:spcBef>
              <a:spcAft>
                <a:spcPts val="0"/>
              </a:spcAft>
            </a:pPr>
            <a:r>
              <a:rPr sz="1100" b="1" i="0">
                <a:solidFill>
                  <a:srgbClr val="FFFFFF"/>
                </a:solidFill>
                <a:latin typeface="Consolas"/>
              </a:rPr>
              <a:t>BlockchainService</a:t>
            </a:r>
          </a:p>
        </p:txBody>
      </p:sp>
      <p:sp>
        <p:nvSpPr>
          <p:cNvPr id="28" name="TextBox 27"/>
          <p:cNvSpPr txBox="1"/>
          <p:nvPr/>
        </p:nvSpPr>
        <p:spPr>
          <a:xfrm>
            <a:off x="859536" y="4425696"/>
            <a:ext cx="3039770" cy="45720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64748B"/>
                </a:solidFill>
                <a:latin typeface="Consolas"/>
              </a:rPr>
              <a:t>- contract: Contract</a:t>
            </a:r>
          </a:p>
        </p:txBody>
      </p:sp>
      <p:sp>
        <p:nvSpPr>
          <p:cNvPr id="29" name="Rectangle 28"/>
          <p:cNvSpPr/>
          <p:nvPr/>
        </p:nvSpPr>
        <p:spPr>
          <a:xfrm>
            <a:off x="786384" y="4700015"/>
            <a:ext cx="3186074" cy="8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59536" y="4754879"/>
            <a:ext cx="3039770" cy="82296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134E4A"/>
                </a:solidFill>
                <a:latin typeface="Consolas"/>
              </a:rPr>
              <a:t>+ recordDonation()</a:t>
            </a:r>
          </a:p>
          <a:p>
            <a:pPr algn="l">
              <a:lnSpc>
                <a:spcPct val="115000"/>
              </a:lnSpc>
              <a:spcBef>
                <a:spcPts val="0"/>
              </a:spcBef>
              <a:spcAft>
                <a:spcPts val="200"/>
              </a:spcAft>
            </a:pPr>
            <a:r>
              <a:rPr sz="900" b="0" i="0">
                <a:solidFill>
                  <a:srgbClr val="134E4A"/>
                </a:solidFill>
                <a:latin typeface="Consolas"/>
              </a:rPr>
              <a:t>+ reconcile()</a:t>
            </a:r>
          </a:p>
        </p:txBody>
      </p:sp>
      <p:sp>
        <p:nvSpPr>
          <p:cNvPr id="31" name="Rounded Rectangle 30"/>
          <p:cNvSpPr/>
          <p:nvPr/>
        </p:nvSpPr>
        <p:spPr>
          <a:xfrm>
            <a:off x="4374794" y="3913631"/>
            <a:ext cx="3442106" cy="164592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374794" y="3913631"/>
            <a:ext cx="3442106" cy="402336"/>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374794" y="3913631"/>
            <a:ext cx="3442106" cy="402336"/>
          </a:xfrm>
          <a:prstGeom prst="rect">
            <a:avLst/>
          </a:prstGeom>
          <a:noFill/>
        </p:spPr>
        <p:txBody>
          <a:bodyPr wrap="square" lIns="0" rIns="0" tIns="0" bIns="0" anchor="ctr">
            <a:spAutoFit/>
          </a:bodyPr>
          <a:lstStyle/>
          <a:p>
            <a:pPr algn="ctr">
              <a:lnSpc>
                <a:spcPct val="125000"/>
              </a:lnSpc>
              <a:spcBef>
                <a:spcPts val="0"/>
              </a:spcBef>
              <a:spcAft>
                <a:spcPts val="0"/>
              </a:spcAft>
            </a:pPr>
            <a:r>
              <a:rPr sz="1100" b="1" i="0">
                <a:solidFill>
                  <a:srgbClr val="FFFFFF"/>
                </a:solidFill>
                <a:latin typeface="Consolas"/>
              </a:rPr>
              <a:t>DisbursementService</a:t>
            </a:r>
          </a:p>
        </p:txBody>
      </p:sp>
      <p:sp>
        <p:nvSpPr>
          <p:cNvPr id="34" name="TextBox 33"/>
          <p:cNvSpPr txBox="1"/>
          <p:nvPr/>
        </p:nvSpPr>
        <p:spPr>
          <a:xfrm>
            <a:off x="4575962" y="4425696"/>
            <a:ext cx="3039770" cy="45720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64748B"/>
                </a:solidFill>
                <a:latin typeface="Consolas"/>
              </a:rPr>
              <a:t>- disbursementRepo</a:t>
            </a:r>
          </a:p>
        </p:txBody>
      </p:sp>
      <p:sp>
        <p:nvSpPr>
          <p:cNvPr id="35" name="Rectangle 34"/>
          <p:cNvSpPr/>
          <p:nvPr/>
        </p:nvSpPr>
        <p:spPr>
          <a:xfrm>
            <a:off x="4502810" y="4700015"/>
            <a:ext cx="3186074" cy="8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5962" y="4754879"/>
            <a:ext cx="3039770" cy="82296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134E4A"/>
                </a:solidFill>
                <a:latin typeface="Consolas"/>
              </a:rPr>
              <a:t>+ initiate()</a:t>
            </a:r>
          </a:p>
          <a:p>
            <a:pPr algn="l">
              <a:lnSpc>
                <a:spcPct val="115000"/>
              </a:lnSpc>
              <a:spcBef>
                <a:spcPts val="0"/>
              </a:spcBef>
              <a:spcAft>
                <a:spcPts val="200"/>
              </a:spcAft>
            </a:pPr>
            <a:r>
              <a:rPr sz="900" b="0" i="0">
                <a:solidFill>
                  <a:srgbClr val="134E4A"/>
                </a:solidFill>
                <a:latin typeface="Consolas"/>
              </a:rPr>
              <a:t>+ approve()</a:t>
            </a:r>
          </a:p>
          <a:p>
            <a:pPr algn="l">
              <a:lnSpc>
                <a:spcPct val="115000"/>
              </a:lnSpc>
              <a:spcBef>
                <a:spcPts val="0"/>
              </a:spcBef>
              <a:spcAft>
                <a:spcPts val="200"/>
              </a:spcAft>
            </a:pPr>
            <a:r>
              <a:rPr sz="900" b="0" i="0">
                <a:solidFill>
                  <a:srgbClr val="134E4A"/>
                </a:solidFill>
                <a:latin typeface="Consolas"/>
              </a:rPr>
              <a:t>+ threshold()</a:t>
            </a:r>
          </a:p>
        </p:txBody>
      </p:sp>
      <p:sp>
        <p:nvSpPr>
          <p:cNvPr id="37" name="Rounded Rectangle 36"/>
          <p:cNvSpPr/>
          <p:nvPr/>
        </p:nvSpPr>
        <p:spPr>
          <a:xfrm>
            <a:off x="8091220" y="3913631"/>
            <a:ext cx="3442106" cy="1645920"/>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091220" y="3913631"/>
            <a:ext cx="3442106" cy="402336"/>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091220" y="3913631"/>
            <a:ext cx="3442106" cy="402336"/>
          </a:xfrm>
          <a:prstGeom prst="rect">
            <a:avLst/>
          </a:prstGeom>
          <a:noFill/>
        </p:spPr>
        <p:txBody>
          <a:bodyPr wrap="square" lIns="0" rIns="0" tIns="0" bIns="0" anchor="ctr">
            <a:spAutoFit/>
          </a:bodyPr>
          <a:lstStyle/>
          <a:p>
            <a:pPr algn="ctr">
              <a:lnSpc>
                <a:spcPct val="125000"/>
              </a:lnSpc>
              <a:spcBef>
                <a:spcPts val="0"/>
              </a:spcBef>
              <a:spcAft>
                <a:spcPts val="0"/>
              </a:spcAft>
            </a:pPr>
            <a:r>
              <a:rPr sz="1100" b="1" i="0">
                <a:solidFill>
                  <a:srgbClr val="FFFFFF"/>
                </a:solidFill>
                <a:latin typeface="Consolas"/>
              </a:rPr>
              <a:t>ReportService</a:t>
            </a:r>
          </a:p>
        </p:txBody>
      </p:sp>
      <p:sp>
        <p:nvSpPr>
          <p:cNvPr id="40" name="TextBox 39"/>
          <p:cNvSpPr txBox="1"/>
          <p:nvPr/>
        </p:nvSpPr>
        <p:spPr>
          <a:xfrm>
            <a:off x="8292388" y="4425696"/>
            <a:ext cx="3039770" cy="45720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64748B"/>
                </a:solidFill>
                <a:latin typeface="Consolas"/>
              </a:rPr>
              <a:t>- exporters</a:t>
            </a:r>
          </a:p>
        </p:txBody>
      </p:sp>
      <p:sp>
        <p:nvSpPr>
          <p:cNvPr id="41" name="Rectangle 40"/>
          <p:cNvSpPr/>
          <p:nvPr/>
        </p:nvSpPr>
        <p:spPr>
          <a:xfrm>
            <a:off x="8219236" y="4700015"/>
            <a:ext cx="3186074" cy="8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292388" y="4754879"/>
            <a:ext cx="3039770" cy="822960"/>
          </a:xfrm>
          <a:prstGeom prst="rect">
            <a:avLst/>
          </a:prstGeom>
          <a:noFill/>
        </p:spPr>
        <p:txBody>
          <a:bodyPr wrap="square" lIns="0" rIns="0" tIns="0" bIns="0" anchor="t">
            <a:spAutoFit/>
          </a:bodyPr>
          <a:lstStyle/>
          <a:p>
            <a:pPr algn="l">
              <a:lnSpc>
                <a:spcPct val="115000"/>
              </a:lnSpc>
              <a:spcBef>
                <a:spcPts val="0"/>
              </a:spcBef>
              <a:spcAft>
                <a:spcPts val="200"/>
              </a:spcAft>
            </a:pPr>
            <a:r>
              <a:rPr sz="900" b="0" i="0">
                <a:solidFill>
                  <a:srgbClr val="134E4A"/>
                </a:solidFill>
                <a:latin typeface="Consolas"/>
              </a:rPr>
              <a:t>+ build()</a:t>
            </a:r>
          </a:p>
          <a:p>
            <a:pPr algn="l">
              <a:lnSpc>
                <a:spcPct val="115000"/>
              </a:lnSpc>
              <a:spcBef>
                <a:spcPts val="0"/>
              </a:spcBef>
              <a:spcAft>
                <a:spcPts val="200"/>
              </a:spcAft>
            </a:pPr>
            <a:r>
              <a:rPr sz="900" b="0" i="0">
                <a:solidFill>
                  <a:srgbClr val="134E4A"/>
                </a:solidFill>
                <a:latin typeface="Consolas"/>
              </a:rPr>
              <a:t>+ export()</a:t>
            </a:r>
          </a:p>
        </p:txBody>
      </p:sp>
      <p:sp>
        <p:nvSpPr>
          <p:cNvPr id="43" name="Rounded Rectangle 42"/>
          <p:cNvSpPr/>
          <p:nvPr/>
        </p:nvSpPr>
        <p:spPr>
          <a:xfrm>
            <a:off x="658368" y="5669279"/>
            <a:ext cx="10874959" cy="512064"/>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14400" y="5669279"/>
            <a:ext cx="10362895" cy="512064"/>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134E4A"/>
                </a:solidFill>
                <a:latin typeface="Segoe UI"/>
              </a:rPr>
              <a:t>PaymentProvider is an interface, not a class.  </a:t>
            </a:r>
            <a:r>
              <a:rPr sz="1050" b="0" i="0">
                <a:solidFill>
                  <a:srgbClr val="134E4A"/>
                </a:solidFill>
                <a:latin typeface="Segoe UI"/>
              </a:rPr>
              <a:t>The mock provider and the AzamPay adapter both satisfy it, so swapping providers never touches DonationService.</a:t>
            </a:r>
          </a:p>
        </p:txBody>
      </p:sp>
      <p:sp>
        <p:nvSpPr>
          <p:cNvPr id="45" name="Rectangle 44"/>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58368" y="6345936"/>
            <a:ext cx="581683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48" name="TextBox 47"/>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6.5.1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Sequence Diagram  ·  Donation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The core transaction, end to end. Note where the chain write sits.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1705813" cy="420624"/>
          </a:xfrm>
          <a:prstGeom prst="roundRect">
            <a:avLst>
              <a:gd name="adj" fmla="val 10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2029967"/>
            <a:ext cx="1705813" cy="420624"/>
          </a:xfrm>
          <a:prstGeom prst="rect">
            <a:avLst/>
          </a:prstGeom>
          <a:noFill/>
        </p:spPr>
        <p:txBody>
          <a:bodyPr wrap="square" lIns="0" rIns="0" tIns="0" bIns="0" anchor="ctr">
            <a:spAutoFit/>
          </a:bodyPr>
          <a:lstStyle/>
          <a:p>
            <a:pPr algn="ctr">
              <a:lnSpc>
                <a:spcPct val="125000"/>
              </a:lnSpc>
              <a:spcBef>
                <a:spcPts val="0"/>
              </a:spcBef>
              <a:spcAft>
                <a:spcPts val="0"/>
              </a:spcAft>
            </a:pPr>
            <a:r>
              <a:rPr sz="950" b="1" i="0">
                <a:solidFill>
                  <a:srgbClr val="0F172A"/>
                </a:solidFill>
                <a:latin typeface="Segoe UI"/>
              </a:rPr>
              <a:t>Donor</a:t>
            </a:r>
          </a:p>
        </p:txBody>
      </p:sp>
      <p:cxnSp>
        <p:nvCxnSpPr>
          <p:cNvPr id="9" name="Connector 8"/>
          <p:cNvCxnSpPr/>
          <p:nvPr/>
        </p:nvCxnSpPr>
        <p:spPr>
          <a:xfrm>
            <a:off x="1511274" y="2450591"/>
            <a:ext cx="0" cy="3255264"/>
          </a:xfrm>
          <a:prstGeom prst="line">
            <a:avLst/>
          </a:prstGeom>
          <a:ln w="11430">
            <a:solidFill>
              <a:srgbClr val="E2E8F0"/>
            </a:solidFill>
            <a:prstDash val="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92197" y="2029967"/>
            <a:ext cx="1705813" cy="420624"/>
          </a:xfrm>
          <a:prstGeom prst="roundRect">
            <a:avLst>
              <a:gd name="adj" fmla="val 10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492197" y="2029967"/>
            <a:ext cx="1705813" cy="420624"/>
          </a:xfrm>
          <a:prstGeom prst="rect">
            <a:avLst/>
          </a:prstGeom>
          <a:noFill/>
        </p:spPr>
        <p:txBody>
          <a:bodyPr wrap="square" lIns="0" rIns="0" tIns="0" bIns="0" anchor="ctr">
            <a:spAutoFit/>
          </a:bodyPr>
          <a:lstStyle/>
          <a:p>
            <a:pPr algn="ctr">
              <a:lnSpc>
                <a:spcPct val="125000"/>
              </a:lnSpc>
              <a:spcBef>
                <a:spcPts val="0"/>
              </a:spcBef>
              <a:spcAft>
                <a:spcPts val="0"/>
              </a:spcAft>
            </a:pPr>
            <a:r>
              <a:rPr sz="950" b="1" i="0">
                <a:solidFill>
                  <a:srgbClr val="0F172A"/>
                </a:solidFill>
                <a:latin typeface="Segoe UI"/>
              </a:rPr>
              <a:t>Web Client</a:t>
            </a:r>
          </a:p>
        </p:txBody>
      </p:sp>
      <p:cxnSp>
        <p:nvCxnSpPr>
          <p:cNvPr id="12" name="Connector 11"/>
          <p:cNvCxnSpPr/>
          <p:nvPr/>
        </p:nvCxnSpPr>
        <p:spPr>
          <a:xfrm>
            <a:off x="3345103" y="2450591"/>
            <a:ext cx="0" cy="3255264"/>
          </a:xfrm>
          <a:prstGeom prst="line">
            <a:avLst/>
          </a:prstGeom>
          <a:ln w="11430">
            <a:solidFill>
              <a:srgbClr val="E2E8F0"/>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26026" y="2029967"/>
            <a:ext cx="1705813" cy="420624"/>
          </a:xfrm>
          <a:prstGeom prst="roundRect">
            <a:avLst>
              <a:gd name="adj" fmla="val 10000"/>
            </a:avLst>
          </a:prstGeom>
          <a:solidFill>
            <a:srgbClr val="134E4A"/>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26026" y="2029967"/>
            <a:ext cx="1705813" cy="420624"/>
          </a:xfrm>
          <a:prstGeom prst="rect">
            <a:avLst/>
          </a:prstGeom>
          <a:noFill/>
        </p:spPr>
        <p:txBody>
          <a:bodyPr wrap="square" lIns="0" rIns="0" tIns="0" bIns="0" anchor="ctr">
            <a:spAutoFit/>
          </a:bodyPr>
          <a:lstStyle/>
          <a:p>
            <a:pPr algn="ctr">
              <a:lnSpc>
                <a:spcPct val="125000"/>
              </a:lnSpc>
              <a:spcBef>
                <a:spcPts val="0"/>
              </a:spcBef>
              <a:spcAft>
                <a:spcPts val="0"/>
              </a:spcAft>
            </a:pPr>
            <a:r>
              <a:rPr sz="950" b="1" i="0">
                <a:solidFill>
                  <a:srgbClr val="FFFFFF"/>
                </a:solidFill>
                <a:latin typeface="Segoe UI"/>
              </a:rPr>
              <a:t>API</a:t>
            </a:r>
          </a:p>
        </p:txBody>
      </p:sp>
      <p:cxnSp>
        <p:nvCxnSpPr>
          <p:cNvPr id="15" name="Connector 14"/>
          <p:cNvCxnSpPr/>
          <p:nvPr/>
        </p:nvCxnSpPr>
        <p:spPr>
          <a:xfrm>
            <a:off x="5178933" y="2450591"/>
            <a:ext cx="0" cy="3255264"/>
          </a:xfrm>
          <a:prstGeom prst="line">
            <a:avLst/>
          </a:prstGeom>
          <a:ln w="11430">
            <a:solidFill>
              <a:srgbClr val="E2E8F0"/>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59855" y="2029967"/>
            <a:ext cx="1705813" cy="420624"/>
          </a:xfrm>
          <a:prstGeom prst="roundRect">
            <a:avLst>
              <a:gd name="adj" fmla="val 10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159855" y="2029967"/>
            <a:ext cx="1705813" cy="420624"/>
          </a:xfrm>
          <a:prstGeom prst="rect">
            <a:avLst/>
          </a:prstGeom>
          <a:noFill/>
        </p:spPr>
        <p:txBody>
          <a:bodyPr wrap="square" lIns="0" rIns="0" tIns="0" bIns="0" anchor="ctr">
            <a:spAutoFit/>
          </a:bodyPr>
          <a:lstStyle/>
          <a:p>
            <a:pPr algn="ctr">
              <a:lnSpc>
                <a:spcPct val="125000"/>
              </a:lnSpc>
              <a:spcBef>
                <a:spcPts val="0"/>
              </a:spcBef>
              <a:spcAft>
                <a:spcPts val="0"/>
              </a:spcAft>
            </a:pPr>
            <a:r>
              <a:rPr sz="950" b="1" i="0">
                <a:solidFill>
                  <a:srgbClr val="0F172A"/>
                </a:solidFill>
                <a:latin typeface="Segoe UI"/>
              </a:rPr>
              <a:t>Payment Provider</a:t>
            </a:r>
          </a:p>
        </p:txBody>
      </p:sp>
      <p:cxnSp>
        <p:nvCxnSpPr>
          <p:cNvPr id="18" name="Connector 17"/>
          <p:cNvCxnSpPr/>
          <p:nvPr/>
        </p:nvCxnSpPr>
        <p:spPr>
          <a:xfrm>
            <a:off x="7012762" y="2450591"/>
            <a:ext cx="0" cy="3255264"/>
          </a:xfrm>
          <a:prstGeom prst="line">
            <a:avLst/>
          </a:prstGeom>
          <a:ln w="11430">
            <a:solidFill>
              <a:srgbClr val="E2E8F0"/>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93684" y="2029967"/>
            <a:ext cx="1705813" cy="420624"/>
          </a:xfrm>
          <a:prstGeom prst="roundRect">
            <a:avLst>
              <a:gd name="adj" fmla="val 10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93684" y="2029967"/>
            <a:ext cx="1705813" cy="420624"/>
          </a:xfrm>
          <a:prstGeom prst="rect">
            <a:avLst/>
          </a:prstGeom>
          <a:noFill/>
        </p:spPr>
        <p:txBody>
          <a:bodyPr wrap="square" lIns="0" rIns="0" tIns="0" bIns="0" anchor="ctr">
            <a:spAutoFit/>
          </a:bodyPr>
          <a:lstStyle/>
          <a:p>
            <a:pPr algn="ctr">
              <a:lnSpc>
                <a:spcPct val="125000"/>
              </a:lnSpc>
              <a:spcBef>
                <a:spcPts val="0"/>
              </a:spcBef>
              <a:spcAft>
                <a:spcPts val="0"/>
              </a:spcAft>
            </a:pPr>
            <a:r>
              <a:rPr sz="950" b="1" i="0">
                <a:solidFill>
                  <a:srgbClr val="0F172A"/>
                </a:solidFill>
                <a:latin typeface="Segoe UI"/>
              </a:rPr>
              <a:t>PostgreSQL</a:t>
            </a:r>
          </a:p>
        </p:txBody>
      </p:sp>
      <p:cxnSp>
        <p:nvCxnSpPr>
          <p:cNvPr id="21" name="Connector 20"/>
          <p:cNvCxnSpPr/>
          <p:nvPr/>
        </p:nvCxnSpPr>
        <p:spPr>
          <a:xfrm>
            <a:off x="8846591" y="2450591"/>
            <a:ext cx="0" cy="3255264"/>
          </a:xfrm>
          <a:prstGeom prst="line">
            <a:avLst/>
          </a:prstGeom>
          <a:ln w="11430">
            <a:solidFill>
              <a:srgbClr val="E2E8F0"/>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27514" y="2029967"/>
            <a:ext cx="1705813" cy="420624"/>
          </a:xfrm>
          <a:prstGeom prst="roundRect">
            <a:avLst>
              <a:gd name="adj" fmla="val 10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27514" y="2029967"/>
            <a:ext cx="1705813" cy="420624"/>
          </a:xfrm>
          <a:prstGeom prst="rect">
            <a:avLst/>
          </a:prstGeom>
          <a:noFill/>
        </p:spPr>
        <p:txBody>
          <a:bodyPr wrap="square" lIns="0" rIns="0" tIns="0" bIns="0" anchor="ctr">
            <a:spAutoFit/>
          </a:bodyPr>
          <a:lstStyle/>
          <a:p>
            <a:pPr algn="ctr">
              <a:lnSpc>
                <a:spcPct val="125000"/>
              </a:lnSpc>
              <a:spcBef>
                <a:spcPts val="0"/>
              </a:spcBef>
              <a:spcAft>
                <a:spcPts val="0"/>
              </a:spcAft>
            </a:pPr>
            <a:r>
              <a:rPr sz="950" b="1" i="0">
                <a:solidFill>
                  <a:srgbClr val="0F172A"/>
                </a:solidFill>
                <a:latin typeface="Segoe UI"/>
              </a:rPr>
              <a:t>Sepolia</a:t>
            </a:r>
          </a:p>
        </p:txBody>
      </p:sp>
      <p:cxnSp>
        <p:nvCxnSpPr>
          <p:cNvPr id="24" name="Connector 23"/>
          <p:cNvCxnSpPr/>
          <p:nvPr/>
        </p:nvCxnSpPr>
        <p:spPr>
          <a:xfrm>
            <a:off x="10680420" y="2450591"/>
            <a:ext cx="0" cy="3255264"/>
          </a:xfrm>
          <a:prstGeom prst="line">
            <a:avLst/>
          </a:prstGeom>
          <a:ln w="11430">
            <a:solidFill>
              <a:srgbClr val="E2E8F0"/>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511274" y="2706624"/>
            <a:ext cx="1833829"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511274" y="2487168"/>
            <a:ext cx="1833829"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0F172A"/>
                </a:solidFill>
                <a:latin typeface="Segoe UI"/>
              </a:rPr>
              <a:t>selects amount and method</a:t>
            </a:r>
          </a:p>
        </p:txBody>
      </p:sp>
      <p:cxnSp>
        <p:nvCxnSpPr>
          <p:cNvPr id="27" name="Connector 26"/>
          <p:cNvCxnSpPr/>
          <p:nvPr/>
        </p:nvCxnSpPr>
        <p:spPr>
          <a:xfrm>
            <a:off x="3345103" y="3001060"/>
            <a:ext cx="1833830"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45103" y="2781604"/>
            <a:ext cx="1833829"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0F172A"/>
                </a:solidFill>
                <a:latin typeface="Segoe UI"/>
              </a:rPr>
              <a:t>POST /payments/create-session</a:t>
            </a:r>
          </a:p>
        </p:txBody>
      </p:sp>
      <p:cxnSp>
        <p:nvCxnSpPr>
          <p:cNvPr id="29" name="Connector 28"/>
          <p:cNvCxnSpPr/>
          <p:nvPr/>
        </p:nvCxnSpPr>
        <p:spPr>
          <a:xfrm>
            <a:off x="5178933" y="3295497"/>
            <a:ext cx="1833829"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78933" y="3076041"/>
            <a:ext cx="1833829"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0F172A"/>
                </a:solidFill>
                <a:latin typeface="Segoe UI"/>
              </a:rPr>
              <a:t>create session</a:t>
            </a:r>
          </a:p>
        </p:txBody>
      </p:sp>
      <p:cxnSp>
        <p:nvCxnSpPr>
          <p:cNvPr id="31" name="Connector 30"/>
          <p:cNvCxnSpPr/>
          <p:nvPr/>
        </p:nvCxnSpPr>
        <p:spPr>
          <a:xfrm flipH="1">
            <a:off x="3345103" y="3589934"/>
            <a:ext cx="3667659" cy="0"/>
          </a:xfrm>
          <a:prstGeom prst="line">
            <a:avLst/>
          </a:prstGeom>
          <a:ln w="15240">
            <a:solidFill>
              <a:srgbClr val="94A3B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45103" y="3370478"/>
            <a:ext cx="3667658"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64748B"/>
                </a:solidFill>
                <a:latin typeface="Segoe UI"/>
              </a:rPr>
              <a:t>checkout page or STK push</a:t>
            </a:r>
          </a:p>
        </p:txBody>
      </p:sp>
      <p:cxnSp>
        <p:nvCxnSpPr>
          <p:cNvPr id="33" name="Connector 32"/>
          <p:cNvCxnSpPr/>
          <p:nvPr/>
        </p:nvCxnSpPr>
        <p:spPr>
          <a:xfrm flipH="1">
            <a:off x="5178933" y="3884371"/>
            <a:ext cx="1833829"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78933" y="3664915"/>
            <a:ext cx="1833829"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0F172A"/>
                </a:solidFill>
                <a:latin typeface="Segoe UI"/>
              </a:rPr>
              <a:t>verified callback</a:t>
            </a:r>
          </a:p>
        </p:txBody>
      </p:sp>
      <p:cxnSp>
        <p:nvCxnSpPr>
          <p:cNvPr id="35" name="Connector 34"/>
          <p:cNvCxnSpPr/>
          <p:nvPr/>
        </p:nvCxnSpPr>
        <p:spPr>
          <a:xfrm>
            <a:off x="5178933" y="4178808"/>
            <a:ext cx="3667658"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178933" y="3959352"/>
            <a:ext cx="3667658"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0F172A"/>
                </a:solidFill>
                <a:latin typeface="Segoe UI"/>
              </a:rPr>
              <a:t>atomic: donation + pending proof</a:t>
            </a:r>
          </a:p>
        </p:txBody>
      </p:sp>
      <p:cxnSp>
        <p:nvCxnSpPr>
          <p:cNvPr id="37" name="Connector 36"/>
          <p:cNvCxnSpPr/>
          <p:nvPr/>
        </p:nvCxnSpPr>
        <p:spPr>
          <a:xfrm flipH="1">
            <a:off x="3345103" y="4473244"/>
            <a:ext cx="1833830" cy="0"/>
          </a:xfrm>
          <a:prstGeom prst="line">
            <a:avLst/>
          </a:prstGeom>
          <a:ln w="15240">
            <a:solidFill>
              <a:srgbClr val="94A3B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345103" y="4253788"/>
            <a:ext cx="1833829"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64748B"/>
                </a:solidFill>
                <a:latin typeface="Segoe UI"/>
              </a:rPr>
              <a:t>200  donation created</a:t>
            </a:r>
          </a:p>
        </p:txBody>
      </p:sp>
      <p:cxnSp>
        <p:nvCxnSpPr>
          <p:cNvPr id="39" name="Connector 38"/>
          <p:cNvCxnSpPr/>
          <p:nvPr/>
        </p:nvCxnSpPr>
        <p:spPr>
          <a:xfrm>
            <a:off x="5178933" y="4767681"/>
            <a:ext cx="5501487" cy="0"/>
          </a:xfrm>
          <a:prstGeom prst="line">
            <a:avLst/>
          </a:prstGeom>
          <a:ln w="15240">
            <a:solidFill>
              <a:srgbClr val="14B8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178933" y="4548225"/>
            <a:ext cx="5501487"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1" i="0">
                <a:solidFill>
                  <a:srgbClr val="0F172A"/>
                </a:solidFill>
                <a:latin typeface="Segoe UI"/>
              </a:rPr>
              <a:t>registerDonation(hash)   not awaited</a:t>
            </a:r>
          </a:p>
        </p:txBody>
      </p:sp>
      <p:cxnSp>
        <p:nvCxnSpPr>
          <p:cNvPr id="41" name="Connector 40"/>
          <p:cNvCxnSpPr/>
          <p:nvPr/>
        </p:nvCxnSpPr>
        <p:spPr>
          <a:xfrm flipH="1">
            <a:off x="5178933" y="5062118"/>
            <a:ext cx="5501487" cy="0"/>
          </a:xfrm>
          <a:prstGeom prst="line">
            <a:avLst/>
          </a:prstGeom>
          <a:ln w="15240">
            <a:solidFill>
              <a:srgbClr val="94A3B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178933" y="4842662"/>
            <a:ext cx="5501487"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64748B"/>
                </a:solidFill>
                <a:latin typeface="Segoe UI"/>
              </a:rPr>
              <a:t>tx hash, block number</a:t>
            </a:r>
          </a:p>
        </p:txBody>
      </p:sp>
      <p:cxnSp>
        <p:nvCxnSpPr>
          <p:cNvPr id="43" name="Connector 42"/>
          <p:cNvCxnSpPr/>
          <p:nvPr/>
        </p:nvCxnSpPr>
        <p:spPr>
          <a:xfrm>
            <a:off x="5178933" y="5356555"/>
            <a:ext cx="3667658"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178933" y="5137099"/>
            <a:ext cx="3667658" cy="201168"/>
          </a:xfrm>
          <a:prstGeom prst="rect">
            <a:avLst/>
          </a:prstGeom>
          <a:noFill/>
        </p:spPr>
        <p:txBody>
          <a:bodyPr wrap="square" lIns="0" rIns="0" tIns="0" bIns="0" anchor="t">
            <a:spAutoFit/>
          </a:bodyPr>
          <a:lstStyle/>
          <a:p>
            <a:pPr algn="ctr">
              <a:lnSpc>
                <a:spcPct val="125000"/>
              </a:lnSpc>
              <a:spcBef>
                <a:spcPts val="0"/>
              </a:spcBef>
              <a:spcAft>
                <a:spcPts val="0"/>
              </a:spcAft>
            </a:pPr>
            <a:r>
              <a:rPr sz="850" b="0" i="0">
                <a:solidFill>
                  <a:srgbClr val="0F172A"/>
                </a:solidFill>
                <a:latin typeface="Segoe UI"/>
              </a:rPr>
              <a:t>confirm proof record</a:t>
            </a:r>
          </a:p>
        </p:txBody>
      </p:sp>
      <p:sp>
        <p:nvSpPr>
          <p:cNvPr id="45" name="Rounded Rectangle 44"/>
          <p:cNvSpPr/>
          <p:nvPr/>
        </p:nvSpPr>
        <p:spPr>
          <a:xfrm>
            <a:off x="658368" y="5742431"/>
            <a:ext cx="10874959" cy="56692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14400" y="5742431"/>
            <a:ext cx="10362895" cy="566928"/>
          </a:xfrm>
          <a:prstGeom prst="rect">
            <a:avLst/>
          </a:prstGeom>
          <a:noFill/>
        </p:spPr>
        <p:txBody>
          <a:bodyPr wrap="square" lIns="0" rIns="0" tIns="0" bIns="0" anchor="ctr">
            <a:spAutoFit/>
          </a:bodyPr>
          <a:lstStyle/>
          <a:p>
            <a:pPr algn="l">
              <a:lnSpc>
                <a:spcPct val="130000"/>
              </a:lnSpc>
              <a:spcBef>
                <a:spcPts val="0"/>
              </a:spcBef>
              <a:spcAft>
                <a:spcPts val="0"/>
              </a:spcAft>
            </a:pPr>
            <a:r>
              <a:rPr sz="1050" b="1" i="0">
                <a:solidFill>
                  <a:srgbClr val="134E4A"/>
                </a:solidFill>
                <a:latin typeface="Segoe UI"/>
              </a:rPr>
              <a:t>The donor's response does not wait for the blockchain.  </a:t>
            </a:r>
            <a:r>
              <a:rPr sz="1050" b="0" i="0">
                <a:solidFill>
                  <a:srgbClr val="134E4A"/>
                </a:solidFill>
                <a:latin typeface="Segoe UI"/>
              </a:rPr>
              <a:t>Step 7 returns as soon as the database commits. If the chain write in step 8 fails, the donation still exists and the proof reconciles on the next verification read. Blockchain failure must never lose donation data.</a:t>
            </a:r>
          </a:p>
        </p:txBody>
      </p:sp>
      <p:sp>
        <p:nvSpPr>
          <p:cNvPr id="47" name="Rectangle 46"/>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58368" y="6345936"/>
            <a:ext cx="6069744"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50" name="TextBox 49"/>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6.5.2</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Activity Diagram  ·  Disbursement Approval</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The control that stops any one person from both benefiting and releasing.</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2011680" y="2121408"/>
            <a:ext cx="1920240" cy="384048"/>
          </a:xfrm>
          <a:prstGeom prst="roundRect">
            <a:avLst>
              <a:gd name="adj" fmla="val 30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Initiate payout</a:t>
            </a:r>
          </a:p>
        </p:txBody>
      </p:sp>
      <p:sp>
        <p:nvSpPr>
          <p:cNvPr id="8" name="Rounded Rectangle 7"/>
          <p:cNvSpPr/>
          <p:nvPr/>
        </p:nvSpPr>
        <p:spPr>
          <a:xfrm>
            <a:off x="1737360" y="2596896"/>
            <a:ext cx="2468880" cy="548640"/>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Beneficiary verified?</a:t>
            </a:r>
          </a:p>
        </p:txBody>
      </p:sp>
      <p:sp>
        <p:nvSpPr>
          <p:cNvPr id="9" name="Rounded Rectangle 8"/>
          <p:cNvSpPr/>
          <p:nvPr/>
        </p:nvSpPr>
        <p:spPr>
          <a:xfrm>
            <a:off x="1737360" y="3291839"/>
            <a:ext cx="2468880" cy="548640"/>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Balance sufficient?</a:t>
            </a:r>
          </a:p>
        </p:txBody>
      </p:sp>
      <p:sp>
        <p:nvSpPr>
          <p:cNvPr id="10" name="Rounded Rectangle 9"/>
          <p:cNvSpPr/>
          <p:nvPr/>
        </p:nvSpPr>
        <p:spPr>
          <a:xfrm>
            <a:off x="1737360" y="3986783"/>
            <a:ext cx="2468880" cy="548640"/>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Cumulative total
still under threshold?</a:t>
            </a:r>
          </a:p>
        </p:txBody>
      </p:sp>
      <p:sp>
        <p:nvSpPr>
          <p:cNvPr id="11" name="Rounded Rectangle 10"/>
          <p:cNvSpPr/>
          <p:nvPr/>
        </p:nvSpPr>
        <p:spPr>
          <a:xfrm>
            <a:off x="1737360" y="4773168"/>
            <a:ext cx="2468880" cy="475488"/>
          </a:xfrm>
          <a:prstGeom prst="roundRect">
            <a:avLst>
              <a:gd name="adj" fmla="val 6000"/>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134E4A"/>
                </a:solidFill>
                <a:latin typeface="Segoe UI"/>
              </a:rPr>
              <a:t>Release instantly</a:t>
            </a:r>
          </a:p>
        </p:txBody>
      </p:sp>
      <p:sp>
        <p:nvSpPr>
          <p:cNvPr id="12" name="Rounded Rectangle 11"/>
          <p:cNvSpPr/>
          <p:nvPr/>
        </p:nvSpPr>
        <p:spPr>
          <a:xfrm>
            <a:off x="6675120" y="2121408"/>
            <a:ext cx="4855464" cy="157276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67728" y="2322575"/>
            <a:ext cx="4270248" cy="1188720"/>
          </a:xfrm>
          <a:prstGeom prst="rect">
            <a:avLst/>
          </a:prstGeom>
          <a:noFill/>
        </p:spPr>
        <p:txBody>
          <a:bodyPr wrap="square" lIns="0" rIns="0" tIns="0" bIns="0" anchor="t">
            <a:spAutoFit/>
          </a:bodyPr>
          <a:lstStyle/>
          <a:p>
            <a:pPr algn="l">
              <a:lnSpc>
                <a:spcPct val="125000"/>
              </a:lnSpc>
              <a:spcBef>
                <a:spcPts val="0"/>
              </a:spcBef>
              <a:spcAft>
                <a:spcPts val="900"/>
              </a:spcAft>
            </a:pPr>
            <a:r>
              <a:rPr sz="850" b="1" i="0" spc="120">
                <a:solidFill>
                  <a:srgbClr val="134E4A"/>
                </a:solidFill>
                <a:latin typeface="Segoe UI"/>
              </a:rPr>
              <a:t>THE RULE THIS DIAGRAM ENCODES</a:t>
            </a:r>
          </a:p>
          <a:p>
            <a:pPr algn="l">
              <a:lnSpc>
                <a:spcPct val="138000"/>
              </a:lnSpc>
              <a:spcBef>
                <a:spcPts val="0"/>
              </a:spcBef>
              <a:spcAft>
                <a:spcPts val="0"/>
              </a:spcAft>
            </a:pPr>
            <a:r>
              <a:rPr sz="1050" b="0" i="0">
                <a:solidFill>
                  <a:srgbClr val="134E4A"/>
                </a:solidFill>
                <a:latin typeface="Segoe UI"/>
              </a:rPr>
              <a:t>The 1,000,000 TZS threshold applies to a campaign's cumulative self-released total, not to any single payout. Payouts release instantly while under the cap. The one that would cross it, and every one after, needs an administrator who is not the initiator. Administrator-approved payouts never consume the allowance.</a:t>
            </a:r>
          </a:p>
        </p:txBody>
      </p:sp>
      <p:sp>
        <p:nvSpPr>
          <p:cNvPr id="14" name="Rounded Rectangle 13"/>
          <p:cNvSpPr/>
          <p:nvPr/>
        </p:nvSpPr>
        <p:spPr>
          <a:xfrm>
            <a:off x="6675120" y="3986783"/>
            <a:ext cx="2651760" cy="548640"/>
          </a:xfrm>
          <a:prstGeom prst="roundRect">
            <a:avLst>
              <a:gd name="adj" fmla="val 6000"/>
            </a:avLst>
          </a:prstGeom>
          <a:solidFill>
            <a:srgbClr val="134E4A"/>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FFFFFF"/>
                </a:solidFill>
                <a:latin typeface="Segoe UI"/>
              </a:rPr>
              <a:t>Await a second administrator
(never the initiator)</a:t>
            </a:r>
          </a:p>
        </p:txBody>
      </p:sp>
      <p:sp>
        <p:nvSpPr>
          <p:cNvPr id="15" name="Rounded Rectangle 14"/>
          <p:cNvSpPr/>
          <p:nvPr/>
        </p:nvSpPr>
        <p:spPr>
          <a:xfrm>
            <a:off x="6675120" y="4773168"/>
            <a:ext cx="2651760" cy="475488"/>
          </a:xfrm>
          <a:prstGeom prst="roundRect">
            <a:avLst>
              <a:gd name="adj" fmla="val 6000"/>
            </a:avLst>
          </a:prstGeom>
          <a:solidFill>
            <a:srgbClr val="FFFFFF"/>
          </a:solidFill>
          <a:ln w="11430">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Approved?</a:t>
            </a:r>
          </a:p>
        </p:txBody>
      </p:sp>
      <p:sp>
        <p:nvSpPr>
          <p:cNvPr id="16" name="Rounded Rectangle 15"/>
          <p:cNvSpPr/>
          <p:nvPr/>
        </p:nvSpPr>
        <p:spPr>
          <a:xfrm>
            <a:off x="9473184" y="4773168"/>
            <a:ext cx="1810512" cy="475488"/>
          </a:xfrm>
          <a:prstGeom prst="roundRect">
            <a:avLst>
              <a:gd name="adj" fmla="val 6000"/>
            </a:avLst>
          </a:prstGeom>
          <a:solidFill>
            <a:srgbClr val="FFFFFF"/>
          </a:solidFill>
          <a:ln w="1143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FF6B6B"/>
                </a:solidFill>
                <a:latin typeface="Segoe UI"/>
              </a:rPr>
              <a:t>Rejected
with a reason</a:t>
            </a:r>
          </a:p>
        </p:txBody>
      </p:sp>
      <p:sp>
        <p:nvSpPr>
          <p:cNvPr id="17" name="Rounded Rectangle 16"/>
          <p:cNvSpPr/>
          <p:nvPr/>
        </p:nvSpPr>
        <p:spPr>
          <a:xfrm>
            <a:off x="1737360" y="5431536"/>
            <a:ext cx="2468880" cy="475488"/>
          </a:xfrm>
          <a:prstGeom prst="roundRect">
            <a:avLst>
              <a:gd name="adj" fmla="val 6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Pay beneficiary</a:t>
            </a:r>
          </a:p>
        </p:txBody>
      </p:sp>
      <p:sp>
        <p:nvSpPr>
          <p:cNvPr id="18" name="Rounded Rectangle 17"/>
          <p:cNvSpPr/>
          <p:nvPr/>
        </p:nvSpPr>
        <p:spPr>
          <a:xfrm>
            <a:off x="6675120" y="5431536"/>
            <a:ext cx="2651760" cy="475488"/>
          </a:xfrm>
          <a:prstGeom prst="roundRect">
            <a:avLst>
              <a:gd name="adj" fmla="val 6000"/>
            </a:avLst>
          </a:prstGeom>
          <a:solidFill>
            <a:srgbClr val="0F766E"/>
          </a:solidFill>
          <a:ln w="1143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1000" b="1" i="0">
                <a:solidFill>
                  <a:srgbClr val="FFFFFF"/>
                </a:solidFill>
                <a:latin typeface="Segoe UI"/>
              </a:rPr>
              <a:t>Record blockchain proof</a:t>
            </a:r>
          </a:p>
        </p:txBody>
      </p:sp>
      <p:cxnSp>
        <p:nvCxnSpPr>
          <p:cNvPr id="19" name="Connector 18"/>
          <p:cNvCxnSpPr/>
          <p:nvPr/>
        </p:nvCxnSpPr>
        <p:spPr>
          <a:xfrm>
            <a:off x="2971800" y="2450591"/>
            <a:ext cx="0" cy="146305"/>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971800" y="3145535"/>
            <a:ext cx="0" cy="146304"/>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71800" y="3840479"/>
            <a:ext cx="0" cy="146304"/>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71800" y="4535424"/>
            <a:ext cx="0" cy="237744"/>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971800" y="5248656"/>
            <a:ext cx="0" cy="18288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06240" y="4261104"/>
            <a:ext cx="2468880" cy="0"/>
          </a:xfrm>
          <a:prstGeom prst="line">
            <a:avLst/>
          </a:prstGeom>
          <a:ln w="15240">
            <a:solidFill>
              <a:srgbClr val="134E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01000" y="4535424"/>
            <a:ext cx="0" cy="237744"/>
          </a:xfrm>
          <a:prstGeom prst="line">
            <a:avLst/>
          </a:prstGeom>
          <a:ln w="1397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326880" y="5010912"/>
            <a:ext cx="146304" cy="0"/>
          </a:xfrm>
          <a:prstGeom prst="line">
            <a:avLst/>
          </a:prstGeom>
          <a:ln w="15240">
            <a:solidFill>
              <a:srgbClr val="FF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001000" y="5248656"/>
            <a:ext cx="0" cy="18288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06240" y="5669279"/>
            <a:ext cx="2468880" cy="0"/>
          </a:xfrm>
          <a:prstGeom prst="line">
            <a:avLst/>
          </a:prstGeom>
          <a:ln w="1524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242816" y="4041648"/>
            <a:ext cx="457200" cy="182880"/>
          </a:xfrm>
          <a:prstGeom prst="rect">
            <a:avLst/>
          </a:prstGeom>
          <a:noFill/>
        </p:spPr>
        <p:txBody>
          <a:bodyPr wrap="square" lIns="0" rIns="0" tIns="0" bIns="0" anchor="t">
            <a:spAutoFit/>
          </a:bodyPr>
          <a:lstStyle/>
          <a:p>
            <a:pPr algn="l">
              <a:lnSpc>
                <a:spcPct val="125000"/>
              </a:lnSpc>
              <a:spcBef>
                <a:spcPts val="0"/>
              </a:spcBef>
              <a:spcAft>
                <a:spcPts val="0"/>
              </a:spcAft>
            </a:pPr>
            <a:r>
              <a:rPr sz="800" b="1" i="0">
                <a:solidFill>
                  <a:srgbClr val="64748B"/>
                </a:solidFill>
                <a:latin typeface="Segoe UI"/>
              </a:rPr>
              <a:t>no</a:t>
            </a:r>
          </a:p>
        </p:txBody>
      </p:sp>
      <p:sp>
        <p:nvSpPr>
          <p:cNvPr id="30" name="TextBox 29"/>
          <p:cNvSpPr txBox="1"/>
          <p:nvPr/>
        </p:nvSpPr>
        <p:spPr>
          <a:xfrm>
            <a:off x="3035808" y="4590288"/>
            <a:ext cx="457200" cy="182880"/>
          </a:xfrm>
          <a:prstGeom prst="rect">
            <a:avLst/>
          </a:prstGeom>
          <a:noFill/>
        </p:spPr>
        <p:txBody>
          <a:bodyPr wrap="square" lIns="0" rIns="0" tIns="0" bIns="0" anchor="t">
            <a:spAutoFit/>
          </a:bodyPr>
          <a:lstStyle/>
          <a:p>
            <a:pPr algn="l">
              <a:lnSpc>
                <a:spcPct val="125000"/>
              </a:lnSpc>
              <a:spcBef>
                <a:spcPts val="0"/>
              </a:spcBef>
              <a:spcAft>
                <a:spcPts val="0"/>
              </a:spcAft>
            </a:pPr>
            <a:r>
              <a:rPr sz="800" b="1" i="0">
                <a:solidFill>
                  <a:srgbClr val="64748B"/>
                </a:solidFill>
                <a:latin typeface="Segoe UI"/>
              </a:rPr>
              <a:t>yes</a:t>
            </a:r>
          </a:p>
        </p:txBody>
      </p:sp>
      <p:sp>
        <p:nvSpPr>
          <p:cNvPr id="31" name="TextBox 30"/>
          <p:cNvSpPr txBox="1"/>
          <p:nvPr/>
        </p:nvSpPr>
        <p:spPr>
          <a:xfrm>
            <a:off x="8065008" y="5285231"/>
            <a:ext cx="457200" cy="182880"/>
          </a:xfrm>
          <a:prstGeom prst="rect">
            <a:avLst/>
          </a:prstGeom>
          <a:noFill/>
        </p:spPr>
        <p:txBody>
          <a:bodyPr wrap="square" lIns="0" rIns="0" tIns="0" bIns="0" anchor="t">
            <a:spAutoFit/>
          </a:bodyPr>
          <a:lstStyle/>
          <a:p>
            <a:pPr algn="l">
              <a:lnSpc>
                <a:spcPct val="125000"/>
              </a:lnSpc>
              <a:spcBef>
                <a:spcPts val="0"/>
              </a:spcBef>
              <a:spcAft>
                <a:spcPts val="0"/>
              </a:spcAft>
            </a:pPr>
            <a:r>
              <a:rPr sz="800" b="1" i="0">
                <a:solidFill>
                  <a:srgbClr val="64748B"/>
                </a:solidFill>
                <a:latin typeface="Segoe UI"/>
              </a:rPr>
              <a:t>yes</a:t>
            </a:r>
          </a:p>
        </p:txBody>
      </p:sp>
      <p:sp>
        <p:nvSpPr>
          <p:cNvPr id="32" name="TextBox 31"/>
          <p:cNvSpPr txBox="1"/>
          <p:nvPr/>
        </p:nvSpPr>
        <p:spPr>
          <a:xfrm>
            <a:off x="9345167" y="4809744"/>
            <a:ext cx="457200" cy="182880"/>
          </a:xfrm>
          <a:prstGeom prst="rect">
            <a:avLst/>
          </a:prstGeom>
          <a:noFill/>
        </p:spPr>
        <p:txBody>
          <a:bodyPr wrap="square" lIns="0" rIns="0" tIns="0" bIns="0" anchor="t">
            <a:spAutoFit/>
          </a:bodyPr>
          <a:lstStyle/>
          <a:p>
            <a:pPr algn="l">
              <a:lnSpc>
                <a:spcPct val="125000"/>
              </a:lnSpc>
              <a:spcBef>
                <a:spcPts val="0"/>
              </a:spcBef>
              <a:spcAft>
                <a:spcPts val="0"/>
              </a:spcAft>
            </a:pPr>
            <a:r>
              <a:rPr sz="800" b="1" i="0">
                <a:solidFill>
                  <a:srgbClr val="64748B"/>
                </a:solidFill>
                <a:latin typeface="Segoe UI"/>
              </a:rPr>
              <a:t>no</a:t>
            </a:r>
          </a:p>
        </p:txBody>
      </p:sp>
      <p:sp>
        <p:nvSpPr>
          <p:cNvPr id="33" name="Rectangle 32"/>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6345936"/>
            <a:ext cx="6322650"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6" name="TextBox 35"/>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6.5.3</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Deployment Diagram</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Real hosts, real URLs. This is what is running right now.</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578608"/>
            <a:ext cx="2487168"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77824" y="2798063"/>
            <a:ext cx="2048256" cy="914400"/>
          </a:xfrm>
          <a:prstGeom prst="rect">
            <a:avLst/>
          </a:prstGeom>
          <a:noFill/>
        </p:spPr>
        <p:txBody>
          <a:bodyPr wrap="square" lIns="0" rIns="0" tIns="0" bIns="0" anchor="t">
            <a:spAutoFit/>
          </a:bodyPr>
          <a:lstStyle/>
          <a:p>
            <a:pPr algn="l">
              <a:lnSpc>
                <a:spcPct val="115000"/>
              </a:lnSpc>
              <a:spcBef>
                <a:spcPts val="0"/>
              </a:spcBef>
              <a:spcAft>
                <a:spcPts val="500"/>
              </a:spcAft>
            </a:pPr>
            <a:r>
              <a:rPr sz="1150" b="1" i="0">
                <a:solidFill>
                  <a:srgbClr val="0F172A"/>
                </a:solidFill>
                <a:latin typeface="Georgia"/>
              </a:rPr>
              <a:t>Client Device</a:t>
            </a:r>
          </a:p>
          <a:p>
            <a:pPr algn="l">
              <a:lnSpc>
                <a:spcPct val="125000"/>
              </a:lnSpc>
              <a:spcBef>
                <a:spcPts val="0"/>
              </a:spcBef>
              <a:spcAft>
                <a:spcPts val="600"/>
              </a:spcAft>
            </a:pPr>
            <a:r>
              <a:rPr sz="950" b="0" i="0">
                <a:solidFill>
                  <a:srgbClr val="64748B"/>
                </a:solidFill>
                <a:latin typeface="Segoe UI"/>
              </a:rPr>
              <a:t>Browser, any OS</a:t>
            </a:r>
          </a:p>
          <a:p>
            <a:pPr algn="l">
              <a:lnSpc>
                <a:spcPct val="125000"/>
              </a:lnSpc>
              <a:spcBef>
                <a:spcPts val="0"/>
              </a:spcBef>
              <a:spcAft>
                <a:spcPts val="0"/>
              </a:spcAft>
            </a:pPr>
            <a:r>
              <a:rPr sz="850" b="0" i="0">
                <a:solidFill>
                  <a:srgbClr val="0F766E"/>
                </a:solidFill>
                <a:latin typeface="Consolas"/>
              </a:rPr>
              <a:t>HTTPS</a:t>
            </a:r>
          </a:p>
        </p:txBody>
      </p:sp>
      <p:sp>
        <p:nvSpPr>
          <p:cNvPr id="9" name="Rounded Rectangle 8"/>
          <p:cNvSpPr/>
          <p:nvPr/>
        </p:nvSpPr>
        <p:spPr>
          <a:xfrm>
            <a:off x="3447287" y="2578608"/>
            <a:ext cx="2487168"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66744" y="2798063"/>
            <a:ext cx="2048256" cy="914400"/>
          </a:xfrm>
          <a:prstGeom prst="rect">
            <a:avLst/>
          </a:prstGeom>
          <a:noFill/>
        </p:spPr>
        <p:txBody>
          <a:bodyPr wrap="square" lIns="0" rIns="0" tIns="0" bIns="0" anchor="t">
            <a:spAutoFit/>
          </a:bodyPr>
          <a:lstStyle/>
          <a:p>
            <a:pPr algn="l">
              <a:lnSpc>
                <a:spcPct val="115000"/>
              </a:lnSpc>
              <a:spcBef>
                <a:spcPts val="0"/>
              </a:spcBef>
              <a:spcAft>
                <a:spcPts val="500"/>
              </a:spcAft>
            </a:pPr>
            <a:r>
              <a:rPr sz="1150" b="1" i="0">
                <a:solidFill>
                  <a:srgbClr val="0F172A"/>
                </a:solidFill>
                <a:latin typeface="Georgia"/>
              </a:rPr>
              <a:t>Vercel  ·  Edge CDN</a:t>
            </a:r>
          </a:p>
          <a:p>
            <a:pPr algn="l">
              <a:lnSpc>
                <a:spcPct val="125000"/>
              </a:lnSpc>
              <a:spcBef>
                <a:spcPts val="0"/>
              </a:spcBef>
              <a:spcAft>
                <a:spcPts val="600"/>
              </a:spcAft>
            </a:pPr>
            <a:r>
              <a:rPr sz="950" b="0" i="0">
                <a:solidFill>
                  <a:srgbClr val="64748B"/>
                </a:solidFill>
                <a:latin typeface="Segoe UI"/>
              </a:rPr>
              <a:t>React SPA, static bundle</a:t>
            </a:r>
          </a:p>
          <a:p>
            <a:pPr algn="l">
              <a:lnSpc>
                <a:spcPct val="125000"/>
              </a:lnSpc>
              <a:spcBef>
                <a:spcPts val="0"/>
              </a:spcBef>
              <a:spcAft>
                <a:spcPts val="0"/>
              </a:spcAft>
            </a:pPr>
            <a:r>
              <a:rPr sz="850" b="0" i="0">
                <a:solidFill>
                  <a:srgbClr val="0F766E"/>
                </a:solidFill>
                <a:latin typeface="Consolas"/>
              </a:rPr>
              <a:t>changia-hazel.vercel.app</a:t>
            </a:r>
          </a:p>
        </p:txBody>
      </p:sp>
      <p:sp>
        <p:nvSpPr>
          <p:cNvPr id="11" name="Rounded Rectangle 10"/>
          <p:cNvSpPr/>
          <p:nvPr/>
        </p:nvSpPr>
        <p:spPr>
          <a:xfrm>
            <a:off x="6236207" y="2578608"/>
            <a:ext cx="2487168" cy="1298448"/>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5664" y="2798063"/>
            <a:ext cx="2048256" cy="914400"/>
          </a:xfrm>
          <a:prstGeom prst="rect">
            <a:avLst/>
          </a:prstGeom>
          <a:noFill/>
        </p:spPr>
        <p:txBody>
          <a:bodyPr wrap="square" lIns="0" rIns="0" tIns="0" bIns="0" anchor="t">
            <a:spAutoFit/>
          </a:bodyPr>
          <a:lstStyle/>
          <a:p>
            <a:pPr algn="l">
              <a:lnSpc>
                <a:spcPct val="115000"/>
              </a:lnSpc>
              <a:spcBef>
                <a:spcPts val="0"/>
              </a:spcBef>
              <a:spcAft>
                <a:spcPts val="500"/>
              </a:spcAft>
            </a:pPr>
            <a:r>
              <a:rPr sz="1150" b="1" i="0">
                <a:solidFill>
                  <a:srgbClr val="FFFFFF"/>
                </a:solidFill>
                <a:latin typeface="Georgia"/>
              </a:rPr>
              <a:t>Render  ·  Node Service</a:t>
            </a:r>
          </a:p>
          <a:p>
            <a:pPr algn="l">
              <a:lnSpc>
                <a:spcPct val="125000"/>
              </a:lnSpc>
              <a:spcBef>
                <a:spcPts val="0"/>
              </a:spcBef>
              <a:spcAft>
                <a:spcPts val="600"/>
              </a:spcAft>
            </a:pPr>
            <a:r>
              <a:rPr sz="950" b="0" i="0">
                <a:solidFill>
                  <a:srgbClr val="A7D8D2"/>
                </a:solidFill>
                <a:latin typeface="Segoe UI"/>
              </a:rPr>
              <a:t>Express API, TypeScript</a:t>
            </a:r>
          </a:p>
          <a:p>
            <a:pPr algn="l">
              <a:lnSpc>
                <a:spcPct val="125000"/>
              </a:lnSpc>
              <a:spcBef>
                <a:spcPts val="0"/>
              </a:spcBef>
              <a:spcAft>
                <a:spcPts val="0"/>
              </a:spcAft>
            </a:pPr>
            <a:r>
              <a:rPr sz="850" b="0" i="0">
                <a:solidFill>
                  <a:srgbClr val="5EEAD4"/>
                </a:solidFill>
                <a:latin typeface="Consolas"/>
              </a:rPr>
              <a:t>changia-api.onrender.com</a:t>
            </a:r>
          </a:p>
        </p:txBody>
      </p:sp>
      <p:sp>
        <p:nvSpPr>
          <p:cNvPr id="13" name="Rounded Rectangle 12"/>
          <p:cNvSpPr/>
          <p:nvPr/>
        </p:nvSpPr>
        <p:spPr>
          <a:xfrm>
            <a:off x="9025128" y="2578608"/>
            <a:ext cx="2487168" cy="12984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244584" y="2798063"/>
            <a:ext cx="2048256" cy="914400"/>
          </a:xfrm>
          <a:prstGeom prst="rect">
            <a:avLst/>
          </a:prstGeom>
          <a:noFill/>
        </p:spPr>
        <p:txBody>
          <a:bodyPr wrap="square" lIns="0" rIns="0" tIns="0" bIns="0" anchor="t">
            <a:spAutoFit/>
          </a:bodyPr>
          <a:lstStyle/>
          <a:p>
            <a:pPr algn="l">
              <a:lnSpc>
                <a:spcPct val="115000"/>
              </a:lnSpc>
              <a:spcBef>
                <a:spcPts val="0"/>
              </a:spcBef>
              <a:spcAft>
                <a:spcPts val="500"/>
              </a:spcAft>
            </a:pPr>
            <a:r>
              <a:rPr sz="1150" b="1" i="0">
                <a:solidFill>
                  <a:srgbClr val="0F172A"/>
                </a:solidFill>
                <a:latin typeface="Georgia"/>
              </a:rPr>
              <a:t>Neon  ·  PostgreSQL</a:t>
            </a:r>
          </a:p>
          <a:p>
            <a:pPr algn="l">
              <a:lnSpc>
                <a:spcPct val="125000"/>
              </a:lnSpc>
              <a:spcBef>
                <a:spcPts val="0"/>
              </a:spcBef>
              <a:spcAft>
                <a:spcPts val="600"/>
              </a:spcAft>
            </a:pPr>
            <a:r>
              <a:rPr sz="950" b="0" i="0">
                <a:solidFill>
                  <a:srgbClr val="64748B"/>
                </a:solidFill>
                <a:latin typeface="Segoe UI"/>
              </a:rPr>
              <a:t>14 tables, pooled</a:t>
            </a:r>
          </a:p>
          <a:p>
            <a:pPr algn="l">
              <a:lnSpc>
                <a:spcPct val="125000"/>
              </a:lnSpc>
              <a:spcBef>
                <a:spcPts val="0"/>
              </a:spcBef>
              <a:spcAft>
                <a:spcPts val="0"/>
              </a:spcAft>
            </a:pPr>
            <a:r>
              <a:rPr sz="850" b="0" i="0">
                <a:solidFill>
                  <a:srgbClr val="0F766E"/>
                </a:solidFill>
                <a:latin typeface="Consolas"/>
              </a:rPr>
              <a:t>managed, serverless</a:t>
            </a:r>
          </a:p>
        </p:txBody>
      </p:sp>
      <p:cxnSp>
        <p:nvCxnSpPr>
          <p:cNvPr id="15" name="Connector 14"/>
          <p:cNvCxnSpPr/>
          <p:nvPr/>
        </p:nvCxnSpPr>
        <p:spPr>
          <a:xfrm>
            <a:off x="3172968" y="3227832"/>
            <a:ext cx="246888" cy="0"/>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80944" y="3950208"/>
            <a:ext cx="621792" cy="182880"/>
          </a:xfrm>
          <a:prstGeom prst="rect">
            <a:avLst/>
          </a:prstGeom>
          <a:noFill/>
        </p:spPr>
        <p:txBody>
          <a:bodyPr wrap="square" lIns="0" rIns="0" tIns="0" bIns="0" anchor="t">
            <a:spAutoFit/>
          </a:bodyPr>
          <a:lstStyle/>
          <a:p>
            <a:pPr algn="ctr">
              <a:lnSpc>
                <a:spcPct val="125000"/>
              </a:lnSpc>
              <a:spcBef>
                <a:spcPts val="0"/>
              </a:spcBef>
              <a:spcAft>
                <a:spcPts val="0"/>
              </a:spcAft>
            </a:pPr>
            <a:r>
              <a:rPr sz="750" b="0" i="0" spc="40">
                <a:solidFill>
                  <a:srgbClr val="64748B"/>
                </a:solidFill>
                <a:latin typeface="Segoe UI"/>
              </a:rPr>
              <a:t>HTTPS</a:t>
            </a:r>
          </a:p>
        </p:txBody>
      </p:sp>
      <p:cxnSp>
        <p:nvCxnSpPr>
          <p:cNvPr id="17" name="Connector 16"/>
          <p:cNvCxnSpPr/>
          <p:nvPr/>
        </p:nvCxnSpPr>
        <p:spPr>
          <a:xfrm>
            <a:off x="5961888" y="3227832"/>
            <a:ext cx="246888" cy="0"/>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9864" y="3950208"/>
            <a:ext cx="621792" cy="182880"/>
          </a:xfrm>
          <a:prstGeom prst="rect">
            <a:avLst/>
          </a:prstGeom>
          <a:noFill/>
        </p:spPr>
        <p:txBody>
          <a:bodyPr wrap="square" lIns="0" rIns="0" tIns="0" bIns="0" anchor="t">
            <a:spAutoFit/>
          </a:bodyPr>
          <a:lstStyle/>
          <a:p>
            <a:pPr algn="ctr">
              <a:lnSpc>
                <a:spcPct val="125000"/>
              </a:lnSpc>
              <a:spcBef>
                <a:spcPts val="0"/>
              </a:spcBef>
              <a:spcAft>
                <a:spcPts val="0"/>
              </a:spcAft>
            </a:pPr>
            <a:r>
              <a:rPr sz="750" b="0" i="0" spc="40">
                <a:solidFill>
                  <a:srgbClr val="64748B"/>
                </a:solidFill>
                <a:latin typeface="Segoe UI"/>
              </a:rPr>
              <a:t>REST</a:t>
            </a:r>
          </a:p>
        </p:txBody>
      </p:sp>
      <p:cxnSp>
        <p:nvCxnSpPr>
          <p:cNvPr id="19" name="Connector 18"/>
          <p:cNvCxnSpPr/>
          <p:nvPr/>
        </p:nvCxnSpPr>
        <p:spPr>
          <a:xfrm>
            <a:off x="8750807" y="3227832"/>
            <a:ext cx="246889" cy="0"/>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58784" y="3950208"/>
            <a:ext cx="621792" cy="182880"/>
          </a:xfrm>
          <a:prstGeom prst="rect">
            <a:avLst/>
          </a:prstGeom>
          <a:noFill/>
        </p:spPr>
        <p:txBody>
          <a:bodyPr wrap="square" lIns="0" rIns="0" tIns="0" bIns="0" anchor="t">
            <a:spAutoFit/>
          </a:bodyPr>
          <a:lstStyle/>
          <a:p>
            <a:pPr algn="ctr">
              <a:lnSpc>
                <a:spcPct val="125000"/>
              </a:lnSpc>
              <a:spcBef>
                <a:spcPts val="0"/>
              </a:spcBef>
              <a:spcAft>
                <a:spcPts val="0"/>
              </a:spcAft>
            </a:pPr>
            <a:r>
              <a:rPr sz="750" b="0" i="0" spc="40">
                <a:solidFill>
                  <a:srgbClr val="64748B"/>
                </a:solidFill>
                <a:latin typeface="Segoe UI"/>
              </a:rPr>
              <a:t>SQL</a:t>
            </a:r>
          </a:p>
        </p:txBody>
      </p:sp>
      <p:sp>
        <p:nvSpPr>
          <p:cNvPr id="21" name="Rounded Rectangle 20"/>
          <p:cNvSpPr/>
          <p:nvPr/>
        </p:nvSpPr>
        <p:spPr>
          <a:xfrm>
            <a:off x="658368" y="4462272"/>
            <a:ext cx="5294376" cy="1188720"/>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50976" y="4681728"/>
            <a:ext cx="4709160" cy="822960"/>
          </a:xfrm>
          <a:prstGeom prst="rect">
            <a:avLst/>
          </a:prstGeom>
          <a:noFill/>
        </p:spPr>
        <p:txBody>
          <a:bodyPr wrap="square" lIns="0" rIns="0" tIns="0" bIns="0" anchor="t">
            <a:spAutoFit/>
          </a:bodyPr>
          <a:lstStyle/>
          <a:p>
            <a:pPr algn="l">
              <a:lnSpc>
                <a:spcPct val="125000"/>
              </a:lnSpc>
              <a:spcBef>
                <a:spcPts val="0"/>
              </a:spcBef>
              <a:spcAft>
                <a:spcPts val="900"/>
              </a:spcAft>
            </a:pPr>
            <a:r>
              <a:rPr sz="850" b="1" i="0" spc="120">
                <a:solidFill>
                  <a:srgbClr val="0F766E"/>
                </a:solidFill>
                <a:latin typeface="Segoe UI"/>
              </a:rPr>
              <a:t>HOW A CHANGE REACHES PRODUCTION</a:t>
            </a:r>
          </a:p>
          <a:p>
            <a:pPr algn="l">
              <a:lnSpc>
                <a:spcPct val="140000"/>
              </a:lnSpc>
              <a:spcBef>
                <a:spcPts val="0"/>
              </a:spcBef>
              <a:spcAft>
                <a:spcPts val="0"/>
              </a:spcAft>
            </a:pPr>
            <a:r>
              <a:rPr sz="1050" b="0" i="0">
                <a:solidFill>
                  <a:srgbClr val="0F172A"/>
                </a:solidFill>
                <a:latin typeface="Segoe UI"/>
              </a:rPr>
              <a:t>A push to the main branch triggers both hosts. Vercel rebuilds and republishes the client, Render rebuilds and restarts the API. The contract address and database URL are environment configuration, never code.</a:t>
            </a:r>
          </a:p>
        </p:txBody>
      </p:sp>
      <p:sp>
        <p:nvSpPr>
          <p:cNvPr id="23" name="Rounded Rectangle 22"/>
          <p:cNvSpPr/>
          <p:nvPr/>
        </p:nvSpPr>
        <p:spPr>
          <a:xfrm>
            <a:off x="6236207" y="4462272"/>
            <a:ext cx="2487168" cy="1188720"/>
          </a:xfrm>
          <a:prstGeom prst="roundRect">
            <a:avLst>
              <a:gd name="adj" fmla="val 4500"/>
            </a:avLst>
          </a:prstGeom>
          <a:solidFill>
            <a:srgbClr val="0F766E"/>
          </a:solidFill>
          <a:ln w="952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55664" y="4663440"/>
            <a:ext cx="2048256" cy="822960"/>
          </a:xfrm>
          <a:prstGeom prst="rect">
            <a:avLst/>
          </a:prstGeom>
          <a:noFill/>
        </p:spPr>
        <p:txBody>
          <a:bodyPr wrap="square" lIns="0" rIns="0" tIns="0" bIns="0" anchor="t">
            <a:spAutoFit/>
          </a:bodyPr>
          <a:lstStyle/>
          <a:p>
            <a:pPr algn="l">
              <a:lnSpc>
                <a:spcPct val="125000"/>
              </a:lnSpc>
              <a:spcBef>
                <a:spcPts val="0"/>
              </a:spcBef>
              <a:spcAft>
                <a:spcPts val="500"/>
              </a:spcAft>
            </a:pPr>
            <a:r>
              <a:rPr sz="1150" b="1" i="0">
                <a:solidFill>
                  <a:srgbClr val="FFFFFF"/>
                </a:solidFill>
                <a:latin typeface="Georgia"/>
              </a:rPr>
              <a:t>Ethereum Sepolia</a:t>
            </a:r>
          </a:p>
          <a:p>
            <a:pPr algn="l">
              <a:lnSpc>
                <a:spcPct val="125000"/>
              </a:lnSpc>
              <a:spcBef>
                <a:spcPts val="0"/>
              </a:spcBef>
              <a:spcAft>
                <a:spcPts val="500"/>
              </a:spcAft>
            </a:pPr>
            <a:r>
              <a:rPr sz="850" b="0" i="0">
                <a:solidFill>
                  <a:srgbClr val="FFFFFF"/>
                </a:solidFill>
                <a:latin typeface="Consolas"/>
              </a:rPr>
              <a:t>TransparencyRegistry.sol</a:t>
            </a:r>
          </a:p>
          <a:p>
            <a:pPr algn="l">
              <a:lnSpc>
                <a:spcPct val="125000"/>
              </a:lnSpc>
              <a:spcBef>
                <a:spcPts val="0"/>
              </a:spcBef>
              <a:spcAft>
                <a:spcPts val="0"/>
              </a:spcAft>
            </a:pPr>
            <a:r>
              <a:rPr sz="750" b="0" i="0">
                <a:solidFill>
                  <a:srgbClr val="A7D8D2"/>
                </a:solidFill>
                <a:latin typeface="Consolas"/>
              </a:rPr>
              <a:t>0x353b6cdaD14774412B5C76…</a:t>
            </a:r>
          </a:p>
        </p:txBody>
      </p:sp>
      <p:cxnSp>
        <p:nvCxnSpPr>
          <p:cNvPr id="25" name="Connector 24"/>
          <p:cNvCxnSpPr/>
          <p:nvPr/>
        </p:nvCxnSpPr>
        <p:spPr>
          <a:xfrm>
            <a:off x="7479792" y="3877056"/>
            <a:ext cx="0" cy="585216"/>
          </a:xfrm>
          <a:prstGeom prst="line">
            <a:avLst/>
          </a:prstGeom>
          <a:ln w="1651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52944" y="4023360"/>
            <a:ext cx="1828800" cy="182880"/>
          </a:xfrm>
          <a:prstGeom prst="rect">
            <a:avLst/>
          </a:prstGeom>
          <a:noFill/>
        </p:spPr>
        <p:txBody>
          <a:bodyPr wrap="square" lIns="0" rIns="0" tIns="0" bIns="0" anchor="t">
            <a:spAutoFit/>
          </a:bodyPr>
          <a:lstStyle/>
          <a:p>
            <a:pPr algn="l">
              <a:lnSpc>
                <a:spcPct val="125000"/>
              </a:lnSpc>
              <a:spcBef>
                <a:spcPts val="0"/>
              </a:spcBef>
              <a:spcAft>
                <a:spcPts val="0"/>
              </a:spcAft>
            </a:pPr>
            <a:r>
              <a:rPr sz="750" b="0" i="0">
                <a:solidFill>
                  <a:srgbClr val="64748B"/>
                </a:solidFill>
                <a:latin typeface="Segoe UI"/>
              </a:rPr>
              <a:t>JSON-RPC, signed tx</a:t>
            </a:r>
          </a:p>
        </p:txBody>
      </p:sp>
      <p:sp>
        <p:nvSpPr>
          <p:cNvPr id="27" name="Rounded Rectangle 26"/>
          <p:cNvSpPr/>
          <p:nvPr/>
        </p:nvSpPr>
        <p:spPr>
          <a:xfrm>
            <a:off x="9025128" y="4462272"/>
            <a:ext cx="2487168" cy="1188720"/>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244584" y="4663440"/>
            <a:ext cx="2048256" cy="822960"/>
          </a:xfrm>
          <a:prstGeom prst="rect">
            <a:avLst/>
          </a:prstGeom>
          <a:noFill/>
        </p:spPr>
        <p:txBody>
          <a:bodyPr wrap="square" lIns="0" rIns="0" tIns="0" bIns="0" anchor="t">
            <a:spAutoFit/>
          </a:bodyPr>
          <a:lstStyle/>
          <a:p>
            <a:pPr algn="l">
              <a:lnSpc>
                <a:spcPct val="125000"/>
              </a:lnSpc>
              <a:spcBef>
                <a:spcPts val="0"/>
              </a:spcBef>
              <a:spcAft>
                <a:spcPts val="500"/>
              </a:spcAft>
            </a:pPr>
            <a:r>
              <a:rPr sz="1150" b="1" i="0">
                <a:solidFill>
                  <a:srgbClr val="0F172A"/>
                </a:solidFill>
                <a:latin typeface="Georgia"/>
              </a:rPr>
              <a:t>Payment Gateway</a:t>
            </a:r>
          </a:p>
          <a:p>
            <a:pPr algn="l">
              <a:lnSpc>
                <a:spcPct val="130000"/>
              </a:lnSpc>
              <a:spcBef>
                <a:spcPts val="0"/>
              </a:spcBef>
              <a:spcAft>
                <a:spcPts val="0"/>
              </a:spcAft>
            </a:pPr>
            <a:r>
              <a:rPr sz="900" b="0" i="0">
                <a:solidFill>
                  <a:srgbClr val="64748B"/>
                </a:solidFill>
                <a:latin typeface="Segoe UI"/>
              </a:rPr>
              <a:t>AzamPay adapter, mock provider</a:t>
            </a:r>
          </a:p>
        </p:txBody>
      </p:sp>
      <p:cxnSp>
        <p:nvCxnSpPr>
          <p:cNvPr id="29" name="Connector 28"/>
          <p:cNvCxnSpPr/>
          <p:nvPr/>
        </p:nvCxnSpPr>
        <p:spPr>
          <a:xfrm>
            <a:off x="8723376" y="3584448"/>
            <a:ext cx="438912" cy="877824"/>
          </a:xfrm>
          <a:prstGeom prst="line">
            <a:avLst/>
          </a:prstGeom>
          <a:ln w="15240">
            <a:solidFill>
              <a:srgbClr val="94A3B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6345936"/>
            <a:ext cx="6575556"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3" name="TextBox 32"/>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6.7</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User Interface Design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One design system across four consoles. Institutional, not charitable-cliché.</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5300319" cy="188366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267711"/>
            <a:ext cx="4751679" cy="274320"/>
          </a:xfrm>
          <a:prstGeom prst="rect">
            <a:avLst/>
          </a:prstGeom>
          <a:noFill/>
        </p:spPr>
        <p:txBody>
          <a:bodyPr wrap="square" lIns="0" rIns="0" tIns="0" bIns="0" anchor="t">
            <a:spAutoFit/>
          </a:bodyPr>
          <a:lstStyle/>
          <a:p>
            <a:pPr algn="l">
              <a:lnSpc>
                <a:spcPct val="125000"/>
              </a:lnSpc>
              <a:spcBef>
                <a:spcPts val="0"/>
              </a:spcBef>
              <a:spcAft>
                <a:spcPts val="0"/>
              </a:spcAft>
            </a:pPr>
            <a:r>
              <a:rPr sz="850" b="1" i="0" spc="120">
                <a:solidFill>
                  <a:srgbClr val="0F766E"/>
                </a:solidFill>
                <a:latin typeface="Segoe UI"/>
              </a:rPr>
              <a:t>DESIGN TOKENS</a:t>
            </a:r>
          </a:p>
        </p:txBody>
      </p:sp>
      <p:sp>
        <p:nvSpPr>
          <p:cNvPr id="9" name="Rounded Rectangle 8"/>
          <p:cNvSpPr/>
          <p:nvPr/>
        </p:nvSpPr>
        <p:spPr>
          <a:xfrm>
            <a:off x="932688" y="2633472"/>
            <a:ext cx="274320" cy="219456"/>
          </a:xfrm>
          <a:prstGeom prst="roundRect">
            <a:avLst>
              <a:gd name="adj" fmla="val 2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316736" y="2615184"/>
            <a:ext cx="4294479" cy="256032"/>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0F172A"/>
                </a:solidFill>
                <a:latin typeface="Consolas"/>
              </a:rPr>
              <a:t>Harbor Teal  #0f766e</a:t>
            </a:r>
          </a:p>
        </p:txBody>
      </p:sp>
      <p:sp>
        <p:nvSpPr>
          <p:cNvPr id="11" name="Rounded Rectangle 10"/>
          <p:cNvSpPr/>
          <p:nvPr/>
        </p:nvSpPr>
        <p:spPr>
          <a:xfrm>
            <a:off x="932688" y="2944368"/>
            <a:ext cx="274320" cy="219456"/>
          </a:xfrm>
          <a:prstGeom prst="roundRect">
            <a:avLst>
              <a:gd name="adj" fmla="val 2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316736" y="2926079"/>
            <a:ext cx="4294479" cy="256032"/>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0F172A"/>
                </a:solidFill>
                <a:latin typeface="Consolas"/>
              </a:rPr>
              <a:t>Ink Slate  #0f172a</a:t>
            </a:r>
          </a:p>
        </p:txBody>
      </p:sp>
      <p:sp>
        <p:nvSpPr>
          <p:cNvPr id="13" name="Rounded Rectangle 12"/>
          <p:cNvSpPr/>
          <p:nvPr/>
        </p:nvSpPr>
        <p:spPr>
          <a:xfrm>
            <a:off x="932688" y="3255264"/>
            <a:ext cx="274320" cy="219456"/>
          </a:xfrm>
          <a:prstGeom prst="roundRect">
            <a:avLst>
              <a:gd name="adj" fmla="val 2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316736" y="3236976"/>
            <a:ext cx="4294479" cy="256032"/>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0F172A"/>
                </a:solidFill>
                <a:latin typeface="Consolas"/>
              </a:rPr>
              <a:t>Slate Mist  #64748b</a:t>
            </a:r>
          </a:p>
        </p:txBody>
      </p:sp>
      <p:sp>
        <p:nvSpPr>
          <p:cNvPr id="15" name="Rounded Rectangle 14"/>
          <p:cNvSpPr/>
          <p:nvPr/>
        </p:nvSpPr>
        <p:spPr>
          <a:xfrm>
            <a:off x="932688" y="3566160"/>
            <a:ext cx="274320" cy="219456"/>
          </a:xfrm>
          <a:prstGeom prst="roundRect">
            <a:avLst>
              <a:gd name="adj" fmla="val 2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16736" y="3547872"/>
            <a:ext cx="4294479" cy="256032"/>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0F172A"/>
                </a:solidFill>
                <a:latin typeface="Consolas"/>
              </a:rPr>
              <a:t>Teal Tint  #ccfbf1</a:t>
            </a:r>
          </a:p>
        </p:txBody>
      </p:sp>
      <p:sp>
        <p:nvSpPr>
          <p:cNvPr id="17" name="Rounded Rectangle 16"/>
          <p:cNvSpPr/>
          <p:nvPr/>
        </p:nvSpPr>
        <p:spPr>
          <a:xfrm>
            <a:off x="6233007" y="2029967"/>
            <a:ext cx="5300319" cy="188366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07327" y="2267711"/>
            <a:ext cx="4751679" cy="1463040"/>
          </a:xfrm>
          <a:prstGeom prst="rect">
            <a:avLst/>
          </a:prstGeom>
          <a:noFill/>
        </p:spPr>
        <p:txBody>
          <a:bodyPr wrap="square" lIns="0" rIns="0" tIns="0" bIns="0" anchor="t">
            <a:spAutoFit/>
          </a:bodyPr>
          <a:lstStyle/>
          <a:p>
            <a:pPr algn="l">
              <a:lnSpc>
                <a:spcPct val="125000"/>
              </a:lnSpc>
              <a:spcBef>
                <a:spcPts val="0"/>
              </a:spcBef>
              <a:spcAft>
                <a:spcPts val="1000"/>
              </a:spcAft>
            </a:pPr>
            <a:r>
              <a:rPr sz="850" b="1" i="0" spc="120">
                <a:solidFill>
                  <a:srgbClr val="0F766E"/>
                </a:solidFill>
                <a:latin typeface="Segoe UI"/>
              </a:rPr>
              <a:t>TYPOGRAPHY AND BEHAVIOUR</a:t>
            </a:r>
          </a:p>
          <a:p>
            <a:pPr algn="l" marL="160020" indent="-160020">
              <a:lnSpc>
                <a:spcPct val="130000"/>
              </a:lnSpc>
              <a:spcBef>
                <a:spcPts val="0"/>
              </a:spcBef>
              <a:spcAft>
                <a:spcPts val="600"/>
              </a:spcAft>
              <a:buClr>
                <a:srgbClr val="0F766E"/>
              </a:buClr>
              <a:buSzPts val="1050"/>
              <a:buFont typeface="Segoe UI"/>
              <a:buChar char="•"/>
            </a:pPr>
            <a:r>
              <a:rPr sz="1050" b="0" i="0">
                <a:solidFill>
                  <a:srgbClr val="0F172A"/>
                </a:solidFill>
                <a:latin typeface="Segoe UI"/>
              </a:rPr>
              <a:t>Source Serif 4 for display, Inter for working text</a:t>
            </a:r>
          </a:p>
          <a:p>
            <a:pPr algn="l" marL="160020" indent="-160020">
              <a:lnSpc>
                <a:spcPct val="130000"/>
              </a:lnSpc>
              <a:spcBef>
                <a:spcPts val="0"/>
              </a:spcBef>
              <a:spcAft>
                <a:spcPts val="600"/>
              </a:spcAft>
              <a:buClr>
                <a:srgbClr val="0F766E"/>
              </a:buClr>
              <a:buSzPts val="1050"/>
              <a:buFont typeface="Segoe UI"/>
              <a:buChar char="•"/>
            </a:pPr>
            <a:r>
              <a:rPr sz="1050" b="0" i="0">
                <a:solidFill>
                  <a:srgbClr val="0F172A"/>
                </a:solidFill>
                <a:latin typeface="Segoe UI"/>
              </a:rPr>
              <a:t>Light and dark themes, no flash on first paint</a:t>
            </a:r>
          </a:p>
          <a:p>
            <a:pPr algn="l" marL="160020" indent="-160020">
              <a:lnSpc>
                <a:spcPct val="130000"/>
              </a:lnSpc>
              <a:spcBef>
                <a:spcPts val="0"/>
              </a:spcBef>
              <a:spcAft>
                <a:spcPts val="600"/>
              </a:spcAft>
              <a:buClr>
                <a:srgbClr val="0F766E"/>
              </a:buClr>
              <a:buSzPts val="1050"/>
              <a:buFont typeface="Segoe UI"/>
              <a:buChar char="•"/>
            </a:pPr>
            <a:r>
              <a:rPr sz="1050" b="0" i="0">
                <a:solidFill>
                  <a:srgbClr val="0F172A"/>
                </a:solidFill>
                <a:latin typeface="Segoe UI"/>
              </a:rPr>
              <a:t>Motion respects prefers-reduced-motion throughout</a:t>
            </a:r>
          </a:p>
          <a:p>
            <a:pPr algn="l" marL="160020" indent="-160020">
              <a:lnSpc>
                <a:spcPct val="130000"/>
              </a:lnSpc>
              <a:spcBef>
                <a:spcPts val="0"/>
              </a:spcBef>
              <a:spcAft>
                <a:spcPts val="0"/>
              </a:spcAft>
              <a:buClr>
                <a:srgbClr val="0F766E"/>
              </a:buClr>
              <a:buSzPts val="1050"/>
              <a:buFont typeface="Segoe UI"/>
              <a:buChar char="•"/>
            </a:pPr>
            <a:r>
              <a:rPr sz="1050" b="0" i="0">
                <a:solidFill>
                  <a:srgbClr val="0F172A"/>
                </a:solidFill>
                <a:latin typeface="Segoe UI"/>
              </a:rPr>
              <a:t>Every state designed: loading, empty, error, success</a:t>
            </a:r>
          </a:p>
        </p:txBody>
      </p:sp>
      <p:sp>
        <p:nvSpPr>
          <p:cNvPr id="19" name="Rounded Rectangle 18"/>
          <p:cNvSpPr/>
          <p:nvPr/>
        </p:nvSpPr>
        <p:spPr>
          <a:xfrm>
            <a:off x="658368" y="4169663"/>
            <a:ext cx="2540431" cy="12435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4169663"/>
            <a:ext cx="2540431"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96112" y="4462272"/>
            <a:ext cx="2064943" cy="731520"/>
          </a:xfrm>
          <a:prstGeom prst="rect">
            <a:avLst/>
          </a:prstGeom>
          <a:noFill/>
        </p:spPr>
        <p:txBody>
          <a:bodyPr wrap="square" lIns="0" rIns="0" tIns="0" bIns="0" anchor="t">
            <a:spAutoFit/>
          </a:bodyPr>
          <a:lstStyle/>
          <a:p>
            <a:pPr algn="l">
              <a:lnSpc>
                <a:spcPct val="125000"/>
              </a:lnSpc>
              <a:spcBef>
                <a:spcPts val="0"/>
              </a:spcBef>
              <a:spcAft>
                <a:spcPts val="600"/>
              </a:spcAft>
            </a:pPr>
            <a:r>
              <a:rPr sz="1200" b="1" i="0">
                <a:solidFill>
                  <a:srgbClr val="0F172A"/>
                </a:solidFill>
                <a:latin typeface="Georgia"/>
              </a:rPr>
              <a:t>Authentication</a:t>
            </a:r>
          </a:p>
          <a:p>
            <a:pPr algn="l">
              <a:lnSpc>
                <a:spcPct val="130000"/>
              </a:lnSpc>
              <a:spcBef>
                <a:spcPts val="0"/>
              </a:spcBef>
              <a:spcAft>
                <a:spcPts val="0"/>
              </a:spcAft>
            </a:pPr>
            <a:r>
              <a:rPr sz="950" b="0" i="0">
                <a:solidFill>
                  <a:srgbClr val="64748B"/>
                </a:solidFill>
                <a:latin typeface="Segoe UI"/>
              </a:rPr>
              <a:t>Sign in, register, recovery</a:t>
            </a:r>
          </a:p>
        </p:txBody>
      </p:sp>
      <p:sp>
        <p:nvSpPr>
          <p:cNvPr id="22" name="Rounded Rectangle 21"/>
          <p:cNvSpPr/>
          <p:nvPr/>
        </p:nvSpPr>
        <p:spPr>
          <a:xfrm>
            <a:off x="3436543" y="4169663"/>
            <a:ext cx="2540431" cy="12435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36543" y="4169663"/>
            <a:ext cx="2540431"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674287" y="4462272"/>
            <a:ext cx="2064943" cy="731520"/>
          </a:xfrm>
          <a:prstGeom prst="rect">
            <a:avLst/>
          </a:prstGeom>
          <a:noFill/>
        </p:spPr>
        <p:txBody>
          <a:bodyPr wrap="square" lIns="0" rIns="0" tIns="0" bIns="0" anchor="t">
            <a:spAutoFit/>
          </a:bodyPr>
          <a:lstStyle/>
          <a:p>
            <a:pPr algn="l">
              <a:lnSpc>
                <a:spcPct val="125000"/>
              </a:lnSpc>
              <a:spcBef>
                <a:spcPts val="0"/>
              </a:spcBef>
              <a:spcAft>
                <a:spcPts val="600"/>
              </a:spcAft>
            </a:pPr>
            <a:r>
              <a:rPr sz="1200" b="1" i="0">
                <a:solidFill>
                  <a:srgbClr val="0F172A"/>
                </a:solidFill>
                <a:latin typeface="Georgia"/>
              </a:rPr>
              <a:t>Campaign detail</a:t>
            </a:r>
          </a:p>
          <a:p>
            <a:pPr algn="l">
              <a:lnSpc>
                <a:spcPct val="130000"/>
              </a:lnSpc>
              <a:spcBef>
                <a:spcPts val="0"/>
              </a:spcBef>
              <a:spcAft>
                <a:spcPts val="0"/>
              </a:spcAft>
            </a:pPr>
            <a:r>
              <a:rPr sz="950" b="0" i="0">
                <a:solidFill>
                  <a:srgbClr val="64748B"/>
                </a:solidFill>
                <a:latin typeface="Segoe UI"/>
              </a:rPr>
              <a:t>Progress, donate, verification</a:t>
            </a:r>
          </a:p>
        </p:txBody>
      </p:sp>
      <p:sp>
        <p:nvSpPr>
          <p:cNvPr id="25" name="Rounded Rectangle 24"/>
          <p:cNvSpPr/>
          <p:nvPr/>
        </p:nvSpPr>
        <p:spPr>
          <a:xfrm>
            <a:off x="6214719" y="4169663"/>
            <a:ext cx="2540431" cy="12435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14719" y="4169663"/>
            <a:ext cx="2540431"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52463" y="4462272"/>
            <a:ext cx="2064943" cy="731520"/>
          </a:xfrm>
          <a:prstGeom prst="rect">
            <a:avLst/>
          </a:prstGeom>
          <a:noFill/>
        </p:spPr>
        <p:txBody>
          <a:bodyPr wrap="square" lIns="0" rIns="0" tIns="0" bIns="0" anchor="t">
            <a:spAutoFit/>
          </a:bodyPr>
          <a:lstStyle/>
          <a:p>
            <a:pPr algn="l">
              <a:lnSpc>
                <a:spcPct val="125000"/>
              </a:lnSpc>
              <a:spcBef>
                <a:spcPts val="0"/>
              </a:spcBef>
              <a:spcAft>
                <a:spcPts val="600"/>
              </a:spcAft>
            </a:pPr>
            <a:r>
              <a:rPr sz="1200" b="1" i="0">
                <a:solidFill>
                  <a:srgbClr val="0F172A"/>
                </a:solidFill>
                <a:latin typeface="Georgia"/>
              </a:rPr>
              <a:t>Consoles</a:t>
            </a:r>
          </a:p>
          <a:p>
            <a:pPr algn="l">
              <a:lnSpc>
                <a:spcPct val="130000"/>
              </a:lnSpc>
              <a:spcBef>
                <a:spcPts val="0"/>
              </a:spcBef>
              <a:spcAft>
                <a:spcPts val="0"/>
              </a:spcAft>
            </a:pPr>
            <a:r>
              <a:rPr sz="950" b="0" i="0">
                <a:solidFill>
                  <a:srgbClr val="64748B"/>
                </a:solidFill>
                <a:latin typeface="Segoe UI"/>
              </a:rPr>
              <a:t>Donor, fundraiser, administrator</a:t>
            </a:r>
          </a:p>
        </p:txBody>
      </p:sp>
      <p:sp>
        <p:nvSpPr>
          <p:cNvPr id="28" name="Rounded Rectangle 27"/>
          <p:cNvSpPr/>
          <p:nvPr/>
        </p:nvSpPr>
        <p:spPr>
          <a:xfrm>
            <a:off x="8992895" y="4169663"/>
            <a:ext cx="2540431" cy="1243584"/>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992895" y="4169663"/>
            <a:ext cx="2540431"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230639" y="4462272"/>
            <a:ext cx="2064943" cy="731520"/>
          </a:xfrm>
          <a:prstGeom prst="rect">
            <a:avLst/>
          </a:prstGeom>
          <a:noFill/>
        </p:spPr>
        <p:txBody>
          <a:bodyPr wrap="square" lIns="0" rIns="0" tIns="0" bIns="0" anchor="t">
            <a:spAutoFit/>
          </a:bodyPr>
          <a:lstStyle/>
          <a:p>
            <a:pPr algn="l">
              <a:lnSpc>
                <a:spcPct val="125000"/>
              </a:lnSpc>
              <a:spcBef>
                <a:spcPts val="0"/>
              </a:spcBef>
              <a:spcAft>
                <a:spcPts val="600"/>
              </a:spcAft>
            </a:pPr>
            <a:r>
              <a:rPr sz="1200" b="1" i="0">
                <a:solidFill>
                  <a:srgbClr val="0F172A"/>
                </a:solidFill>
                <a:latin typeface="Georgia"/>
              </a:rPr>
              <a:t>Public verify</a:t>
            </a:r>
          </a:p>
          <a:p>
            <a:pPr algn="l">
              <a:lnSpc>
                <a:spcPct val="130000"/>
              </a:lnSpc>
              <a:spcBef>
                <a:spcPts val="0"/>
              </a:spcBef>
              <a:spcAft>
                <a:spcPts val="0"/>
              </a:spcAft>
            </a:pPr>
            <a:r>
              <a:rPr sz="950" b="0" i="0">
                <a:solidFill>
                  <a:srgbClr val="64748B"/>
                </a:solidFill>
                <a:latin typeface="Segoe UI"/>
              </a:rPr>
              <a:t>Receipt lookup, no login</a:t>
            </a:r>
          </a:p>
        </p:txBody>
      </p:sp>
      <p:sp>
        <p:nvSpPr>
          <p:cNvPr id="31" name="Rectangle 3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6345936"/>
            <a:ext cx="682846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4" name="TextBox 3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6.9</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Fraud-Detection Model Design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Dataset, features and model specified in this phase. Implementation is scheduled for a later stage and is not part of the current build.</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8470087" y="621792"/>
            <a:ext cx="3063240" cy="310896"/>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850" b="1" i="0" spc="60">
                <a:solidFill>
                  <a:srgbClr val="FFFFFF"/>
                </a:solidFill>
                <a:latin typeface="Segoe UI"/>
              </a:rPr>
              <a:t>DESIGNED  ·  IMPLEMENTATION SCHEDULED</a:t>
            </a:r>
          </a:p>
        </p:txBody>
      </p:sp>
      <p:sp>
        <p:nvSpPr>
          <p:cNvPr id="8" name="Rounded Rectangle 7"/>
          <p:cNvSpPr/>
          <p:nvPr/>
        </p:nvSpPr>
        <p:spPr>
          <a:xfrm>
            <a:off x="658368" y="2029967"/>
            <a:ext cx="2554147" cy="2724912"/>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2304287"/>
            <a:ext cx="2078659"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Objective</a:t>
            </a:r>
          </a:p>
        </p:txBody>
      </p:sp>
      <p:sp>
        <p:nvSpPr>
          <p:cNvPr id="10" name="Rectangle 9"/>
          <p:cNvSpPr/>
          <p:nvPr/>
        </p:nvSpPr>
        <p:spPr>
          <a:xfrm>
            <a:off x="896112" y="2633471"/>
            <a:ext cx="706744"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798063"/>
            <a:ext cx="2078659" cy="17922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Score donations and payouts for review</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Flag anomalies to an administrator</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Assist a human decision, never replace it</a:t>
            </a:r>
          </a:p>
        </p:txBody>
      </p:sp>
      <p:sp>
        <p:nvSpPr>
          <p:cNvPr id="12" name="Rounded Rectangle 11"/>
          <p:cNvSpPr/>
          <p:nvPr/>
        </p:nvSpPr>
        <p:spPr>
          <a:xfrm>
            <a:off x="3431971" y="2029967"/>
            <a:ext cx="2554147" cy="2724912"/>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69715" y="2304287"/>
            <a:ext cx="2078659"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Dataset</a:t>
            </a:r>
          </a:p>
        </p:txBody>
      </p:sp>
      <p:sp>
        <p:nvSpPr>
          <p:cNvPr id="14" name="Rectangle 13"/>
          <p:cNvSpPr/>
          <p:nvPr/>
        </p:nvSpPr>
        <p:spPr>
          <a:xfrm>
            <a:off x="3669715" y="2633471"/>
            <a:ext cx="706744"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9715" y="2798063"/>
            <a:ext cx="2078659" cy="17922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The platform's own operational history</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donations, payment_transactions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disbursements, audit_logs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 external data needed</a:t>
            </a:r>
          </a:p>
        </p:txBody>
      </p:sp>
      <p:sp>
        <p:nvSpPr>
          <p:cNvPr id="16" name="Rounded Rectangle 15"/>
          <p:cNvSpPr/>
          <p:nvPr/>
        </p:nvSpPr>
        <p:spPr>
          <a:xfrm>
            <a:off x="6205575" y="2029967"/>
            <a:ext cx="2554147" cy="2724912"/>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43319" y="2304287"/>
            <a:ext cx="2078659"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Candidate features</a:t>
            </a:r>
          </a:p>
        </p:txBody>
      </p:sp>
      <p:sp>
        <p:nvSpPr>
          <p:cNvPr id="18" name="Rectangle 17"/>
          <p:cNvSpPr/>
          <p:nvPr/>
        </p:nvSpPr>
        <p:spPr>
          <a:xfrm>
            <a:off x="6443319" y="2633471"/>
            <a:ext cx="706744"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43319" y="2798063"/>
            <a:ext cx="2078659" cy="17922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Amount against campaign mean</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Donation velocity per account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Beneficiary age at first payout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Cumulative self-released ratio</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Failed-login proximity in time</a:t>
            </a:r>
          </a:p>
        </p:txBody>
      </p:sp>
      <p:sp>
        <p:nvSpPr>
          <p:cNvPr id="20" name="Rounded Rectangle 19"/>
          <p:cNvSpPr/>
          <p:nvPr/>
        </p:nvSpPr>
        <p:spPr>
          <a:xfrm>
            <a:off x="8979179" y="2029967"/>
            <a:ext cx="2554147" cy="2724912"/>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216923" y="2304287"/>
            <a:ext cx="2078659"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Model and split</a:t>
            </a:r>
          </a:p>
        </p:txBody>
      </p:sp>
      <p:sp>
        <p:nvSpPr>
          <p:cNvPr id="22" name="Rectangle 21"/>
          <p:cNvSpPr/>
          <p:nvPr/>
        </p:nvSpPr>
        <p:spPr>
          <a:xfrm>
            <a:off x="9216923" y="2633471"/>
            <a:ext cx="706744"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16923" y="2798063"/>
            <a:ext cx="2078659" cy="179222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Isolation Forest for the unlabelled start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Gradient-boosted trees once labelled</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Labels from administrator review outcomes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Chronological 70/15/15 split</a:t>
            </a:r>
          </a:p>
        </p:txBody>
      </p:sp>
      <p:sp>
        <p:nvSpPr>
          <p:cNvPr id="24" name="Rounded Rectangle 23"/>
          <p:cNvSpPr/>
          <p:nvPr/>
        </p:nvSpPr>
        <p:spPr>
          <a:xfrm>
            <a:off x="658368" y="4974336"/>
            <a:ext cx="6851224" cy="1188720"/>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32688" y="5175503"/>
            <a:ext cx="6302584" cy="73152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134E4A"/>
                </a:solidFill>
                <a:latin typeface="Segoe UI"/>
              </a:rPr>
              <a:t>WHY THIS IS FEASIBLE</a:t>
            </a:r>
          </a:p>
          <a:p>
            <a:pPr algn="l">
              <a:lnSpc>
                <a:spcPct val="138000"/>
              </a:lnSpc>
              <a:spcBef>
                <a:spcPts val="0"/>
              </a:spcBef>
              <a:spcAft>
                <a:spcPts val="0"/>
              </a:spcAft>
            </a:pPr>
            <a:r>
              <a:rPr sz="1050" b="0" i="0">
                <a:solidFill>
                  <a:srgbClr val="134E4A"/>
                </a:solidFill>
                <a:latin typeface="Segoe UI"/>
              </a:rPr>
              <a:t>The schema already emits every candidate feature, so no new data capture is needed before training. The audit log supplies ground truth: each flagged item records what the reviewing administrator decided.</a:t>
            </a:r>
          </a:p>
        </p:txBody>
      </p:sp>
      <p:sp>
        <p:nvSpPr>
          <p:cNvPr id="26" name="Rounded Rectangle 25"/>
          <p:cNvSpPr/>
          <p:nvPr/>
        </p:nvSpPr>
        <p:spPr>
          <a:xfrm>
            <a:off x="7783912" y="4974336"/>
            <a:ext cx="3749414" cy="1188720"/>
          </a:xfrm>
          <a:prstGeom prst="roundRect">
            <a:avLst>
              <a:gd name="adj" fmla="val 45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058232" y="5175503"/>
            <a:ext cx="3200774" cy="73152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B45309"/>
                </a:solidFill>
                <a:latin typeface="Segoe UI"/>
              </a:rPr>
              <a:t>SCOPE STATEMENT</a:t>
            </a:r>
          </a:p>
          <a:p>
            <a:pPr algn="l">
              <a:lnSpc>
                <a:spcPct val="138000"/>
              </a:lnSpc>
              <a:spcBef>
                <a:spcPts val="0"/>
              </a:spcBef>
              <a:spcAft>
                <a:spcPts val="0"/>
              </a:spcAft>
            </a:pPr>
            <a:r>
              <a:rPr sz="1050" b="0" i="0">
                <a:solidFill>
                  <a:srgbClr val="0F172A"/>
                </a:solidFill>
                <a:latin typeface="Segoe UI"/>
              </a:rPr>
              <a:t>No model is trained or running in the current build. This section specifies the design only. Section 7 reports no ML results because there are none to report.</a:t>
            </a:r>
          </a:p>
        </p:txBody>
      </p:sp>
      <p:sp>
        <p:nvSpPr>
          <p:cNvPr id="28" name="Rectangle 27"/>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6345936"/>
            <a:ext cx="708136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1" name="TextBox 30"/>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6.10</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Algorithms and Flowchart</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6.9.1 the proof algorithm, and 6.10 the path a donation takes through the system.</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4784982" cy="2743200"/>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267711"/>
            <a:ext cx="4236342" cy="274320"/>
          </a:xfrm>
          <a:prstGeom prst="rect">
            <a:avLst/>
          </a:prstGeom>
          <a:noFill/>
        </p:spPr>
        <p:txBody>
          <a:bodyPr wrap="square" lIns="0" rIns="0" tIns="0" bIns="0" anchor="t">
            <a:spAutoFit/>
          </a:bodyPr>
          <a:lstStyle/>
          <a:p>
            <a:pPr algn="l">
              <a:lnSpc>
                <a:spcPct val="125000"/>
              </a:lnSpc>
              <a:spcBef>
                <a:spcPts val="0"/>
              </a:spcBef>
              <a:spcAft>
                <a:spcPts val="0"/>
              </a:spcAft>
            </a:pPr>
            <a:r>
              <a:rPr sz="850" b="1" i="0" spc="120">
                <a:solidFill>
                  <a:srgbClr val="5EEAD4"/>
                </a:solidFill>
                <a:latin typeface="Segoe UI"/>
              </a:rPr>
              <a:t>PROOF-HASH ALGORITHM</a:t>
            </a:r>
          </a:p>
        </p:txBody>
      </p:sp>
      <p:sp>
        <p:nvSpPr>
          <p:cNvPr id="9" name="TextBox 8"/>
          <p:cNvSpPr txBox="1"/>
          <p:nvPr/>
        </p:nvSpPr>
        <p:spPr>
          <a:xfrm>
            <a:off x="932688" y="2633472"/>
            <a:ext cx="4236342" cy="1920240"/>
          </a:xfrm>
          <a:prstGeom prst="rect">
            <a:avLst/>
          </a:prstGeom>
          <a:noFill/>
        </p:spPr>
        <p:txBody>
          <a:bodyPr wrap="square" lIns="0" rIns="0" tIns="0" bIns="0" anchor="t">
            <a:spAutoFit/>
          </a:bodyPr>
          <a:lstStyle/>
          <a:p>
            <a:pPr algn="l">
              <a:lnSpc>
                <a:spcPct val="134000"/>
              </a:lnSpc>
              <a:spcBef>
                <a:spcPts val="0"/>
              </a:spcBef>
              <a:spcAft>
                <a:spcPts val="400"/>
              </a:spcAft>
            </a:pPr>
            <a:r>
              <a:rPr sz="900" b="0" i="0">
                <a:solidFill>
                  <a:srgbClr val="FFFFFF"/>
                </a:solidFill>
                <a:latin typeface="Consolas"/>
              </a:rPr>
              <a:t>1.  Finalise the donation in one atomic transaction</a:t>
            </a:r>
          </a:p>
          <a:p>
            <a:pPr algn="l">
              <a:lnSpc>
                <a:spcPct val="134000"/>
              </a:lnSpc>
              <a:spcBef>
                <a:spcPts val="0"/>
              </a:spcBef>
              <a:spcAft>
                <a:spcPts val="400"/>
              </a:spcAft>
            </a:pPr>
            <a:r>
              <a:rPr sz="900" b="0" i="0">
                <a:solidFill>
                  <a:srgbClr val="FFFFFF"/>
                </a:solidFill>
                <a:latin typeface="Consolas"/>
              </a:rPr>
              <a:t>2.  payload = donation id + campaign id + amount</a:t>
            </a:r>
          </a:p>
          <a:p>
            <a:pPr algn="l">
              <a:lnSpc>
                <a:spcPct val="134000"/>
              </a:lnSpc>
              <a:spcBef>
                <a:spcPts val="0"/>
              </a:spcBef>
              <a:spcAft>
                <a:spcPts val="400"/>
              </a:spcAft>
            </a:pPr>
            <a:r>
              <a:rPr sz="900" b="0" i="0">
                <a:solidFill>
                  <a:srgbClr val="FFFFFF"/>
                </a:solidFill>
                <a:latin typeface="Consolas"/>
              </a:rPr>
              <a:t>             + receipt number + payment reference</a:t>
            </a:r>
          </a:p>
          <a:p>
            <a:pPr algn="l">
              <a:lnSpc>
                <a:spcPct val="134000"/>
              </a:lnSpc>
              <a:spcBef>
                <a:spcPts val="0"/>
              </a:spcBef>
              <a:spcAft>
                <a:spcPts val="400"/>
              </a:spcAft>
            </a:pPr>
            <a:r>
              <a:rPr sz="900" b="0" i="0">
                <a:solidFill>
                  <a:srgbClr val="FFFFFF"/>
                </a:solidFill>
                <a:latin typeface="Consolas"/>
              </a:rPr>
              <a:t>             + timestamp</a:t>
            </a:r>
          </a:p>
          <a:p>
            <a:pPr algn="l">
              <a:lnSpc>
                <a:spcPct val="134000"/>
              </a:lnSpc>
              <a:spcBef>
                <a:spcPts val="0"/>
              </a:spcBef>
              <a:spcAft>
                <a:spcPts val="400"/>
              </a:spcAft>
            </a:pPr>
            <a:r>
              <a:rPr sz="900" b="0" i="0">
                <a:solidFill>
                  <a:srgbClr val="FFFFFF"/>
                </a:solidFill>
                <a:latin typeface="Consolas"/>
              </a:rPr>
              <a:t>3.  proof = SHA-256(payload)</a:t>
            </a:r>
          </a:p>
          <a:p>
            <a:pPr algn="l">
              <a:lnSpc>
                <a:spcPct val="134000"/>
              </a:lnSpc>
              <a:spcBef>
                <a:spcPts val="0"/>
              </a:spcBef>
              <a:spcAft>
                <a:spcPts val="400"/>
              </a:spcAft>
            </a:pPr>
            <a:r>
              <a:rPr sz="900" b="0" i="0">
                <a:solidFill>
                  <a:srgbClr val="FFFFFF"/>
                </a:solidFill>
                <a:latin typeface="Consolas"/>
              </a:rPr>
              <a:t>4.  registerDonation(proof) on the contract</a:t>
            </a:r>
          </a:p>
          <a:p>
            <a:pPr algn="l">
              <a:lnSpc>
                <a:spcPct val="134000"/>
              </a:lnSpc>
              <a:spcBef>
                <a:spcPts val="0"/>
              </a:spcBef>
              <a:spcAft>
                <a:spcPts val="400"/>
              </a:spcAft>
            </a:pPr>
            <a:r>
              <a:rPr sz="900" b="0" i="0">
                <a:solidFill>
                  <a:srgbClr val="FFFFFF"/>
                </a:solidFill>
                <a:latin typeface="Consolas"/>
              </a:rPr>
              <a:t>5.  Store tx hash, block number and network</a:t>
            </a:r>
          </a:p>
          <a:p>
            <a:pPr algn="l">
              <a:lnSpc>
                <a:spcPct val="134000"/>
              </a:lnSpc>
              <a:spcBef>
                <a:spcPts val="0"/>
              </a:spcBef>
              <a:spcAft>
                <a:spcPts val="400"/>
              </a:spcAft>
            </a:pPr>
            <a:r>
              <a:rPr sz="900" b="0" i="0">
                <a:solidFill>
                  <a:srgbClr val="FFFFFF"/>
                </a:solidFill>
                <a:latin typeface="Consolas"/>
              </a:rPr>
              <a:t>6.  On failure, leave pending and self-heal on read</a:t>
            </a:r>
          </a:p>
        </p:txBody>
      </p:sp>
      <p:sp>
        <p:nvSpPr>
          <p:cNvPr id="10" name="TextBox 9"/>
          <p:cNvSpPr txBox="1"/>
          <p:nvPr/>
        </p:nvSpPr>
        <p:spPr>
          <a:xfrm>
            <a:off x="5772534" y="2011679"/>
            <a:ext cx="5760793"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FLOWCHART OF THE WORKING SYSTEM</a:t>
            </a:r>
          </a:p>
        </p:txBody>
      </p:sp>
      <p:sp>
        <p:nvSpPr>
          <p:cNvPr id="11" name="Rounded Rectangle 10"/>
          <p:cNvSpPr/>
          <p:nvPr/>
        </p:nvSpPr>
        <p:spPr>
          <a:xfrm>
            <a:off x="5772534" y="2322575"/>
            <a:ext cx="2697516" cy="548640"/>
          </a:xfrm>
          <a:prstGeom prst="roundRect">
            <a:avLst>
              <a:gd name="adj" fmla="val 30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Donor selects amount</a:t>
            </a:r>
          </a:p>
        </p:txBody>
      </p:sp>
      <p:cxnSp>
        <p:nvCxnSpPr>
          <p:cNvPr id="12" name="Connector 11"/>
          <p:cNvCxnSpPr/>
          <p:nvPr/>
        </p:nvCxnSpPr>
        <p:spPr>
          <a:xfrm>
            <a:off x="8470050" y="2596895"/>
            <a:ext cx="219456" cy="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707794" y="2322575"/>
            <a:ext cx="2697516" cy="548640"/>
          </a:xfrm>
          <a:prstGeom prst="roundRect">
            <a:avLst>
              <a:gd name="adj" fmla="val 8000"/>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Signed in?</a:t>
            </a:r>
          </a:p>
        </p:txBody>
      </p:sp>
      <p:cxnSp>
        <p:nvCxnSpPr>
          <p:cNvPr id="14" name="Connector 13"/>
          <p:cNvCxnSpPr/>
          <p:nvPr/>
        </p:nvCxnSpPr>
        <p:spPr>
          <a:xfrm>
            <a:off x="10056552" y="2871215"/>
            <a:ext cx="0" cy="219457"/>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121292" y="3090671"/>
            <a:ext cx="2935260"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121292" y="3090671"/>
            <a:ext cx="0" cy="27432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772534" y="3364991"/>
            <a:ext cx="2697516" cy="5486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Create payment session</a:t>
            </a:r>
          </a:p>
        </p:txBody>
      </p:sp>
      <p:cxnSp>
        <p:nvCxnSpPr>
          <p:cNvPr id="18" name="Connector 17"/>
          <p:cNvCxnSpPr/>
          <p:nvPr/>
        </p:nvCxnSpPr>
        <p:spPr>
          <a:xfrm>
            <a:off x="8470050" y="3639311"/>
            <a:ext cx="219456" cy="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07794" y="3364991"/>
            <a:ext cx="2697516" cy="5486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Provider collects payment</a:t>
            </a:r>
          </a:p>
        </p:txBody>
      </p:sp>
      <p:cxnSp>
        <p:nvCxnSpPr>
          <p:cNvPr id="20" name="Connector 19"/>
          <p:cNvCxnSpPr/>
          <p:nvPr/>
        </p:nvCxnSpPr>
        <p:spPr>
          <a:xfrm>
            <a:off x="10056552" y="3913631"/>
            <a:ext cx="0" cy="219456"/>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121292" y="4133087"/>
            <a:ext cx="2935260"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121292" y="4133087"/>
            <a:ext cx="0" cy="27432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772534" y="4407407"/>
            <a:ext cx="2697516" cy="548640"/>
          </a:xfrm>
          <a:prstGeom prst="roundRect">
            <a:avLst>
              <a:gd name="adj" fmla="val 8000"/>
            </a:avLst>
          </a:prstGeom>
          <a:solidFill>
            <a:srgbClr val="CCFBF1"/>
          </a:solidFill>
          <a:ln w="11430">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134E4A"/>
                </a:solidFill>
                <a:latin typeface="Segoe UI"/>
              </a:rPr>
              <a:t>Callback verified?</a:t>
            </a:r>
          </a:p>
        </p:txBody>
      </p:sp>
      <p:cxnSp>
        <p:nvCxnSpPr>
          <p:cNvPr id="24" name="Connector 23"/>
          <p:cNvCxnSpPr/>
          <p:nvPr/>
        </p:nvCxnSpPr>
        <p:spPr>
          <a:xfrm>
            <a:off x="8470050" y="4681727"/>
            <a:ext cx="219456" cy="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707794" y="4407407"/>
            <a:ext cx="2697516" cy="5486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Atomic: donation + pending proof</a:t>
            </a:r>
          </a:p>
        </p:txBody>
      </p:sp>
      <p:cxnSp>
        <p:nvCxnSpPr>
          <p:cNvPr id="26" name="Connector 25"/>
          <p:cNvCxnSpPr/>
          <p:nvPr/>
        </p:nvCxnSpPr>
        <p:spPr>
          <a:xfrm>
            <a:off x="10056552" y="4956047"/>
            <a:ext cx="0" cy="219456"/>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121292" y="5175503"/>
            <a:ext cx="2935260" cy="0"/>
          </a:xfrm>
          <a:prstGeom prst="line">
            <a:avLst/>
          </a:prstGeom>
          <a:ln w="1397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21292" y="5175503"/>
            <a:ext cx="0" cy="27432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772534" y="5449823"/>
            <a:ext cx="2697516" cy="5486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Hash and submit to chain</a:t>
            </a:r>
          </a:p>
        </p:txBody>
      </p:sp>
      <p:cxnSp>
        <p:nvCxnSpPr>
          <p:cNvPr id="30" name="Connector 29"/>
          <p:cNvCxnSpPr/>
          <p:nvPr/>
        </p:nvCxnSpPr>
        <p:spPr>
          <a:xfrm>
            <a:off x="8470050" y="5724143"/>
            <a:ext cx="219456" cy="0"/>
          </a:xfrm>
          <a:prstGeom prst="line">
            <a:avLst/>
          </a:prstGeom>
          <a:ln w="1397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707794" y="5449823"/>
            <a:ext cx="2697516" cy="548640"/>
          </a:xfrm>
          <a:prstGeom prst="roundRect">
            <a:avLst>
              <a:gd name="adj" fmla="val 30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spcBef>
                <a:spcPts val="0"/>
              </a:spcBef>
              <a:spcAft>
                <a:spcPts val="0"/>
              </a:spcAft>
            </a:pPr>
            <a:r>
              <a:rPr sz="950" b="0" i="0">
                <a:solidFill>
                  <a:srgbClr val="0F172A"/>
                </a:solidFill>
                <a:latin typeface="Segoe UI"/>
              </a:rPr>
              <a:t>Receipt and proof available</a:t>
            </a:r>
          </a:p>
        </p:txBody>
      </p:sp>
      <p:sp>
        <p:nvSpPr>
          <p:cNvPr id="32" name="Rounded Rectangle 31"/>
          <p:cNvSpPr/>
          <p:nvPr/>
        </p:nvSpPr>
        <p:spPr>
          <a:xfrm>
            <a:off x="658368" y="4992624"/>
            <a:ext cx="4784982" cy="1060704"/>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32688" y="5175504"/>
            <a:ext cx="4236342" cy="73152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134E4A"/>
                </a:solidFill>
                <a:latin typeface="Segoe UI"/>
              </a:rPr>
              <a:t>DETERMINISTIC BY DESIGN</a:t>
            </a:r>
          </a:p>
          <a:p>
            <a:pPr algn="l">
              <a:lnSpc>
                <a:spcPct val="138000"/>
              </a:lnSpc>
              <a:spcBef>
                <a:spcPts val="0"/>
              </a:spcBef>
              <a:spcAft>
                <a:spcPts val="0"/>
              </a:spcAft>
            </a:pPr>
            <a:r>
              <a:rPr sz="1050" b="0" i="0">
                <a:solidFill>
                  <a:srgbClr val="134E4A"/>
                </a:solidFill>
                <a:latin typeface="Segoe UI"/>
              </a:rPr>
              <a:t>The same donation always produces the same hash, so anyone can recompute it and compare against the chain.</a:t>
            </a:r>
          </a:p>
        </p:txBody>
      </p:sp>
      <p:sp>
        <p:nvSpPr>
          <p:cNvPr id="34" name="Rectangle 33"/>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58368" y="6345936"/>
            <a:ext cx="7334274"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7" name="TextBox 36"/>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6.11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Security Design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Each control below answers the Security non-functional requirement in 5.5.</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3454298" cy="13716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45720" cy="13716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50976" y="2267711"/>
            <a:ext cx="2887370" cy="91440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Authentication</a:t>
            </a:r>
          </a:p>
          <a:p>
            <a:pPr algn="l">
              <a:lnSpc>
                <a:spcPct val="138000"/>
              </a:lnSpc>
              <a:spcBef>
                <a:spcPts val="0"/>
              </a:spcBef>
              <a:spcAft>
                <a:spcPts val="0"/>
              </a:spcAft>
            </a:pPr>
            <a:r>
              <a:rPr sz="1000" b="0" i="0">
                <a:solidFill>
                  <a:srgbClr val="64748B"/>
                </a:solidFill>
                <a:latin typeface="Segoe UI"/>
              </a:rPr>
              <a:t>Short-lived JWT access token, rotating httpOnly refresh cookie, bcrypt password hashing, lockout after five failed attempts.</a:t>
            </a:r>
          </a:p>
        </p:txBody>
      </p:sp>
      <p:sp>
        <p:nvSpPr>
          <p:cNvPr id="10" name="Rounded Rectangle 9"/>
          <p:cNvSpPr/>
          <p:nvPr/>
        </p:nvSpPr>
        <p:spPr>
          <a:xfrm>
            <a:off x="4368698" y="2029967"/>
            <a:ext cx="3454298" cy="13716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68698" y="2029967"/>
            <a:ext cx="45720" cy="13716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61306" y="2267711"/>
            <a:ext cx="2887370" cy="91440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Authorisation</a:t>
            </a:r>
          </a:p>
          <a:p>
            <a:pPr algn="l">
              <a:lnSpc>
                <a:spcPct val="138000"/>
              </a:lnSpc>
              <a:spcBef>
                <a:spcPts val="0"/>
              </a:spcBef>
              <a:spcAft>
                <a:spcPts val="0"/>
              </a:spcAft>
            </a:pPr>
            <a:r>
              <a:rPr sz="1000" b="0" i="0">
                <a:solidFill>
                  <a:srgbClr val="64748B"/>
                </a:solidFill>
                <a:latin typeface="Segoe UI"/>
              </a:rPr>
              <a:t>Role-based access control derived from the role enum. Ownership checks on every fundraiser resource.</a:t>
            </a:r>
          </a:p>
        </p:txBody>
      </p:sp>
      <p:sp>
        <p:nvSpPr>
          <p:cNvPr id="13" name="Rounded Rectangle 12"/>
          <p:cNvSpPr/>
          <p:nvPr/>
        </p:nvSpPr>
        <p:spPr>
          <a:xfrm>
            <a:off x="8079028" y="2029967"/>
            <a:ext cx="3454298" cy="13716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79028" y="2029967"/>
            <a:ext cx="45720" cy="13716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371636" y="2267711"/>
            <a:ext cx="2887370" cy="91440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Data protection</a:t>
            </a:r>
          </a:p>
          <a:p>
            <a:pPr algn="l">
              <a:lnSpc>
                <a:spcPct val="138000"/>
              </a:lnSpc>
              <a:spcBef>
                <a:spcPts val="0"/>
              </a:spcBef>
              <a:spcAft>
                <a:spcPts val="0"/>
              </a:spcAft>
            </a:pPr>
            <a:r>
              <a:rPr sz="1000" b="0" i="0">
                <a:solidFill>
                  <a:srgbClr val="64748B"/>
                </a:solidFill>
                <a:latin typeface="Segoe UI"/>
              </a:rPr>
              <a:t>HTTPS everywhere, parameterised queries throughout, no personal data written on-chain, uploads renamed server-side.</a:t>
            </a:r>
          </a:p>
        </p:txBody>
      </p:sp>
      <p:sp>
        <p:nvSpPr>
          <p:cNvPr id="16" name="Rounded Rectangle 15"/>
          <p:cNvSpPr/>
          <p:nvPr/>
        </p:nvSpPr>
        <p:spPr>
          <a:xfrm>
            <a:off x="658368" y="3602735"/>
            <a:ext cx="3454298" cy="13716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58368" y="3602735"/>
            <a:ext cx="45720" cy="13716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50976" y="3840479"/>
            <a:ext cx="2887370" cy="91440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Input validation</a:t>
            </a:r>
          </a:p>
          <a:p>
            <a:pPr algn="l">
              <a:lnSpc>
                <a:spcPct val="138000"/>
              </a:lnSpc>
              <a:spcBef>
                <a:spcPts val="0"/>
              </a:spcBef>
              <a:spcAft>
                <a:spcPts val="0"/>
              </a:spcAft>
            </a:pPr>
            <a:r>
              <a:rPr sz="1000" b="0" i="0">
                <a:solidFill>
                  <a:srgbClr val="64748B"/>
                </a:solidFill>
                <a:latin typeface="Segoe UI"/>
              </a:rPr>
              <a:t>Every request body validated before it reaches a service. Helmet, CORS allowlist and rate limiting at the edge.</a:t>
            </a:r>
          </a:p>
        </p:txBody>
      </p:sp>
      <p:sp>
        <p:nvSpPr>
          <p:cNvPr id="19" name="Rounded Rectangle 18"/>
          <p:cNvSpPr/>
          <p:nvPr/>
        </p:nvSpPr>
        <p:spPr>
          <a:xfrm>
            <a:off x="4368698" y="3602735"/>
            <a:ext cx="3454298" cy="13716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68698" y="3602735"/>
            <a:ext cx="45720" cy="13716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661306" y="3840479"/>
            <a:ext cx="2887370" cy="91440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Accountability</a:t>
            </a:r>
          </a:p>
          <a:p>
            <a:pPr algn="l">
              <a:lnSpc>
                <a:spcPct val="138000"/>
              </a:lnSpc>
              <a:spcBef>
                <a:spcPts val="0"/>
              </a:spcBef>
              <a:spcAft>
                <a:spcPts val="0"/>
              </a:spcAft>
            </a:pPr>
            <a:r>
              <a:rPr sz="1000" b="0" i="0">
                <a:solidFill>
                  <a:srgbClr val="64748B"/>
                </a:solidFill>
                <a:latin typeface="Segoe UI"/>
              </a:rPr>
              <a:t>Read-only audit log of every administrative write and every login attempt, searchable and filterable.</a:t>
            </a:r>
          </a:p>
        </p:txBody>
      </p:sp>
      <p:sp>
        <p:nvSpPr>
          <p:cNvPr id="22" name="Rounded Rectangle 21"/>
          <p:cNvSpPr/>
          <p:nvPr/>
        </p:nvSpPr>
        <p:spPr>
          <a:xfrm>
            <a:off x="8079028" y="3602735"/>
            <a:ext cx="3454298" cy="137160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079028" y="3602735"/>
            <a:ext cx="45720" cy="13716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71636" y="3840479"/>
            <a:ext cx="2887370" cy="91440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Separation of duties</a:t>
            </a:r>
          </a:p>
          <a:p>
            <a:pPr algn="l">
              <a:lnSpc>
                <a:spcPct val="138000"/>
              </a:lnSpc>
              <a:spcBef>
                <a:spcPts val="0"/>
              </a:spcBef>
              <a:spcAft>
                <a:spcPts val="0"/>
              </a:spcAft>
            </a:pPr>
            <a:r>
              <a:rPr sz="1000" b="0" i="0">
                <a:solidFill>
                  <a:srgbClr val="64748B"/>
                </a:solidFill>
                <a:latin typeface="Segoe UI"/>
              </a:rPr>
              <a:t>Beneficiary verification is administrator-only. A payout initiator can never approve their own disbursement.</a:t>
            </a:r>
          </a:p>
        </p:txBody>
      </p:sp>
      <p:sp>
        <p:nvSpPr>
          <p:cNvPr id="25" name="Rounded Rectangle 24"/>
          <p:cNvSpPr/>
          <p:nvPr/>
        </p:nvSpPr>
        <p:spPr>
          <a:xfrm>
            <a:off x="658368" y="5248656"/>
            <a:ext cx="10874959" cy="566928"/>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32688" y="5248656"/>
            <a:ext cx="10326319" cy="566928"/>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5EEAD4"/>
                </a:solidFill>
                <a:latin typeface="Segoe UI"/>
              </a:rPr>
              <a:t>Traceability.  </a:t>
            </a:r>
            <a:r>
              <a:rPr sz="1050" b="0" i="0">
                <a:solidFill>
                  <a:srgbClr val="FFFFFF"/>
                </a:solidFill>
                <a:latin typeface="Segoe UI"/>
              </a:rPr>
              <a:t>NFR Security in 5.5 specified 15-minute access tokens, rotating refresh, bcrypt and lockout after five attempts. All four are implemented and verified by test cases TC-01 and TC-02.</a:t>
            </a:r>
          </a:p>
        </p:txBody>
      </p:sp>
      <p:sp>
        <p:nvSpPr>
          <p:cNvPr id="27" name="Rectangle 26"/>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6345936"/>
            <a:ext cx="7587180"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Six  ·  System Design</a:t>
            </a:r>
          </a:p>
        </p:txBody>
      </p:sp>
      <p:sp>
        <p:nvSpPr>
          <p:cNvPr id="30" name="TextBox 29"/>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766E"/>
              </a:gs>
              <a:gs pos="100000">
                <a:srgbClr val="0A3331"/>
              </a:gs>
            </a:gsLst>
            <a:lin scaled="0" ang="1992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887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12191695" cy="27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769864" y="274320"/>
            <a:ext cx="5760720" cy="4023360"/>
          </a:xfrm>
          <a:prstGeom prst="rect">
            <a:avLst/>
          </a:prstGeom>
          <a:noFill/>
        </p:spPr>
        <p:txBody>
          <a:bodyPr wrap="square" lIns="0" rIns="0" tIns="0" bIns="0" anchor="t">
            <a:spAutoFit/>
          </a:bodyPr>
          <a:lstStyle/>
          <a:p>
            <a:pPr algn="r">
              <a:lnSpc>
                <a:spcPct val="92000"/>
              </a:lnSpc>
              <a:spcBef>
                <a:spcPts val="0"/>
              </a:spcBef>
              <a:spcAft>
                <a:spcPts val="0"/>
              </a:spcAft>
            </a:pPr>
            <a:r>
              <a:rPr sz="21000" b="1" i="0">
                <a:solidFill>
                  <a:srgbClr val="134E4A"/>
                </a:solidFill>
                <a:latin typeface="Georgia"/>
              </a:rPr>
              <a:t>7</a:t>
            </a:r>
          </a:p>
        </p:txBody>
      </p:sp>
      <p:sp>
        <p:nvSpPr>
          <p:cNvPr id="6" name="TextBox 5"/>
          <p:cNvSpPr txBox="1"/>
          <p:nvPr/>
        </p:nvSpPr>
        <p:spPr>
          <a:xfrm>
            <a:off x="932688" y="1298448"/>
            <a:ext cx="5486400" cy="365760"/>
          </a:xfrm>
          <a:prstGeom prst="rect">
            <a:avLst/>
          </a:prstGeom>
          <a:noFill/>
        </p:spPr>
        <p:txBody>
          <a:bodyPr wrap="square" lIns="0" rIns="0" tIns="0" bIns="0" anchor="t">
            <a:spAutoFit/>
          </a:bodyPr>
          <a:lstStyle/>
          <a:p>
            <a:pPr algn="l">
              <a:lnSpc>
                <a:spcPct val="125000"/>
              </a:lnSpc>
              <a:spcBef>
                <a:spcPts val="0"/>
              </a:spcBef>
              <a:spcAft>
                <a:spcPts val="0"/>
              </a:spcAft>
            </a:pPr>
            <a:r>
              <a:rPr sz="1000" b="1" i="0" spc="200">
                <a:solidFill>
                  <a:srgbClr val="5EEAD4"/>
                </a:solidFill>
                <a:latin typeface="Segoe UI"/>
              </a:rPr>
              <a:t>CHAPTER 7</a:t>
            </a:r>
          </a:p>
        </p:txBody>
      </p:sp>
      <p:sp>
        <p:nvSpPr>
          <p:cNvPr id="7" name="TextBox 6"/>
          <p:cNvSpPr txBox="1"/>
          <p:nvPr/>
        </p:nvSpPr>
        <p:spPr>
          <a:xfrm>
            <a:off x="932688" y="1700784"/>
            <a:ext cx="6035040" cy="1371600"/>
          </a:xfrm>
          <a:prstGeom prst="rect">
            <a:avLst/>
          </a:prstGeom>
          <a:noFill/>
        </p:spPr>
        <p:txBody>
          <a:bodyPr wrap="square" lIns="0" rIns="0" tIns="0" bIns="0" anchor="t">
            <a:spAutoFit/>
          </a:bodyPr>
          <a:lstStyle/>
          <a:p>
            <a:pPr algn="l">
              <a:lnSpc>
                <a:spcPct val="112000"/>
              </a:lnSpc>
              <a:spcBef>
                <a:spcPts val="0"/>
              </a:spcBef>
              <a:spcAft>
                <a:spcPts val="0"/>
              </a:spcAft>
            </a:pPr>
            <a:r>
              <a:rPr sz="3600" b="0" i="0">
                <a:solidFill>
                  <a:srgbClr val="FFFFFF"/>
                </a:solidFill>
                <a:latin typeface="Georgia"/>
              </a:rPr>
              <a:t>Implementation,
Testing and Results</a:t>
            </a:r>
          </a:p>
        </p:txBody>
      </p:sp>
      <p:sp>
        <p:nvSpPr>
          <p:cNvPr id="8" name="Rectangle 7"/>
          <p:cNvSpPr/>
          <p:nvPr/>
        </p:nvSpPr>
        <p:spPr>
          <a:xfrm>
            <a:off x="932688" y="3127248"/>
            <a:ext cx="1280160" cy="25400"/>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345643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01</a:t>
            </a:r>
          </a:p>
        </p:txBody>
      </p:sp>
      <p:sp>
        <p:nvSpPr>
          <p:cNvPr id="10" name="TextBox 9"/>
          <p:cNvSpPr txBox="1"/>
          <p:nvPr/>
        </p:nvSpPr>
        <p:spPr>
          <a:xfrm>
            <a:off x="1371600" y="345643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Development Environment and Tools</a:t>
            </a:r>
          </a:p>
        </p:txBody>
      </p:sp>
      <p:sp>
        <p:nvSpPr>
          <p:cNvPr id="11" name="TextBox 10"/>
          <p:cNvSpPr txBox="1"/>
          <p:nvPr/>
        </p:nvSpPr>
        <p:spPr>
          <a:xfrm>
            <a:off x="932688" y="400507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02</a:t>
            </a:r>
          </a:p>
        </p:txBody>
      </p:sp>
      <p:sp>
        <p:nvSpPr>
          <p:cNvPr id="12" name="TextBox 11"/>
          <p:cNvSpPr txBox="1"/>
          <p:nvPr/>
        </p:nvSpPr>
        <p:spPr>
          <a:xfrm>
            <a:off x="1371600" y="400507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Implementation of Modules</a:t>
            </a:r>
          </a:p>
        </p:txBody>
      </p:sp>
      <p:sp>
        <p:nvSpPr>
          <p:cNvPr id="13" name="TextBox 12"/>
          <p:cNvSpPr txBox="1"/>
          <p:nvPr/>
        </p:nvSpPr>
        <p:spPr>
          <a:xfrm>
            <a:off x="932688" y="455371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03</a:t>
            </a:r>
          </a:p>
        </p:txBody>
      </p:sp>
      <p:sp>
        <p:nvSpPr>
          <p:cNvPr id="14" name="TextBox 13"/>
          <p:cNvSpPr txBox="1"/>
          <p:nvPr/>
        </p:nvSpPr>
        <p:spPr>
          <a:xfrm>
            <a:off x="1371600" y="455371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Testing Strategy</a:t>
            </a:r>
          </a:p>
        </p:txBody>
      </p:sp>
      <p:sp>
        <p:nvSpPr>
          <p:cNvPr id="15" name="TextBox 14"/>
          <p:cNvSpPr txBox="1"/>
          <p:nvPr/>
        </p:nvSpPr>
        <p:spPr>
          <a:xfrm>
            <a:off x="932688" y="510235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04</a:t>
            </a:r>
          </a:p>
        </p:txBody>
      </p:sp>
      <p:sp>
        <p:nvSpPr>
          <p:cNvPr id="16" name="TextBox 15"/>
          <p:cNvSpPr txBox="1"/>
          <p:nvPr/>
        </p:nvSpPr>
        <p:spPr>
          <a:xfrm>
            <a:off x="1371600" y="510235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Test Cases</a:t>
            </a:r>
          </a:p>
        </p:txBody>
      </p:sp>
      <p:sp>
        <p:nvSpPr>
          <p:cNvPr id="17" name="TextBox 16"/>
          <p:cNvSpPr txBox="1"/>
          <p:nvPr/>
        </p:nvSpPr>
        <p:spPr>
          <a:xfrm>
            <a:off x="4178808" y="345643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05</a:t>
            </a:r>
          </a:p>
        </p:txBody>
      </p:sp>
      <p:sp>
        <p:nvSpPr>
          <p:cNvPr id="18" name="TextBox 17"/>
          <p:cNvSpPr txBox="1"/>
          <p:nvPr/>
        </p:nvSpPr>
        <p:spPr>
          <a:xfrm>
            <a:off x="4617720" y="345643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Results and Discussion</a:t>
            </a:r>
          </a:p>
        </p:txBody>
      </p:sp>
      <p:sp>
        <p:nvSpPr>
          <p:cNvPr id="19" name="TextBox 18"/>
          <p:cNvSpPr txBox="1"/>
          <p:nvPr/>
        </p:nvSpPr>
        <p:spPr>
          <a:xfrm>
            <a:off x="4178808" y="400507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06</a:t>
            </a:r>
          </a:p>
        </p:txBody>
      </p:sp>
      <p:sp>
        <p:nvSpPr>
          <p:cNvPr id="20" name="TextBox 19"/>
          <p:cNvSpPr txBox="1"/>
          <p:nvPr/>
        </p:nvSpPr>
        <p:spPr>
          <a:xfrm>
            <a:off x="4617720" y="400507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System Screenshots</a:t>
            </a:r>
          </a:p>
        </p:txBody>
      </p:sp>
      <p:sp>
        <p:nvSpPr>
          <p:cNvPr id="21" name="TextBox 20"/>
          <p:cNvSpPr txBox="1"/>
          <p:nvPr/>
        </p:nvSpPr>
        <p:spPr>
          <a:xfrm>
            <a:off x="4178808" y="4553712"/>
            <a:ext cx="384048" cy="310896"/>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5EEAD4"/>
                </a:solidFill>
                <a:latin typeface="Georgia"/>
              </a:rPr>
              <a:t>07</a:t>
            </a:r>
          </a:p>
        </p:txBody>
      </p:sp>
      <p:sp>
        <p:nvSpPr>
          <p:cNvPr id="22" name="TextBox 21"/>
          <p:cNvSpPr txBox="1"/>
          <p:nvPr/>
        </p:nvSpPr>
        <p:spPr>
          <a:xfrm>
            <a:off x="4617720" y="4553712"/>
            <a:ext cx="2743200" cy="457200"/>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FFFFFF"/>
                </a:solidFill>
                <a:latin typeface="Segoe UI"/>
              </a:rPr>
              <a:t>Live Demonstration</a:t>
            </a:r>
          </a:p>
        </p:txBody>
      </p:sp>
      <p:sp>
        <p:nvSpPr>
          <p:cNvPr id="23" name="Rounded Rectangle 22"/>
          <p:cNvSpPr/>
          <p:nvPr/>
        </p:nvSpPr>
        <p:spPr>
          <a:xfrm>
            <a:off x="932688" y="6053328"/>
            <a:ext cx="274320" cy="274320"/>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4" name="Connector 23"/>
          <p:cNvCxnSpPr/>
          <p:nvPr/>
        </p:nvCxnSpPr>
        <p:spPr>
          <a:xfrm>
            <a:off x="998524" y="6195974"/>
            <a:ext cx="52121" cy="52121"/>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47902" y="6135624"/>
            <a:ext cx="96012" cy="112471"/>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371600" y="6089904"/>
            <a:ext cx="2743200" cy="274320"/>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A7D8D2"/>
                </a:solidFill>
                <a:latin typeface="Georgia"/>
              </a:rPr>
              <a:t>Changia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Introduction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The system was built in staged increments, each verified before the next began.</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26715" cy="11887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96112" y="2231136"/>
            <a:ext cx="2051227" cy="786384"/>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8</a:t>
            </a:r>
          </a:p>
          <a:p>
            <a:pPr algn="l">
              <a:lnSpc>
                <a:spcPct val="130000"/>
              </a:lnSpc>
              <a:spcBef>
                <a:spcPts val="0"/>
              </a:spcBef>
              <a:spcAft>
                <a:spcPts val="0"/>
              </a:spcAft>
            </a:pPr>
            <a:r>
              <a:rPr sz="1000" b="0" i="0">
                <a:solidFill>
                  <a:srgbClr val="64748B"/>
                </a:solidFill>
                <a:latin typeface="Segoe UI"/>
              </a:rPr>
              <a:t>delivery stages completed</a:t>
            </a:r>
          </a:p>
        </p:txBody>
      </p:sp>
      <p:sp>
        <p:nvSpPr>
          <p:cNvPr id="9" name="Rounded Rectangle 8"/>
          <p:cNvSpPr/>
          <p:nvPr/>
        </p:nvSpPr>
        <p:spPr>
          <a:xfrm>
            <a:off x="3441115" y="2029967"/>
            <a:ext cx="2526715" cy="11887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78859" y="2231136"/>
            <a:ext cx="2051227" cy="786384"/>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203</a:t>
            </a:r>
          </a:p>
          <a:p>
            <a:pPr algn="l">
              <a:lnSpc>
                <a:spcPct val="130000"/>
              </a:lnSpc>
              <a:spcBef>
                <a:spcPts val="0"/>
              </a:spcBef>
              <a:spcAft>
                <a:spcPts val="0"/>
              </a:spcAft>
            </a:pPr>
            <a:r>
              <a:rPr sz="1000" b="0" i="0">
                <a:solidFill>
                  <a:srgbClr val="64748B"/>
                </a:solidFill>
                <a:latin typeface="Segoe UI"/>
              </a:rPr>
              <a:t>automated checks passed</a:t>
            </a:r>
          </a:p>
        </p:txBody>
      </p:sp>
      <p:sp>
        <p:nvSpPr>
          <p:cNvPr id="11" name="Rounded Rectangle 10"/>
          <p:cNvSpPr/>
          <p:nvPr/>
        </p:nvSpPr>
        <p:spPr>
          <a:xfrm>
            <a:off x="6223863" y="2029967"/>
            <a:ext cx="2526715" cy="11887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61607" y="2231136"/>
            <a:ext cx="2051227" cy="786384"/>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2</a:t>
            </a:r>
          </a:p>
          <a:p>
            <a:pPr algn="l">
              <a:lnSpc>
                <a:spcPct val="130000"/>
              </a:lnSpc>
              <a:spcBef>
                <a:spcPts val="0"/>
              </a:spcBef>
              <a:spcAft>
                <a:spcPts val="0"/>
              </a:spcAft>
            </a:pPr>
            <a:r>
              <a:rPr sz="1000" b="0" i="0">
                <a:solidFill>
                  <a:srgbClr val="64748B"/>
                </a:solidFill>
                <a:latin typeface="Segoe UI"/>
              </a:rPr>
              <a:t>non-passes, both explained</a:t>
            </a:r>
          </a:p>
        </p:txBody>
      </p:sp>
      <p:sp>
        <p:nvSpPr>
          <p:cNvPr id="13" name="Rounded Rectangle 12"/>
          <p:cNvSpPr/>
          <p:nvPr/>
        </p:nvSpPr>
        <p:spPr>
          <a:xfrm>
            <a:off x="9006611" y="2029967"/>
            <a:ext cx="2526715" cy="11887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244355" y="2231136"/>
            <a:ext cx="2051227" cy="786384"/>
          </a:xfrm>
          <a:prstGeom prst="rect">
            <a:avLst/>
          </a:prstGeom>
          <a:noFill/>
        </p:spPr>
        <p:txBody>
          <a:bodyPr wrap="square" lIns="0" rIns="0" tIns="0" bIns="0" anchor="ctr">
            <a:spAutoFit/>
          </a:bodyPr>
          <a:lstStyle/>
          <a:p>
            <a:pPr algn="l">
              <a:lnSpc>
                <a:spcPct val="100000"/>
              </a:lnSpc>
              <a:spcBef>
                <a:spcPts val="0"/>
              </a:spcBef>
              <a:spcAft>
                <a:spcPts val="500"/>
              </a:spcAft>
            </a:pPr>
            <a:r>
              <a:rPr sz="2600" b="1" i="0">
                <a:solidFill>
                  <a:srgbClr val="0F766E"/>
                </a:solidFill>
                <a:latin typeface="Georgia"/>
              </a:rPr>
              <a:t>1</a:t>
            </a:r>
          </a:p>
          <a:p>
            <a:pPr algn="l">
              <a:lnSpc>
                <a:spcPct val="130000"/>
              </a:lnSpc>
              <a:spcBef>
                <a:spcPts val="0"/>
              </a:spcBef>
              <a:spcAft>
                <a:spcPts val="0"/>
              </a:spcAft>
            </a:pPr>
            <a:r>
              <a:rPr sz="1000" b="0" i="0">
                <a:solidFill>
                  <a:srgbClr val="64748B"/>
                </a:solidFill>
                <a:latin typeface="Segoe UI"/>
              </a:rPr>
              <a:t>real bug found and fixed</a:t>
            </a:r>
          </a:p>
        </p:txBody>
      </p:sp>
      <p:sp>
        <p:nvSpPr>
          <p:cNvPr id="15" name="Rounded Rectangle 14"/>
          <p:cNvSpPr/>
          <p:nvPr/>
        </p:nvSpPr>
        <p:spPr>
          <a:xfrm>
            <a:off x="658368" y="3493008"/>
            <a:ext cx="10874959" cy="1133856"/>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69264" y="3730752"/>
            <a:ext cx="10253167" cy="822960"/>
          </a:xfrm>
          <a:prstGeom prst="rect">
            <a:avLst/>
          </a:prstGeom>
          <a:noFill/>
        </p:spPr>
        <p:txBody>
          <a:bodyPr wrap="square" lIns="0" rIns="0" tIns="0" bIns="0" anchor="t">
            <a:spAutoFit/>
          </a:bodyPr>
          <a:lstStyle/>
          <a:p>
            <a:pPr algn="l">
              <a:lnSpc>
                <a:spcPct val="142000"/>
              </a:lnSpc>
              <a:spcBef>
                <a:spcPts val="0"/>
              </a:spcBef>
              <a:spcAft>
                <a:spcPts val="800"/>
              </a:spcAft>
            </a:pPr>
            <a:r>
              <a:rPr sz="1300" b="0" i="0">
                <a:solidFill>
                  <a:srgbClr val="0F172A"/>
                </a:solidFill>
                <a:latin typeface="Segoe UI"/>
              </a:rPr>
              <a:t>Chapter 6 described a design. This chapter shows that it was built, that it was tested, and that it runs.</a:t>
            </a:r>
          </a:p>
          <a:p>
            <a:pPr algn="l">
              <a:lnSpc>
                <a:spcPct val="140000"/>
              </a:lnSpc>
              <a:spcBef>
                <a:spcPts val="0"/>
              </a:spcBef>
              <a:spcAft>
                <a:spcPts val="0"/>
              </a:spcAft>
            </a:pPr>
            <a:r>
              <a:rPr sz="1150" b="0" i="0">
                <a:solidFill>
                  <a:srgbClr val="64748B"/>
                </a:solidFill>
                <a:latin typeface="Segoe UI"/>
              </a:rPr>
              <a:t>Every figure on the following slides comes from an executed test run against a live database and a real blockchain, not from an estimate.</a:t>
            </a:r>
          </a:p>
        </p:txBody>
      </p:sp>
      <p:sp>
        <p:nvSpPr>
          <p:cNvPr id="17" name="Rounded Rectangle 16"/>
          <p:cNvSpPr/>
          <p:nvPr/>
        </p:nvSpPr>
        <p:spPr>
          <a:xfrm>
            <a:off x="658368" y="4882896"/>
            <a:ext cx="10874959" cy="84124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9264" y="5065776"/>
            <a:ext cx="10253167" cy="548640"/>
          </a:xfrm>
          <a:prstGeom prst="rect">
            <a:avLst/>
          </a:prstGeom>
          <a:noFill/>
        </p:spPr>
        <p:txBody>
          <a:bodyPr wrap="square" lIns="0" rIns="0" tIns="0" bIns="0" anchor="t">
            <a:spAutoFit/>
          </a:bodyPr>
          <a:lstStyle/>
          <a:p>
            <a:pPr algn="l">
              <a:lnSpc>
                <a:spcPct val="125000"/>
              </a:lnSpc>
              <a:spcBef>
                <a:spcPts val="0"/>
              </a:spcBef>
              <a:spcAft>
                <a:spcPts val="700"/>
              </a:spcAft>
            </a:pPr>
            <a:r>
              <a:rPr sz="850" b="1" i="0" spc="120">
                <a:solidFill>
                  <a:srgbClr val="134E4A"/>
                </a:solidFill>
                <a:latin typeface="Segoe UI"/>
              </a:rPr>
              <a:t>THE SHORT VERSION</a:t>
            </a:r>
          </a:p>
          <a:p>
            <a:pPr algn="l">
              <a:lnSpc>
                <a:spcPct val="135000"/>
              </a:lnSpc>
              <a:spcBef>
                <a:spcPts val="0"/>
              </a:spcBef>
              <a:spcAft>
                <a:spcPts val="0"/>
              </a:spcAft>
            </a:pPr>
            <a:r>
              <a:rPr sz="1200" b="0" i="0">
                <a:solidFill>
                  <a:srgbClr val="134E4A"/>
                </a:solidFill>
                <a:latin typeface="Segoe UI"/>
              </a:rPr>
              <a:t>It is deployed, it is public, and you can verify a donation on your own phone before the end of this presentation.</a:t>
            </a:r>
          </a:p>
        </p:txBody>
      </p:sp>
      <p:sp>
        <p:nvSpPr>
          <p:cNvPr id="19" name="Rectangle 18"/>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6345936"/>
            <a:ext cx="8092992"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22" name="TextBox 21"/>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7.2  ·  7.3</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Development Environment and Software Tools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One language across the whole stack, which keeps the contracts, the API and the client consistent.</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5282031" cy="22128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5282031"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50976" y="2340863"/>
            <a:ext cx="4696815"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Development Environment</a:t>
            </a:r>
          </a:p>
        </p:txBody>
      </p:sp>
      <p:sp>
        <p:nvSpPr>
          <p:cNvPr id="10" name="Rectangle 9"/>
          <p:cNvSpPr/>
          <p:nvPr/>
        </p:nvSpPr>
        <p:spPr>
          <a:xfrm>
            <a:off x="950976" y="2670047"/>
            <a:ext cx="1596917"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50976" y="2834639"/>
            <a:ext cx="4696815" cy="124358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Windows 11, Visual Studio Code</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Git and GitHub, main and develop branches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Node.js 24, npm workspaces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Local Hardhat node for chain development</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Neon branch database for integration</a:t>
            </a:r>
          </a:p>
        </p:txBody>
      </p:sp>
      <p:sp>
        <p:nvSpPr>
          <p:cNvPr id="12" name="Rounded Rectangle 11"/>
          <p:cNvSpPr/>
          <p:nvPr/>
        </p:nvSpPr>
        <p:spPr>
          <a:xfrm>
            <a:off x="6251295" y="2029967"/>
            <a:ext cx="5282031" cy="2212848"/>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51295" y="2029967"/>
            <a:ext cx="5282031"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43903" y="2340863"/>
            <a:ext cx="4696815" cy="27432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134E4A"/>
                </a:solidFill>
                <a:latin typeface="Georgia"/>
              </a:rPr>
              <a:t>Software Tools</a:t>
            </a:r>
          </a:p>
        </p:txBody>
      </p:sp>
      <p:sp>
        <p:nvSpPr>
          <p:cNvPr id="15" name="Rectangle 14"/>
          <p:cNvSpPr/>
          <p:nvPr/>
        </p:nvSpPr>
        <p:spPr>
          <a:xfrm>
            <a:off x="6543903" y="2670047"/>
            <a:ext cx="1596917" cy="177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43903" y="2834639"/>
            <a:ext cx="4696815" cy="1243584"/>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TypeScript across client, server and contracts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Vite, Tailwind CSS v4, shadcn/ui</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Drizzle ORM and Drizzle Kit migrations</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Hardhat, Ethers.js, Solidity</a:t>
            </a:r>
          </a:p>
          <a:p>
            <a:pPr algn="l" marL="160020" indent="-160020">
              <a:lnSpc>
                <a:spcPct val="134000"/>
              </a:lnSpc>
              <a:spcBef>
                <a:spcPts val="0"/>
              </a:spcBef>
              <a:spcAft>
                <a:spcPts val="600"/>
              </a:spcAft>
              <a:buClr>
                <a:srgbClr val="0F766E"/>
              </a:buClr>
              <a:buSzPts val="1050"/>
              <a:buFont typeface="Segoe UI"/>
              <a:buChar char="•"/>
            </a:pPr>
            <a:r>
              <a:rPr sz="1050" b="0" i="0">
                <a:solidFill>
                  <a:srgbClr val="64748B"/>
                </a:solidFill>
                <a:latin typeface="Segoe UI"/>
              </a:rPr>
              <a:t>ESLint, pdfkit, exceljs, Recharts</a:t>
            </a:r>
          </a:p>
        </p:txBody>
      </p:sp>
      <p:sp>
        <p:nvSpPr>
          <p:cNvPr id="17" name="TextBox 16"/>
          <p:cNvSpPr txBox="1"/>
          <p:nvPr/>
        </p:nvSpPr>
        <p:spPr>
          <a:xfrm>
            <a:off x="658368" y="4498848"/>
            <a:ext cx="4572000"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ENGINEERING DISCIPLINE</a:t>
            </a:r>
          </a:p>
        </p:txBody>
      </p:sp>
      <p:sp>
        <p:nvSpPr>
          <p:cNvPr id="18" name="Rounded Rectangle 17"/>
          <p:cNvSpPr/>
          <p:nvPr/>
        </p:nvSpPr>
        <p:spPr>
          <a:xfrm>
            <a:off x="658368" y="4791456"/>
            <a:ext cx="2540431" cy="859536"/>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4956048"/>
            <a:ext cx="210151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Conventional commits</a:t>
            </a:r>
          </a:p>
          <a:p>
            <a:pPr algn="l">
              <a:lnSpc>
                <a:spcPct val="125000"/>
              </a:lnSpc>
              <a:spcBef>
                <a:spcPts val="0"/>
              </a:spcBef>
              <a:spcAft>
                <a:spcPts val="0"/>
              </a:spcAft>
            </a:pPr>
            <a:r>
              <a:rPr sz="950" b="0" i="0">
                <a:solidFill>
                  <a:srgbClr val="64748B"/>
                </a:solidFill>
                <a:latin typeface="Segoe UI"/>
              </a:rPr>
              <a:t>small, reviewable history</a:t>
            </a:r>
          </a:p>
        </p:txBody>
      </p:sp>
      <p:sp>
        <p:nvSpPr>
          <p:cNvPr id="20" name="Rounded Rectangle 19"/>
          <p:cNvSpPr/>
          <p:nvPr/>
        </p:nvSpPr>
        <p:spPr>
          <a:xfrm>
            <a:off x="3436543" y="4791456"/>
            <a:ext cx="2540431" cy="859536"/>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55999" y="4956048"/>
            <a:ext cx="210151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Lint and build gate</a:t>
            </a:r>
          </a:p>
          <a:p>
            <a:pPr algn="l">
              <a:lnSpc>
                <a:spcPct val="125000"/>
              </a:lnSpc>
              <a:spcBef>
                <a:spcPts val="0"/>
              </a:spcBef>
              <a:spcAft>
                <a:spcPts val="0"/>
              </a:spcAft>
            </a:pPr>
            <a:r>
              <a:rPr sz="950" b="0" i="0">
                <a:solidFill>
                  <a:srgbClr val="64748B"/>
                </a:solidFill>
                <a:latin typeface="Segoe UI"/>
              </a:rPr>
              <a:t>zero errors before any commit</a:t>
            </a:r>
          </a:p>
        </p:txBody>
      </p:sp>
      <p:sp>
        <p:nvSpPr>
          <p:cNvPr id="22" name="Rounded Rectangle 21"/>
          <p:cNvSpPr/>
          <p:nvPr/>
        </p:nvSpPr>
        <p:spPr>
          <a:xfrm>
            <a:off x="6214719" y="4791456"/>
            <a:ext cx="2540431" cy="859536"/>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34175" y="4956048"/>
            <a:ext cx="210151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Staged verification</a:t>
            </a:r>
          </a:p>
          <a:p>
            <a:pPr algn="l">
              <a:lnSpc>
                <a:spcPct val="125000"/>
              </a:lnSpc>
              <a:spcBef>
                <a:spcPts val="0"/>
              </a:spcBef>
              <a:spcAft>
                <a:spcPts val="0"/>
              </a:spcAft>
            </a:pPr>
            <a:r>
              <a:rPr sz="950" b="0" i="0">
                <a:solidFill>
                  <a:srgbClr val="64748B"/>
                </a:solidFill>
                <a:latin typeface="Segoe UI"/>
              </a:rPr>
              <a:t>each stage E2E-tested before the next</a:t>
            </a:r>
          </a:p>
        </p:txBody>
      </p:sp>
      <p:sp>
        <p:nvSpPr>
          <p:cNvPr id="24" name="Rounded Rectangle 23"/>
          <p:cNvSpPr/>
          <p:nvPr/>
        </p:nvSpPr>
        <p:spPr>
          <a:xfrm>
            <a:off x="8992895" y="4791456"/>
            <a:ext cx="2540431" cy="859536"/>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12351" y="4956048"/>
            <a:ext cx="2101519" cy="548640"/>
          </a:xfrm>
          <a:prstGeom prst="rect">
            <a:avLst/>
          </a:prstGeom>
          <a:noFill/>
        </p:spPr>
        <p:txBody>
          <a:bodyPr wrap="square" lIns="0" rIns="0" tIns="0" bIns="0" anchor="t">
            <a:spAutoFit/>
          </a:bodyPr>
          <a:lstStyle/>
          <a:p>
            <a:pPr algn="l">
              <a:lnSpc>
                <a:spcPct val="125000"/>
              </a:lnSpc>
              <a:spcBef>
                <a:spcPts val="0"/>
              </a:spcBef>
              <a:spcAft>
                <a:spcPts val="400"/>
              </a:spcAft>
            </a:pPr>
            <a:r>
              <a:rPr sz="1100" b="1" i="0">
                <a:solidFill>
                  <a:srgbClr val="0F172A"/>
                </a:solidFill>
                <a:latin typeface="Segoe UI"/>
              </a:rPr>
              <a:t>Reproducible deck</a:t>
            </a:r>
          </a:p>
          <a:p>
            <a:pPr algn="l">
              <a:lnSpc>
                <a:spcPct val="125000"/>
              </a:lnSpc>
              <a:spcBef>
                <a:spcPts val="0"/>
              </a:spcBef>
              <a:spcAft>
                <a:spcPts val="0"/>
              </a:spcAft>
            </a:pPr>
            <a:r>
              <a:rPr sz="950" b="0" i="0">
                <a:solidFill>
                  <a:srgbClr val="64748B"/>
                </a:solidFill>
                <a:latin typeface="Segoe UI"/>
              </a:rPr>
              <a:t>this presentation is generated by script</a:t>
            </a:r>
          </a:p>
        </p:txBody>
      </p:sp>
      <p:sp>
        <p:nvSpPr>
          <p:cNvPr id="26" name="Rectangle 25"/>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8368" y="6345936"/>
            <a:ext cx="8345898"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29" name="TextBox 28"/>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7.4</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Implementation of Modules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Eight modules. Each maps to the functional requirements it fulfils.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86000"/>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Authentication</a:t>
            </a:r>
          </a:p>
          <a:p>
            <a:pPr algn="l">
              <a:lnSpc>
                <a:spcPct val="125000"/>
              </a:lnSpc>
              <a:spcBef>
                <a:spcPts val="0"/>
              </a:spcBef>
              <a:spcAft>
                <a:spcPts val="800"/>
              </a:spcAft>
            </a:pPr>
            <a:r>
              <a:rPr sz="900" b="0" i="0">
                <a:solidFill>
                  <a:srgbClr val="0F766E"/>
                </a:solidFill>
                <a:latin typeface="Consolas"/>
              </a:rPr>
              <a:t>FR-01, FR-02, FR-18</a:t>
            </a:r>
          </a:p>
          <a:p>
            <a:pPr algn="l">
              <a:lnSpc>
                <a:spcPct val="135000"/>
              </a:lnSpc>
              <a:spcBef>
                <a:spcPts val="0"/>
              </a:spcBef>
              <a:spcAft>
                <a:spcPts val="0"/>
              </a:spcAft>
            </a:pPr>
            <a:r>
              <a:rPr sz="1000" b="0" i="0">
                <a:solidFill>
                  <a:srgbClr val="64748B"/>
                </a:solidFill>
                <a:latin typeface="Segoe UI"/>
              </a:rPr>
              <a:t>Rotating refresh tokens, RBAC middleware, account lockout.</a:t>
            </a:r>
          </a:p>
        </p:txBody>
      </p:sp>
      <p:sp>
        <p:nvSpPr>
          <p:cNvPr id="10" name="Rounded Rectangle 9"/>
          <p:cNvSpPr/>
          <p:nvPr/>
        </p:nvSpPr>
        <p:spPr>
          <a:xfrm>
            <a:off x="3441115" y="2029967"/>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441115"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697147" y="2286000"/>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Campaigns</a:t>
            </a:r>
          </a:p>
          <a:p>
            <a:pPr algn="l">
              <a:lnSpc>
                <a:spcPct val="125000"/>
              </a:lnSpc>
              <a:spcBef>
                <a:spcPts val="0"/>
              </a:spcBef>
              <a:spcAft>
                <a:spcPts val="800"/>
              </a:spcAft>
            </a:pPr>
            <a:r>
              <a:rPr sz="900" b="0" i="0">
                <a:solidFill>
                  <a:srgbClr val="0F766E"/>
                </a:solidFill>
                <a:latin typeface="Consolas"/>
              </a:rPr>
              <a:t>FR-03, FR-10, FR-11, FR-15</a:t>
            </a:r>
          </a:p>
          <a:p>
            <a:pPr algn="l">
              <a:lnSpc>
                <a:spcPct val="135000"/>
              </a:lnSpc>
              <a:spcBef>
                <a:spcPts val="0"/>
              </a:spcBef>
              <a:spcAft>
                <a:spcPts val="0"/>
              </a:spcAft>
            </a:pPr>
            <a:r>
              <a:rPr sz="1000" b="0" i="0">
                <a:solidFill>
                  <a:srgbClr val="64748B"/>
                </a:solidFill>
                <a:latin typeface="Segoe UI"/>
              </a:rPr>
              <a:t>Ownership model with a six-state lifecycle and a review gate.</a:t>
            </a:r>
          </a:p>
        </p:txBody>
      </p:sp>
      <p:sp>
        <p:nvSpPr>
          <p:cNvPr id="13" name="Rounded Rectangle 12"/>
          <p:cNvSpPr/>
          <p:nvPr/>
        </p:nvSpPr>
        <p:spPr>
          <a:xfrm>
            <a:off x="6223863" y="2029967"/>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23863"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79895" y="2286000"/>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Donations and Payments</a:t>
            </a:r>
          </a:p>
          <a:p>
            <a:pPr algn="l">
              <a:lnSpc>
                <a:spcPct val="125000"/>
              </a:lnSpc>
              <a:spcBef>
                <a:spcPts val="0"/>
              </a:spcBef>
              <a:spcAft>
                <a:spcPts val="800"/>
              </a:spcAft>
            </a:pPr>
            <a:r>
              <a:rPr sz="900" b="0" i="0">
                <a:solidFill>
                  <a:srgbClr val="0F766E"/>
                </a:solidFill>
                <a:latin typeface="Consolas"/>
              </a:rPr>
              <a:t>FR-04, FR-05, FR-21</a:t>
            </a:r>
          </a:p>
          <a:p>
            <a:pPr algn="l">
              <a:lnSpc>
                <a:spcPct val="135000"/>
              </a:lnSpc>
              <a:spcBef>
                <a:spcPts val="0"/>
              </a:spcBef>
              <a:spcAft>
                <a:spcPts val="0"/>
              </a:spcAft>
            </a:pPr>
            <a:r>
              <a:rPr sz="1000" b="0" i="0">
                <a:solidFill>
                  <a:srgbClr val="64748B"/>
                </a:solidFill>
                <a:latin typeface="Segoe UI"/>
              </a:rPr>
              <a:t>Provider abstraction, idempotent callbacks, real PDF receipts.</a:t>
            </a:r>
          </a:p>
        </p:txBody>
      </p:sp>
      <p:sp>
        <p:nvSpPr>
          <p:cNvPr id="16" name="Rounded Rectangle 15"/>
          <p:cNvSpPr/>
          <p:nvPr/>
        </p:nvSpPr>
        <p:spPr>
          <a:xfrm>
            <a:off x="9006611" y="2029967"/>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006611" y="2029967"/>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262643" y="2286000"/>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Blockchain</a:t>
            </a:r>
          </a:p>
          <a:p>
            <a:pPr algn="l">
              <a:lnSpc>
                <a:spcPct val="125000"/>
              </a:lnSpc>
              <a:spcBef>
                <a:spcPts val="0"/>
              </a:spcBef>
              <a:spcAft>
                <a:spcPts val="800"/>
              </a:spcAft>
            </a:pPr>
            <a:r>
              <a:rPr sz="900" b="0" i="0">
                <a:solidFill>
                  <a:srgbClr val="0F766E"/>
                </a:solidFill>
                <a:latin typeface="Consolas"/>
              </a:rPr>
              <a:t>FR-06, FR-22, FR-24</a:t>
            </a:r>
          </a:p>
          <a:p>
            <a:pPr algn="l">
              <a:lnSpc>
                <a:spcPct val="135000"/>
              </a:lnSpc>
              <a:spcBef>
                <a:spcPts val="0"/>
              </a:spcBef>
              <a:spcAft>
                <a:spcPts val="0"/>
              </a:spcAft>
            </a:pPr>
            <a:r>
              <a:rPr sz="1000" b="0" i="0">
                <a:solidFill>
                  <a:srgbClr val="64748B"/>
                </a:solidFill>
                <a:latin typeface="Segoe UI"/>
              </a:rPr>
              <a:t>Deterministic proof hash, background write, live reconciliation.</a:t>
            </a:r>
          </a:p>
        </p:txBody>
      </p:sp>
      <p:sp>
        <p:nvSpPr>
          <p:cNvPr id="19" name="Rounded Rectangle 18"/>
          <p:cNvSpPr/>
          <p:nvPr/>
        </p:nvSpPr>
        <p:spPr>
          <a:xfrm>
            <a:off x="658368" y="3877056"/>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877056"/>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4400" y="4133088"/>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Beneficiaries</a:t>
            </a:r>
          </a:p>
          <a:p>
            <a:pPr algn="l">
              <a:lnSpc>
                <a:spcPct val="125000"/>
              </a:lnSpc>
              <a:spcBef>
                <a:spcPts val="0"/>
              </a:spcBef>
              <a:spcAft>
                <a:spcPts val="800"/>
              </a:spcAft>
            </a:pPr>
            <a:r>
              <a:rPr sz="900" b="0" i="0">
                <a:solidFill>
                  <a:srgbClr val="0F766E"/>
                </a:solidFill>
                <a:latin typeface="Consolas"/>
              </a:rPr>
              <a:t>FR-12, FR-16</a:t>
            </a:r>
          </a:p>
          <a:p>
            <a:pPr algn="l">
              <a:lnSpc>
                <a:spcPct val="135000"/>
              </a:lnSpc>
              <a:spcBef>
                <a:spcPts val="0"/>
              </a:spcBef>
              <a:spcAft>
                <a:spcPts val="0"/>
              </a:spcAft>
            </a:pPr>
            <a:r>
              <a:rPr sz="1000" b="0" i="0">
                <a:solidFill>
                  <a:srgbClr val="64748B"/>
                </a:solidFill>
                <a:latin typeface="Segoe UI"/>
              </a:rPr>
              <a:t>Administrator-only verification gates every payout.</a:t>
            </a:r>
          </a:p>
        </p:txBody>
      </p:sp>
      <p:sp>
        <p:nvSpPr>
          <p:cNvPr id="22" name="Rounded Rectangle 21"/>
          <p:cNvSpPr/>
          <p:nvPr/>
        </p:nvSpPr>
        <p:spPr>
          <a:xfrm>
            <a:off x="3441115" y="3877056"/>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41115" y="3877056"/>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697147" y="4133088"/>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Disbursements</a:t>
            </a:r>
          </a:p>
          <a:p>
            <a:pPr algn="l">
              <a:lnSpc>
                <a:spcPct val="125000"/>
              </a:lnSpc>
              <a:spcBef>
                <a:spcPts val="0"/>
              </a:spcBef>
              <a:spcAft>
                <a:spcPts val="800"/>
              </a:spcAft>
            </a:pPr>
            <a:r>
              <a:rPr sz="900" b="0" i="0">
                <a:solidFill>
                  <a:srgbClr val="0F766E"/>
                </a:solidFill>
                <a:latin typeface="Consolas"/>
              </a:rPr>
              <a:t>FR-13, FR-17</a:t>
            </a:r>
          </a:p>
          <a:p>
            <a:pPr algn="l">
              <a:lnSpc>
                <a:spcPct val="135000"/>
              </a:lnSpc>
              <a:spcBef>
                <a:spcPts val="0"/>
              </a:spcBef>
              <a:spcAft>
                <a:spcPts val="0"/>
              </a:spcAft>
            </a:pPr>
            <a:r>
              <a:rPr sz="1000" b="0" i="0">
                <a:solidFill>
                  <a:srgbClr val="64748B"/>
                </a:solidFill>
                <a:latin typeface="Segoe UI"/>
              </a:rPr>
              <a:t>Cumulative threshold, dual approval, self-approval blocked.</a:t>
            </a:r>
          </a:p>
        </p:txBody>
      </p:sp>
      <p:sp>
        <p:nvSpPr>
          <p:cNvPr id="25" name="Rounded Rectangle 24"/>
          <p:cNvSpPr/>
          <p:nvPr/>
        </p:nvSpPr>
        <p:spPr>
          <a:xfrm>
            <a:off x="6223863" y="3877056"/>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23863" y="3877056"/>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79895" y="4133088"/>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Rewards</a:t>
            </a:r>
          </a:p>
          <a:p>
            <a:pPr algn="l">
              <a:lnSpc>
                <a:spcPct val="125000"/>
              </a:lnSpc>
              <a:spcBef>
                <a:spcPts val="0"/>
              </a:spcBef>
              <a:spcAft>
                <a:spcPts val="800"/>
              </a:spcAft>
            </a:pPr>
            <a:r>
              <a:rPr sz="900" b="0" i="0">
                <a:solidFill>
                  <a:srgbClr val="0F766E"/>
                </a:solidFill>
                <a:latin typeface="Consolas"/>
              </a:rPr>
              <a:t>FR-08</a:t>
            </a:r>
          </a:p>
          <a:p>
            <a:pPr algn="l">
              <a:lnSpc>
                <a:spcPct val="135000"/>
              </a:lnSpc>
              <a:spcBef>
                <a:spcPts val="0"/>
              </a:spcBef>
              <a:spcAft>
                <a:spcPts val="0"/>
              </a:spcAft>
            </a:pPr>
            <a:r>
              <a:rPr sz="1000" b="0" i="0">
                <a:solidFill>
                  <a:srgbClr val="64748B"/>
                </a:solidFill>
                <a:latin typeface="Segoe UI"/>
              </a:rPr>
              <a:t>Append-only Impact Points ledger with derived balance and tier.</a:t>
            </a:r>
          </a:p>
        </p:txBody>
      </p:sp>
      <p:sp>
        <p:nvSpPr>
          <p:cNvPr id="28" name="Rounded Rectangle 27"/>
          <p:cNvSpPr/>
          <p:nvPr/>
        </p:nvSpPr>
        <p:spPr>
          <a:xfrm>
            <a:off x="9006611" y="3877056"/>
            <a:ext cx="2526715" cy="16459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006611" y="3877056"/>
            <a:ext cx="2526715"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262643" y="4133088"/>
            <a:ext cx="2014651" cy="1188720"/>
          </a:xfrm>
          <a:prstGeom prst="rect">
            <a:avLst/>
          </a:prstGeom>
          <a:noFill/>
        </p:spPr>
        <p:txBody>
          <a:bodyPr wrap="square" lIns="0" rIns="0" tIns="0" bIns="0" anchor="t">
            <a:spAutoFit/>
          </a:bodyPr>
          <a:lstStyle/>
          <a:p>
            <a:pPr algn="l">
              <a:lnSpc>
                <a:spcPct val="125000"/>
              </a:lnSpc>
              <a:spcBef>
                <a:spcPts val="0"/>
              </a:spcBef>
              <a:spcAft>
                <a:spcPts val="700"/>
              </a:spcAft>
            </a:pPr>
            <a:r>
              <a:rPr sz="1250" b="1" i="0">
                <a:solidFill>
                  <a:srgbClr val="0F172A"/>
                </a:solidFill>
                <a:latin typeface="Georgia"/>
              </a:rPr>
              <a:t>Reporting and Audit</a:t>
            </a:r>
          </a:p>
          <a:p>
            <a:pPr algn="l">
              <a:lnSpc>
                <a:spcPct val="125000"/>
              </a:lnSpc>
              <a:spcBef>
                <a:spcPts val="0"/>
              </a:spcBef>
              <a:spcAft>
                <a:spcPts val="800"/>
              </a:spcAft>
            </a:pPr>
            <a:r>
              <a:rPr sz="900" b="0" i="0">
                <a:solidFill>
                  <a:srgbClr val="0F766E"/>
                </a:solidFill>
                <a:latin typeface="Consolas"/>
              </a:rPr>
              <a:t>FR-19, FR-20</a:t>
            </a:r>
          </a:p>
          <a:p>
            <a:pPr algn="l">
              <a:lnSpc>
                <a:spcPct val="135000"/>
              </a:lnSpc>
              <a:spcBef>
                <a:spcPts val="0"/>
              </a:spcBef>
              <a:spcAft>
                <a:spcPts val="0"/>
              </a:spcAft>
            </a:pPr>
            <a:r>
              <a:rPr sz="1000" b="0" i="0">
                <a:solidFill>
                  <a:srgbClr val="64748B"/>
                </a:solidFill>
                <a:latin typeface="Segoe UI"/>
              </a:rPr>
              <a:t>Five report types, three export formats, one shared export utility.</a:t>
            </a:r>
          </a:p>
        </p:txBody>
      </p:sp>
      <p:sp>
        <p:nvSpPr>
          <p:cNvPr id="31" name="Rectangle 3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6345936"/>
            <a:ext cx="8598804"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34" name="TextBox 3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7.4.1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Two Problems Worth Describing</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Both are correctness problems that only appear under failure or duplication.</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5282031" cy="21031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950976" y="2286000"/>
            <a:ext cx="969264" cy="256032"/>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FFFFFF"/>
                </a:solidFill>
                <a:latin typeface="Segoe UI"/>
              </a:rPr>
              <a:t>Problem 1</a:t>
            </a:r>
          </a:p>
        </p:txBody>
      </p:sp>
      <p:sp>
        <p:nvSpPr>
          <p:cNvPr id="9" name="TextBox 8"/>
          <p:cNvSpPr txBox="1"/>
          <p:nvPr/>
        </p:nvSpPr>
        <p:spPr>
          <a:xfrm>
            <a:off x="950976" y="2706624"/>
            <a:ext cx="4696815" cy="1280160"/>
          </a:xfrm>
          <a:prstGeom prst="rect">
            <a:avLst/>
          </a:prstGeom>
          <a:noFill/>
        </p:spPr>
        <p:txBody>
          <a:bodyPr wrap="square" lIns="0" rIns="0" tIns="0" bIns="0" anchor="t">
            <a:spAutoFit/>
          </a:bodyPr>
          <a:lstStyle/>
          <a:p>
            <a:pPr algn="l">
              <a:lnSpc>
                <a:spcPct val="120000"/>
              </a:lnSpc>
              <a:spcBef>
                <a:spcPts val="0"/>
              </a:spcBef>
              <a:spcAft>
                <a:spcPts val="1000"/>
              </a:spcAft>
            </a:pPr>
            <a:r>
              <a:rPr sz="1300" b="1" i="0">
                <a:solidFill>
                  <a:srgbClr val="0F172A"/>
                </a:solidFill>
                <a:latin typeface="Georgia"/>
              </a:rPr>
              <a:t>A failed blockchain write must never lose a donation</a:t>
            </a:r>
          </a:p>
          <a:p>
            <a:pPr algn="l">
              <a:lnSpc>
                <a:spcPct val="142000"/>
              </a:lnSpc>
              <a:spcBef>
                <a:spcPts val="0"/>
              </a:spcBef>
              <a:spcAft>
                <a:spcPts val="0"/>
              </a:spcAft>
            </a:pPr>
            <a:r>
              <a:rPr sz="1100" b="0" i="0">
                <a:solidFill>
                  <a:srgbClr val="64748B"/>
                </a:solidFill>
                <a:latin typeface="Segoe UI"/>
              </a:rPr>
              <a:t>The chain write is fired after the donation commits and is never awaited by the payment callback. If it crashes, the proof stays pending and the next verification read reconciles it live against the contract.</a:t>
            </a:r>
          </a:p>
        </p:txBody>
      </p:sp>
      <p:sp>
        <p:nvSpPr>
          <p:cNvPr id="10" name="Rounded Rectangle 9"/>
          <p:cNvSpPr/>
          <p:nvPr/>
        </p:nvSpPr>
        <p:spPr>
          <a:xfrm>
            <a:off x="6251295" y="2029967"/>
            <a:ext cx="5282031" cy="210312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543903" y="2286000"/>
            <a:ext cx="969264" cy="256032"/>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FFFFFF"/>
                </a:solidFill>
                <a:latin typeface="Segoe UI"/>
              </a:rPr>
              <a:t>Problem 2</a:t>
            </a:r>
          </a:p>
        </p:txBody>
      </p:sp>
      <p:sp>
        <p:nvSpPr>
          <p:cNvPr id="12" name="TextBox 11"/>
          <p:cNvSpPr txBox="1"/>
          <p:nvPr/>
        </p:nvSpPr>
        <p:spPr>
          <a:xfrm>
            <a:off x="6543903" y="2706624"/>
            <a:ext cx="4696815" cy="1280160"/>
          </a:xfrm>
          <a:prstGeom prst="rect">
            <a:avLst/>
          </a:prstGeom>
          <a:noFill/>
        </p:spPr>
        <p:txBody>
          <a:bodyPr wrap="square" lIns="0" rIns="0" tIns="0" bIns="0" anchor="t">
            <a:spAutoFit/>
          </a:bodyPr>
          <a:lstStyle/>
          <a:p>
            <a:pPr algn="l">
              <a:lnSpc>
                <a:spcPct val="120000"/>
              </a:lnSpc>
              <a:spcBef>
                <a:spcPts val="0"/>
              </a:spcBef>
              <a:spcAft>
                <a:spcPts val="1000"/>
              </a:spcAft>
            </a:pPr>
            <a:r>
              <a:rPr sz="1300" b="1" i="0">
                <a:solidFill>
                  <a:srgbClr val="0F172A"/>
                </a:solidFill>
                <a:latin typeface="Georgia"/>
              </a:rPr>
              <a:t>A payment provider may deliver the same callback twice</a:t>
            </a:r>
          </a:p>
          <a:p>
            <a:pPr algn="l">
              <a:lnSpc>
                <a:spcPct val="142000"/>
              </a:lnSpc>
              <a:spcBef>
                <a:spcPts val="0"/>
              </a:spcBef>
              <a:spcAft>
                <a:spcPts val="0"/>
              </a:spcAft>
            </a:pPr>
            <a:r>
              <a:rPr sz="1100" b="0" i="0">
                <a:solidFill>
                  <a:srgbClr val="64748B"/>
                </a:solidFill>
                <a:latin typeface="Segoe UI"/>
              </a:rPr>
              <a:t>Finalisation runs in one atomic transaction keyed on the payment reference. A duplicate callback resolves to the same donation, and the campaign total is credited exactly once.</a:t>
            </a:r>
          </a:p>
        </p:txBody>
      </p:sp>
      <p:sp>
        <p:nvSpPr>
          <p:cNvPr id="13" name="Rounded Rectangle 12"/>
          <p:cNvSpPr/>
          <p:nvPr/>
        </p:nvSpPr>
        <p:spPr>
          <a:xfrm>
            <a:off x="658368" y="4389120"/>
            <a:ext cx="10874959" cy="1207008"/>
          </a:xfrm>
          <a:prstGeom prst="roundRect">
            <a:avLst>
              <a:gd name="adj" fmla="val 4500"/>
            </a:avLst>
          </a:prstGeom>
          <a:solidFill>
            <a:srgbClr val="134E4A"/>
          </a:solidFill>
          <a:ln w="9525">
            <a:solidFill>
              <a:srgbClr val="134E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9264" y="4626864"/>
            <a:ext cx="10253167" cy="822960"/>
          </a:xfrm>
          <a:prstGeom prst="rect">
            <a:avLst/>
          </a:prstGeom>
          <a:noFill/>
        </p:spPr>
        <p:txBody>
          <a:bodyPr wrap="square" lIns="0" rIns="0" tIns="0" bIns="0" anchor="t">
            <a:spAutoFit/>
          </a:bodyPr>
          <a:lstStyle/>
          <a:p>
            <a:pPr algn="l">
              <a:lnSpc>
                <a:spcPct val="125000"/>
              </a:lnSpc>
              <a:spcBef>
                <a:spcPts val="0"/>
              </a:spcBef>
              <a:spcAft>
                <a:spcPts val="1000"/>
              </a:spcAft>
            </a:pPr>
            <a:r>
              <a:rPr sz="850" b="1" i="0" spc="120">
                <a:solidFill>
                  <a:srgbClr val="5EEAD4"/>
                </a:solidFill>
                <a:latin typeface="Segoe UI"/>
              </a:rPr>
              <a:t>THE PRINCIPLE BEHIND BOTH</a:t>
            </a:r>
          </a:p>
          <a:p>
            <a:pPr algn="l">
              <a:lnSpc>
                <a:spcPct val="145000"/>
              </a:lnSpc>
              <a:spcBef>
                <a:spcPts val="0"/>
              </a:spcBef>
              <a:spcAft>
                <a:spcPts val="0"/>
              </a:spcAft>
            </a:pPr>
            <a:r>
              <a:rPr sz="1200" b="0" i="0">
                <a:solidFill>
                  <a:srgbClr val="FFFFFF"/>
                </a:solidFill>
                <a:latin typeface="Segoe UI"/>
              </a:rPr>
              <a:t>Money is the source of truth, proof is a consequence of it. The database transaction is the thing that must never fail or double-apply. Everything downstream, including the blockchain write, is allowed to retry, lag, or self-heal without ever putting a donation at risk.</a:t>
            </a:r>
          </a:p>
        </p:txBody>
      </p:sp>
      <p:sp>
        <p:nvSpPr>
          <p:cNvPr id="15" name="Rectangle 14"/>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6345936"/>
            <a:ext cx="8851710"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18" name="TextBox 17"/>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7.5</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Testing Strategy</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Four levels. Each answers a different question about the system.</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26715" cy="23774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914400" y="2267711"/>
            <a:ext cx="621792" cy="256032"/>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Unit</a:t>
            </a:r>
          </a:p>
        </p:txBody>
      </p:sp>
      <p:sp>
        <p:nvSpPr>
          <p:cNvPr id="9" name="TextBox 8"/>
          <p:cNvSpPr txBox="1"/>
          <p:nvPr/>
        </p:nvSpPr>
        <p:spPr>
          <a:xfrm>
            <a:off x="914400" y="2651760"/>
            <a:ext cx="2014651" cy="137160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0F172A"/>
                </a:solidFill>
                <a:latin typeface="Georgia"/>
              </a:rPr>
              <a:t>Unit Testing</a:t>
            </a:r>
          </a:p>
          <a:p>
            <a:pPr algn="l">
              <a:lnSpc>
                <a:spcPct val="138000"/>
              </a:lnSpc>
              <a:spcBef>
                <a:spcPts val="0"/>
              </a:spcBef>
              <a:spcAft>
                <a:spcPts val="0"/>
              </a:spcAft>
            </a:pPr>
            <a:r>
              <a:rPr sz="1000" b="0" i="0">
                <a:solidFill>
                  <a:srgbClr val="64748B"/>
                </a:solidFill>
                <a:latin typeface="Segoe UI"/>
              </a:rPr>
              <a:t>Hardhat tests over the smart contract: registration, duplicate rejection, owner-only writes, retrieval.</a:t>
            </a:r>
          </a:p>
        </p:txBody>
      </p:sp>
      <p:sp>
        <p:nvSpPr>
          <p:cNvPr id="10" name="Rectangle 9"/>
          <p:cNvSpPr/>
          <p:nvPr/>
        </p:nvSpPr>
        <p:spPr>
          <a:xfrm>
            <a:off x="914400" y="4005072"/>
            <a:ext cx="2014651"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114800"/>
            <a:ext cx="2014651" cy="219456"/>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0F766E"/>
                </a:solidFill>
                <a:latin typeface="Segoe UI"/>
              </a:rPr>
              <a:t>4 / 4 passing</a:t>
            </a:r>
          </a:p>
        </p:txBody>
      </p:sp>
      <p:sp>
        <p:nvSpPr>
          <p:cNvPr id="12" name="Rounded Rectangle 11"/>
          <p:cNvSpPr/>
          <p:nvPr/>
        </p:nvSpPr>
        <p:spPr>
          <a:xfrm>
            <a:off x="3441115" y="2029967"/>
            <a:ext cx="2526715" cy="23774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3697147" y="2267711"/>
            <a:ext cx="621792" cy="256032"/>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Int</a:t>
            </a:r>
          </a:p>
        </p:txBody>
      </p:sp>
      <p:sp>
        <p:nvSpPr>
          <p:cNvPr id="14" name="TextBox 13"/>
          <p:cNvSpPr txBox="1"/>
          <p:nvPr/>
        </p:nvSpPr>
        <p:spPr>
          <a:xfrm>
            <a:off x="3697147" y="2651760"/>
            <a:ext cx="2014651" cy="137160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0F172A"/>
                </a:solidFill>
                <a:latin typeface="Georgia"/>
              </a:rPr>
              <a:t>Integration Testing</a:t>
            </a:r>
          </a:p>
          <a:p>
            <a:pPr algn="l">
              <a:lnSpc>
                <a:spcPct val="138000"/>
              </a:lnSpc>
              <a:spcBef>
                <a:spcPts val="0"/>
              </a:spcBef>
              <a:spcAft>
                <a:spcPts val="0"/>
              </a:spcAft>
            </a:pPr>
            <a:r>
              <a:rPr sz="1000" b="0" i="0">
                <a:solidFill>
                  <a:srgbClr val="64748B"/>
                </a:solidFill>
                <a:latin typeface="Segoe UI"/>
              </a:rPr>
              <a:t>Automated API suites per stage against live PostgreSQL and a real chain, asserting cross-module behaviour.</a:t>
            </a:r>
          </a:p>
        </p:txBody>
      </p:sp>
      <p:sp>
        <p:nvSpPr>
          <p:cNvPr id="15" name="Rectangle 14"/>
          <p:cNvSpPr/>
          <p:nvPr/>
        </p:nvSpPr>
        <p:spPr>
          <a:xfrm>
            <a:off x="3697147" y="4005072"/>
            <a:ext cx="2014651"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97147" y="4114800"/>
            <a:ext cx="2014651" cy="219456"/>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0F766E"/>
                </a:solidFill>
                <a:latin typeface="Segoe UI"/>
              </a:rPr>
              <a:t>Per stage, below</a:t>
            </a:r>
          </a:p>
        </p:txBody>
      </p:sp>
      <p:sp>
        <p:nvSpPr>
          <p:cNvPr id="17" name="Rounded Rectangle 16"/>
          <p:cNvSpPr/>
          <p:nvPr/>
        </p:nvSpPr>
        <p:spPr>
          <a:xfrm>
            <a:off x="6223863" y="2029967"/>
            <a:ext cx="2526715" cy="23774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479895" y="2267711"/>
            <a:ext cx="621792" cy="256032"/>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Sys</a:t>
            </a:r>
          </a:p>
        </p:txBody>
      </p:sp>
      <p:sp>
        <p:nvSpPr>
          <p:cNvPr id="19" name="TextBox 18"/>
          <p:cNvSpPr txBox="1"/>
          <p:nvPr/>
        </p:nvSpPr>
        <p:spPr>
          <a:xfrm>
            <a:off x="6479895" y="2651760"/>
            <a:ext cx="2014651" cy="137160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0F172A"/>
                </a:solidFill>
                <a:latin typeface="Georgia"/>
              </a:rPr>
              <a:t>System Testing</a:t>
            </a:r>
          </a:p>
          <a:p>
            <a:pPr algn="l">
              <a:lnSpc>
                <a:spcPct val="138000"/>
              </a:lnSpc>
              <a:spcBef>
                <a:spcPts val="0"/>
              </a:spcBef>
              <a:spcAft>
                <a:spcPts val="0"/>
              </a:spcAft>
            </a:pPr>
            <a:r>
              <a:rPr sz="1000" b="0" i="0">
                <a:solidFill>
                  <a:srgbClr val="64748B"/>
                </a:solidFill>
                <a:latin typeface="Segoe UI"/>
              </a:rPr>
              <a:t>Real-browser checks of complete journeys: register, donate, verify, administer, review.</a:t>
            </a:r>
          </a:p>
        </p:txBody>
      </p:sp>
      <p:sp>
        <p:nvSpPr>
          <p:cNvPr id="20" name="Rectangle 19"/>
          <p:cNvSpPr/>
          <p:nvPr/>
        </p:nvSpPr>
        <p:spPr>
          <a:xfrm>
            <a:off x="6479895" y="4005072"/>
            <a:ext cx="2014651"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79895" y="4114800"/>
            <a:ext cx="2014651" cy="219456"/>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0F766E"/>
                </a:solidFill>
                <a:latin typeface="Segoe UI"/>
              </a:rPr>
              <a:t>28 browser checks</a:t>
            </a:r>
          </a:p>
        </p:txBody>
      </p:sp>
      <p:sp>
        <p:nvSpPr>
          <p:cNvPr id="22" name="Rounded Rectangle 21"/>
          <p:cNvSpPr/>
          <p:nvPr/>
        </p:nvSpPr>
        <p:spPr>
          <a:xfrm>
            <a:off x="9006611" y="2029967"/>
            <a:ext cx="2526715" cy="2377440"/>
          </a:xfrm>
          <a:prstGeom prst="roundRect">
            <a:avLst>
              <a:gd name="adj" fmla="val 45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9262643" y="2267711"/>
            <a:ext cx="621792" cy="256032"/>
          </a:xfrm>
          <a:prstGeom prst="roundRect">
            <a:avLst>
              <a:gd name="adj" fmla="val 50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5000"/>
              </a:lnSpc>
              <a:spcBef>
                <a:spcPts val="0"/>
              </a:spcBef>
              <a:spcAft>
                <a:spcPts val="0"/>
              </a:spcAft>
            </a:pPr>
            <a:r>
              <a:rPr sz="900" b="1" i="0" spc="60">
                <a:solidFill>
                  <a:srgbClr val="134E4A"/>
                </a:solidFill>
                <a:latin typeface="Segoe UI"/>
              </a:rPr>
              <a:t>UAT</a:t>
            </a:r>
          </a:p>
        </p:txBody>
      </p:sp>
      <p:sp>
        <p:nvSpPr>
          <p:cNvPr id="24" name="TextBox 23"/>
          <p:cNvSpPr txBox="1"/>
          <p:nvPr/>
        </p:nvSpPr>
        <p:spPr>
          <a:xfrm>
            <a:off x="9262643" y="2651760"/>
            <a:ext cx="2014651" cy="1371600"/>
          </a:xfrm>
          <a:prstGeom prst="rect">
            <a:avLst/>
          </a:prstGeom>
          <a:noFill/>
        </p:spPr>
        <p:txBody>
          <a:bodyPr wrap="square" lIns="0" rIns="0" tIns="0" bIns="0" anchor="t">
            <a:spAutoFit/>
          </a:bodyPr>
          <a:lstStyle/>
          <a:p>
            <a:pPr algn="l">
              <a:lnSpc>
                <a:spcPct val="115000"/>
              </a:lnSpc>
              <a:spcBef>
                <a:spcPts val="0"/>
              </a:spcBef>
              <a:spcAft>
                <a:spcPts val="800"/>
              </a:spcAft>
            </a:pPr>
            <a:r>
              <a:rPr sz="1250" b="1" i="0">
                <a:solidFill>
                  <a:srgbClr val="0F172A"/>
                </a:solidFill>
                <a:latin typeface="Georgia"/>
              </a:rPr>
              <a:t>User Acceptance Testing</a:t>
            </a:r>
          </a:p>
          <a:p>
            <a:pPr algn="l">
              <a:lnSpc>
                <a:spcPct val="138000"/>
              </a:lnSpc>
              <a:spcBef>
                <a:spcPts val="0"/>
              </a:spcBef>
              <a:spcAft>
                <a:spcPts val="0"/>
              </a:spcAft>
            </a:pPr>
            <a:r>
              <a:rPr sz="1000" b="0" i="0">
                <a:solidFill>
                  <a:srgbClr val="64748B"/>
                </a:solidFill>
                <a:latin typeface="Segoe UI"/>
              </a:rPr>
              <a:t>Structured acceptance walkthrough on the live deployment against the documented acceptance criteria.</a:t>
            </a:r>
          </a:p>
        </p:txBody>
      </p:sp>
      <p:sp>
        <p:nvSpPr>
          <p:cNvPr id="25" name="Rectangle 24"/>
          <p:cNvSpPr/>
          <p:nvPr/>
        </p:nvSpPr>
        <p:spPr>
          <a:xfrm>
            <a:off x="9262643" y="4005072"/>
            <a:ext cx="2014651"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62643" y="4114800"/>
            <a:ext cx="2014651" cy="219456"/>
          </a:xfrm>
          <a:prstGeom prst="rect">
            <a:avLst/>
          </a:prstGeom>
          <a:noFill/>
        </p:spPr>
        <p:txBody>
          <a:bodyPr wrap="square" lIns="0" rIns="0" tIns="0" bIns="0" anchor="t">
            <a:spAutoFit/>
          </a:bodyPr>
          <a:lstStyle/>
          <a:p>
            <a:pPr algn="l">
              <a:lnSpc>
                <a:spcPct val="125000"/>
              </a:lnSpc>
              <a:spcBef>
                <a:spcPts val="0"/>
              </a:spcBef>
              <a:spcAft>
                <a:spcPts val="0"/>
              </a:spcAft>
            </a:pPr>
            <a:r>
              <a:rPr sz="1000" b="1" i="0">
                <a:solidFill>
                  <a:srgbClr val="0F766E"/>
                </a:solidFill>
                <a:latin typeface="Segoe UI"/>
              </a:rPr>
              <a:t>Developer-executed</a:t>
            </a:r>
          </a:p>
        </p:txBody>
      </p:sp>
      <p:sp>
        <p:nvSpPr>
          <p:cNvPr id="27" name="Rounded Rectangle 26"/>
          <p:cNvSpPr/>
          <p:nvPr/>
        </p:nvSpPr>
        <p:spPr>
          <a:xfrm>
            <a:off x="658368" y="4663440"/>
            <a:ext cx="10874959" cy="914400"/>
          </a:xfrm>
          <a:prstGeom prst="roundRect">
            <a:avLst>
              <a:gd name="adj" fmla="val 45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9264" y="4846320"/>
            <a:ext cx="10253167" cy="64008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0F766E"/>
                </a:solidFill>
                <a:latin typeface="Segoe UI"/>
              </a:rPr>
              <a:t>WHAT WAS TESTED AGAINST</a:t>
            </a:r>
          </a:p>
          <a:p>
            <a:pPr algn="l">
              <a:lnSpc>
                <a:spcPct val="140000"/>
              </a:lnSpc>
              <a:spcBef>
                <a:spcPts val="0"/>
              </a:spcBef>
              <a:spcAft>
                <a:spcPts val="0"/>
              </a:spcAft>
            </a:pPr>
            <a:r>
              <a:rPr sz="1100" b="0" i="0">
                <a:solidFill>
                  <a:srgbClr val="0F172A"/>
                </a:solidFill>
                <a:latin typeface="Segoe UI"/>
              </a:rPr>
              <a:t>Not mocks. Integration suites ran against the live Neon PostgreSQL instance and a real blockchain node, and one check cross-referenced the node's own log to confirm the exact transaction hash the API returned.</a:t>
            </a:r>
          </a:p>
        </p:txBody>
      </p:sp>
      <p:sp>
        <p:nvSpPr>
          <p:cNvPr id="29" name="Rectangle 28"/>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6345936"/>
            <a:ext cx="9104617"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32" name="TextBox 31"/>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7.6</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Test Cases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A representative sample. Each maps back to a numbered requirement from 5.4.</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2029967"/>
            <a:ext cx="10874959" cy="384048"/>
          </a:xfrm>
          <a:prstGeom prst="rect">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6384" y="2029967"/>
            <a:ext cx="566928" cy="384048"/>
          </a:xfrm>
          <a:prstGeom prst="rect">
            <a:avLst/>
          </a:prstGeom>
          <a:noFill/>
        </p:spPr>
        <p:txBody>
          <a:bodyPr wrap="square" lIns="0" rIns="0" tIns="0" bIns="0" anchor="ctr">
            <a:spAutoFit/>
          </a:bodyPr>
          <a:lstStyle/>
          <a:p>
            <a:pPr algn="l">
              <a:lnSpc>
                <a:spcPct val="115000"/>
              </a:lnSpc>
              <a:spcBef>
                <a:spcPts val="0"/>
              </a:spcBef>
              <a:spcAft>
                <a:spcPts val="0"/>
              </a:spcAft>
            </a:pPr>
            <a:r>
              <a:rPr sz="950" b="1" i="0" spc="50">
                <a:solidFill>
                  <a:srgbClr val="FFFFFF"/>
                </a:solidFill>
                <a:latin typeface="Segoe UI"/>
              </a:rPr>
              <a:t>ID</a:t>
            </a:r>
          </a:p>
        </p:txBody>
      </p:sp>
      <p:sp>
        <p:nvSpPr>
          <p:cNvPr id="9" name="TextBox 8"/>
          <p:cNvSpPr txBox="1"/>
          <p:nvPr/>
        </p:nvSpPr>
        <p:spPr>
          <a:xfrm>
            <a:off x="1572768" y="2029967"/>
            <a:ext cx="2112263" cy="384048"/>
          </a:xfrm>
          <a:prstGeom prst="rect">
            <a:avLst/>
          </a:prstGeom>
          <a:noFill/>
        </p:spPr>
        <p:txBody>
          <a:bodyPr wrap="square" lIns="0" rIns="0" tIns="0" bIns="0" anchor="ctr">
            <a:spAutoFit/>
          </a:bodyPr>
          <a:lstStyle/>
          <a:p>
            <a:pPr algn="l">
              <a:lnSpc>
                <a:spcPct val="115000"/>
              </a:lnSpc>
              <a:spcBef>
                <a:spcPts val="0"/>
              </a:spcBef>
              <a:spcAft>
                <a:spcPts val="0"/>
              </a:spcAft>
            </a:pPr>
            <a:r>
              <a:rPr sz="1000" b="1" i="0" spc="50">
                <a:solidFill>
                  <a:srgbClr val="FFFFFF"/>
                </a:solidFill>
                <a:latin typeface="Segoe UI"/>
              </a:rPr>
              <a:t>Description</a:t>
            </a:r>
          </a:p>
        </p:txBody>
      </p:sp>
      <p:sp>
        <p:nvSpPr>
          <p:cNvPr id="10" name="TextBox 9"/>
          <p:cNvSpPr txBox="1"/>
          <p:nvPr/>
        </p:nvSpPr>
        <p:spPr>
          <a:xfrm>
            <a:off x="3904487" y="2029967"/>
            <a:ext cx="2386584" cy="384048"/>
          </a:xfrm>
          <a:prstGeom prst="rect">
            <a:avLst/>
          </a:prstGeom>
          <a:noFill/>
        </p:spPr>
        <p:txBody>
          <a:bodyPr wrap="square" lIns="0" rIns="0" tIns="0" bIns="0" anchor="ctr">
            <a:spAutoFit/>
          </a:bodyPr>
          <a:lstStyle/>
          <a:p>
            <a:pPr algn="l">
              <a:lnSpc>
                <a:spcPct val="115000"/>
              </a:lnSpc>
              <a:spcBef>
                <a:spcPts val="0"/>
              </a:spcBef>
              <a:spcAft>
                <a:spcPts val="0"/>
              </a:spcAft>
            </a:pPr>
            <a:r>
              <a:rPr sz="950" b="1" i="0" spc="50">
                <a:solidFill>
                  <a:srgbClr val="FFFFFF"/>
                </a:solidFill>
                <a:latin typeface="Segoe UI"/>
              </a:rPr>
              <a:t>Input</a:t>
            </a:r>
          </a:p>
        </p:txBody>
      </p:sp>
      <p:sp>
        <p:nvSpPr>
          <p:cNvPr id="11" name="TextBox 10"/>
          <p:cNvSpPr txBox="1"/>
          <p:nvPr/>
        </p:nvSpPr>
        <p:spPr>
          <a:xfrm>
            <a:off x="6510528" y="2029967"/>
            <a:ext cx="3758183" cy="384048"/>
          </a:xfrm>
          <a:prstGeom prst="rect">
            <a:avLst/>
          </a:prstGeom>
          <a:noFill/>
        </p:spPr>
        <p:txBody>
          <a:bodyPr wrap="square" lIns="0" rIns="0" tIns="0" bIns="0" anchor="ctr">
            <a:spAutoFit/>
          </a:bodyPr>
          <a:lstStyle/>
          <a:p>
            <a:pPr algn="l">
              <a:lnSpc>
                <a:spcPct val="115000"/>
              </a:lnSpc>
              <a:spcBef>
                <a:spcPts val="0"/>
              </a:spcBef>
              <a:spcAft>
                <a:spcPts val="0"/>
              </a:spcAft>
            </a:pPr>
            <a:r>
              <a:rPr sz="950" b="1" i="0" spc="50">
                <a:solidFill>
                  <a:srgbClr val="FFFFFF"/>
                </a:solidFill>
                <a:latin typeface="Segoe UI"/>
              </a:rPr>
              <a:t>Expected result</a:t>
            </a:r>
          </a:p>
        </p:txBody>
      </p:sp>
      <p:sp>
        <p:nvSpPr>
          <p:cNvPr id="12" name="TextBox 11"/>
          <p:cNvSpPr txBox="1"/>
          <p:nvPr/>
        </p:nvSpPr>
        <p:spPr>
          <a:xfrm>
            <a:off x="10488168" y="2029967"/>
            <a:ext cx="950976" cy="384048"/>
          </a:xfrm>
          <a:prstGeom prst="rect">
            <a:avLst/>
          </a:prstGeom>
          <a:noFill/>
        </p:spPr>
        <p:txBody>
          <a:bodyPr wrap="square" lIns="0" rIns="0" tIns="0" bIns="0" anchor="ctr">
            <a:spAutoFit/>
          </a:bodyPr>
          <a:lstStyle/>
          <a:p>
            <a:pPr algn="l">
              <a:lnSpc>
                <a:spcPct val="115000"/>
              </a:lnSpc>
              <a:spcBef>
                <a:spcPts val="0"/>
              </a:spcBef>
              <a:spcAft>
                <a:spcPts val="0"/>
              </a:spcAft>
            </a:pPr>
            <a:r>
              <a:rPr sz="950" b="1" i="0" spc="50">
                <a:solidFill>
                  <a:srgbClr val="FFFFFF"/>
                </a:solidFill>
                <a:latin typeface="Segoe UI"/>
              </a:rPr>
              <a:t>Status</a:t>
            </a:r>
          </a:p>
        </p:txBody>
      </p:sp>
      <p:sp>
        <p:nvSpPr>
          <p:cNvPr id="13" name="Rectangle 12"/>
          <p:cNvSpPr/>
          <p:nvPr/>
        </p:nvSpPr>
        <p:spPr>
          <a:xfrm>
            <a:off x="658368" y="2414015"/>
            <a:ext cx="10874959" cy="3657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2414015"/>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TC-01</a:t>
            </a:r>
          </a:p>
        </p:txBody>
      </p:sp>
      <p:sp>
        <p:nvSpPr>
          <p:cNvPr id="15" name="TextBox 14"/>
          <p:cNvSpPr txBox="1"/>
          <p:nvPr/>
        </p:nvSpPr>
        <p:spPr>
          <a:xfrm>
            <a:off x="1572768" y="2414015"/>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Donor registration</a:t>
            </a:r>
          </a:p>
        </p:txBody>
      </p:sp>
      <p:sp>
        <p:nvSpPr>
          <p:cNvPr id="16" name="TextBox 15"/>
          <p:cNvSpPr txBox="1"/>
          <p:nvPr/>
        </p:nvSpPr>
        <p:spPr>
          <a:xfrm>
            <a:off x="3904487" y="2414015"/>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Valid email and password</a:t>
            </a:r>
          </a:p>
        </p:txBody>
      </p:sp>
      <p:sp>
        <p:nvSpPr>
          <p:cNvPr id="17" name="TextBox 16"/>
          <p:cNvSpPr txBox="1"/>
          <p:nvPr/>
        </p:nvSpPr>
        <p:spPr>
          <a:xfrm>
            <a:off x="6510528" y="2414015"/>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Account created with donor role</a:t>
            </a:r>
          </a:p>
        </p:txBody>
      </p:sp>
      <p:sp>
        <p:nvSpPr>
          <p:cNvPr id="18" name="TextBox 17"/>
          <p:cNvSpPr txBox="1"/>
          <p:nvPr/>
        </p:nvSpPr>
        <p:spPr>
          <a:xfrm>
            <a:off x="10488168" y="2414015"/>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19" name="Rectangle 18"/>
          <p:cNvSpPr/>
          <p:nvPr/>
        </p:nvSpPr>
        <p:spPr>
          <a:xfrm>
            <a:off x="658368" y="2414015"/>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2779775"/>
            <a:ext cx="1087495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6384" y="2779775"/>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TC-02</a:t>
            </a:r>
          </a:p>
        </p:txBody>
      </p:sp>
      <p:sp>
        <p:nvSpPr>
          <p:cNvPr id="22" name="TextBox 21"/>
          <p:cNvSpPr txBox="1"/>
          <p:nvPr/>
        </p:nvSpPr>
        <p:spPr>
          <a:xfrm>
            <a:off x="1572768" y="2779775"/>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Account lockout</a:t>
            </a:r>
          </a:p>
        </p:txBody>
      </p:sp>
      <p:sp>
        <p:nvSpPr>
          <p:cNvPr id="23" name="TextBox 22"/>
          <p:cNvSpPr txBox="1"/>
          <p:nvPr/>
        </p:nvSpPr>
        <p:spPr>
          <a:xfrm>
            <a:off x="3904487" y="2779775"/>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5 consecutive wrong passwords</a:t>
            </a:r>
          </a:p>
        </p:txBody>
      </p:sp>
      <p:sp>
        <p:nvSpPr>
          <p:cNvPr id="24" name="TextBox 23"/>
          <p:cNvSpPr txBox="1"/>
          <p:nvPr/>
        </p:nvSpPr>
        <p:spPr>
          <a:xfrm>
            <a:off x="6510528" y="2779775"/>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Account locked, further attempts refused</a:t>
            </a:r>
          </a:p>
        </p:txBody>
      </p:sp>
      <p:sp>
        <p:nvSpPr>
          <p:cNvPr id="25" name="TextBox 24"/>
          <p:cNvSpPr txBox="1"/>
          <p:nvPr/>
        </p:nvSpPr>
        <p:spPr>
          <a:xfrm>
            <a:off x="10488168" y="2779775"/>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26" name="Rectangle 25"/>
          <p:cNvSpPr/>
          <p:nvPr/>
        </p:nvSpPr>
        <p:spPr>
          <a:xfrm>
            <a:off x="658368" y="2779775"/>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8368" y="3145535"/>
            <a:ext cx="10874959" cy="3657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86384" y="3145535"/>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TC-03</a:t>
            </a:r>
          </a:p>
        </p:txBody>
      </p:sp>
      <p:sp>
        <p:nvSpPr>
          <p:cNvPr id="29" name="TextBox 28"/>
          <p:cNvSpPr txBox="1"/>
          <p:nvPr/>
        </p:nvSpPr>
        <p:spPr>
          <a:xfrm>
            <a:off x="1572768" y="3145535"/>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Donation end to end</a:t>
            </a:r>
          </a:p>
        </p:txBody>
      </p:sp>
      <p:sp>
        <p:nvSpPr>
          <p:cNvPr id="30" name="TextBox 29"/>
          <p:cNvSpPr txBox="1"/>
          <p:nvPr/>
        </p:nvSpPr>
        <p:spPr>
          <a:xfrm>
            <a:off x="3904487" y="3145535"/>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Amount, verified callback</a:t>
            </a:r>
          </a:p>
        </p:txBody>
      </p:sp>
      <p:sp>
        <p:nvSpPr>
          <p:cNvPr id="31" name="TextBox 30"/>
          <p:cNvSpPr txBox="1"/>
          <p:nvPr/>
        </p:nvSpPr>
        <p:spPr>
          <a:xfrm>
            <a:off x="6510528" y="3145535"/>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Donation, receipt and pending proof created</a:t>
            </a:r>
          </a:p>
        </p:txBody>
      </p:sp>
      <p:sp>
        <p:nvSpPr>
          <p:cNvPr id="32" name="TextBox 31"/>
          <p:cNvSpPr txBox="1"/>
          <p:nvPr/>
        </p:nvSpPr>
        <p:spPr>
          <a:xfrm>
            <a:off x="10488168" y="3145535"/>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33" name="Rectangle 32"/>
          <p:cNvSpPr/>
          <p:nvPr/>
        </p:nvSpPr>
        <p:spPr>
          <a:xfrm>
            <a:off x="658368" y="3145535"/>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3511295"/>
            <a:ext cx="1087495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86384" y="3511295"/>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TC-04</a:t>
            </a:r>
          </a:p>
        </p:txBody>
      </p:sp>
      <p:sp>
        <p:nvSpPr>
          <p:cNvPr id="36" name="TextBox 35"/>
          <p:cNvSpPr txBox="1"/>
          <p:nvPr/>
        </p:nvSpPr>
        <p:spPr>
          <a:xfrm>
            <a:off x="1572768" y="3511295"/>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Duplicate callback</a:t>
            </a:r>
          </a:p>
        </p:txBody>
      </p:sp>
      <p:sp>
        <p:nvSpPr>
          <p:cNvPr id="37" name="TextBox 36"/>
          <p:cNvSpPr txBox="1"/>
          <p:nvPr/>
        </p:nvSpPr>
        <p:spPr>
          <a:xfrm>
            <a:off x="3904487" y="3511295"/>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Same payment reference twice</a:t>
            </a:r>
          </a:p>
        </p:txBody>
      </p:sp>
      <p:sp>
        <p:nvSpPr>
          <p:cNvPr id="38" name="TextBox 37"/>
          <p:cNvSpPr txBox="1"/>
          <p:nvPr/>
        </p:nvSpPr>
        <p:spPr>
          <a:xfrm>
            <a:off x="6510528" y="3511295"/>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One donation, campaign credited once</a:t>
            </a:r>
          </a:p>
        </p:txBody>
      </p:sp>
      <p:sp>
        <p:nvSpPr>
          <p:cNvPr id="39" name="TextBox 38"/>
          <p:cNvSpPr txBox="1"/>
          <p:nvPr/>
        </p:nvSpPr>
        <p:spPr>
          <a:xfrm>
            <a:off x="10488168" y="3511295"/>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40" name="Rectangle 39"/>
          <p:cNvSpPr/>
          <p:nvPr/>
        </p:nvSpPr>
        <p:spPr>
          <a:xfrm>
            <a:off x="658368" y="3511295"/>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58368" y="3877055"/>
            <a:ext cx="10874959" cy="3657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6384" y="3877055"/>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TC-05</a:t>
            </a:r>
          </a:p>
        </p:txBody>
      </p:sp>
      <p:sp>
        <p:nvSpPr>
          <p:cNvPr id="43" name="TextBox 42"/>
          <p:cNvSpPr txBox="1"/>
          <p:nvPr/>
        </p:nvSpPr>
        <p:spPr>
          <a:xfrm>
            <a:off x="1572768" y="3877055"/>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On-chain proof</a:t>
            </a:r>
          </a:p>
        </p:txBody>
      </p:sp>
      <p:sp>
        <p:nvSpPr>
          <p:cNvPr id="44" name="TextBox 43"/>
          <p:cNvSpPr txBox="1"/>
          <p:nvPr/>
        </p:nvSpPr>
        <p:spPr>
          <a:xfrm>
            <a:off x="3904487" y="3877055"/>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Completed donation</a:t>
            </a:r>
          </a:p>
        </p:txBody>
      </p:sp>
      <p:sp>
        <p:nvSpPr>
          <p:cNvPr id="45" name="TextBox 44"/>
          <p:cNvSpPr txBox="1"/>
          <p:nvPr/>
        </p:nvSpPr>
        <p:spPr>
          <a:xfrm>
            <a:off x="6510528" y="3877055"/>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Tx hash matches the node's own log</a:t>
            </a:r>
          </a:p>
        </p:txBody>
      </p:sp>
      <p:sp>
        <p:nvSpPr>
          <p:cNvPr id="46" name="TextBox 45"/>
          <p:cNvSpPr txBox="1"/>
          <p:nvPr/>
        </p:nvSpPr>
        <p:spPr>
          <a:xfrm>
            <a:off x="10488168" y="3877055"/>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47" name="Rectangle 46"/>
          <p:cNvSpPr/>
          <p:nvPr/>
        </p:nvSpPr>
        <p:spPr>
          <a:xfrm>
            <a:off x="658368" y="3877055"/>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58368" y="4242816"/>
            <a:ext cx="1087495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86384" y="4242816"/>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TC-06</a:t>
            </a:r>
          </a:p>
        </p:txBody>
      </p:sp>
      <p:sp>
        <p:nvSpPr>
          <p:cNvPr id="50" name="TextBox 49"/>
          <p:cNvSpPr txBox="1"/>
          <p:nvPr/>
        </p:nvSpPr>
        <p:spPr>
          <a:xfrm>
            <a:off x="1572768" y="4242816"/>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Public verification</a:t>
            </a:r>
          </a:p>
        </p:txBody>
      </p:sp>
      <p:sp>
        <p:nvSpPr>
          <p:cNvPr id="51" name="TextBox 50"/>
          <p:cNvSpPr txBox="1"/>
          <p:nvPr/>
        </p:nvSpPr>
        <p:spPr>
          <a:xfrm>
            <a:off x="3904487" y="4242816"/>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Receipt number, no login</a:t>
            </a:r>
          </a:p>
        </p:txBody>
      </p:sp>
      <p:sp>
        <p:nvSpPr>
          <p:cNvPr id="52" name="TextBox 51"/>
          <p:cNvSpPr txBox="1"/>
          <p:nvPr/>
        </p:nvSpPr>
        <p:spPr>
          <a:xfrm>
            <a:off x="6510528" y="4242816"/>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Campaign, amount, date and hash, no donor identity</a:t>
            </a:r>
          </a:p>
        </p:txBody>
      </p:sp>
      <p:sp>
        <p:nvSpPr>
          <p:cNvPr id="53" name="TextBox 52"/>
          <p:cNvSpPr txBox="1"/>
          <p:nvPr/>
        </p:nvSpPr>
        <p:spPr>
          <a:xfrm>
            <a:off x="10488168" y="4242816"/>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54" name="Rectangle 53"/>
          <p:cNvSpPr/>
          <p:nvPr/>
        </p:nvSpPr>
        <p:spPr>
          <a:xfrm>
            <a:off x="658368" y="424281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658368" y="4608576"/>
            <a:ext cx="10874959" cy="3657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86384" y="4608576"/>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TC-07</a:t>
            </a:r>
          </a:p>
        </p:txBody>
      </p:sp>
      <p:sp>
        <p:nvSpPr>
          <p:cNvPr id="57" name="TextBox 56"/>
          <p:cNvSpPr txBox="1"/>
          <p:nvPr/>
        </p:nvSpPr>
        <p:spPr>
          <a:xfrm>
            <a:off x="1572768" y="4608576"/>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Self-approval block</a:t>
            </a:r>
          </a:p>
        </p:txBody>
      </p:sp>
      <p:sp>
        <p:nvSpPr>
          <p:cNvPr id="58" name="TextBox 57"/>
          <p:cNvSpPr txBox="1"/>
          <p:nvPr/>
        </p:nvSpPr>
        <p:spPr>
          <a:xfrm>
            <a:off x="3904487" y="4608576"/>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Initiator approves own payout</a:t>
            </a:r>
          </a:p>
        </p:txBody>
      </p:sp>
      <p:sp>
        <p:nvSpPr>
          <p:cNvPr id="59" name="TextBox 58"/>
          <p:cNvSpPr txBox="1"/>
          <p:nvPr/>
        </p:nvSpPr>
        <p:spPr>
          <a:xfrm>
            <a:off x="6510528" y="4608576"/>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Rejected, second administrator required</a:t>
            </a:r>
          </a:p>
        </p:txBody>
      </p:sp>
      <p:sp>
        <p:nvSpPr>
          <p:cNvPr id="60" name="TextBox 59"/>
          <p:cNvSpPr txBox="1"/>
          <p:nvPr/>
        </p:nvSpPr>
        <p:spPr>
          <a:xfrm>
            <a:off x="10488168" y="4608576"/>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61" name="Rectangle 60"/>
          <p:cNvSpPr/>
          <p:nvPr/>
        </p:nvSpPr>
        <p:spPr>
          <a:xfrm>
            <a:off x="658368" y="460857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658368" y="4974336"/>
            <a:ext cx="1087495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86384" y="4974336"/>
            <a:ext cx="566928"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1" i="0">
                <a:solidFill>
                  <a:srgbClr val="134E4A"/>
                </a:solidFill>
                <a:latin typeface="Segoe UI"/>
              </a:rPr>
              <a:t>TC-08</a:t>
            </a:r>
          </a:p>
        </p:txBody>
      </p:sp>
      <p:sp>
        <p:nvSpPr>
          <p:cNvPr id="64" name="TextBox 63"/>
          <p:cNvSpPr txBox="1"/>
          <p:nvPr/>
        </p:nvSpPr>
        <p:spPr>
          <a:xfrm>
            <a:off x="1572768" y="4974336"/>
            <a:ext cx="2112263" cy="365760"/>
          </a:xfrm>
          <a:prstGeom prst="rect">
            <a:avLst/>
          </a:prstGeom>
          <a:noFill/>
        </p:spPr>
        <p:txBody>
          <a:bodyPr wrap="square" lIns="0" rIns="0" tIns="0" bIns="0" anchor="ctr">
            <a:spAutoFit/>
          </a:bodyPr>
          <a:lstStyle/>
          <a:p>
            <a:pPr algn="l">
              <a:lnSpc>
                <a:spcPct val="115000"/>
              </a:lnSpc>
              <a:spcBef>
                <a:spcPts val="0"/>
              </a:spcBef>
              <a:spcAft>
                <a:spcPts val="0"/>
              </a:spcAft>
            </a:pPr>
            <a:r>
              <a:rPr sz="1000" b="0" i="0">
                <a:solidFill>
                  <a:srgbClr val="0F172A"/>
                </a:solidFill>
                <a:latin typeface="Segoe UI"/>
              </a:rPr>
              <a:t>Cross-account isolation</a:t>
            </a:r>
          </a:p>
        </p:txBody>
      </p:sp>
      <p:sp>
        <p:nvSpPr>
          <p:cNvPr id="65" name="TextBox 64"/>
          <p:cNvSpPr txBox="1"/>
          <p:nvPr/>
        </p:nvSpPr>
        <p:spPr>
          <a:xfrm>
            <a:off x="3904487" y="4974336"/>
            <a:ext cx="2386584"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Donor reads another's donation</a:t>
            </a:r>
          </a:p>
        </p:txBody>
      </p:sp>
      <p:sp>
        <p:nvSpPr>
          <p:cNvPr id="66" name="TextBox 65"/>
          <p:cNvSpPr txBox="1"/>
          <p:nvPr/>
        </p:nvSpPr>
        <p:spPr>
          <a:xfrm>
            <a:off x="6510528" y="4974336"/>
            <a:ext cx="3758183"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403, no data disclosed</a:t>
            </a:r>
          </a:p>
        </p:txBody>
      </p:sp>
      <p:sp>
        <p:nvSpPr>
          <p:cNvPr id="67" name="TextBox 66"/>
          <p:cNvSpPr txBox="1"/>
          <p:nvPr/>
        </p:nvSpPr>
        <p:spPr>
          <a:xfrm>
            <a:off x="10488168" y="4974336"/>
            <a:ext cx="950976" cy="365760"/>
          </a:xfrm>
          <a:prstGeom prst="rect">
            <a:avLst/>
          </a:prstGeom>
          <a:noFill/>
        </p:spPr>
        <p:txBody>
          <a:bodyPr wrap="square" lIns="0" rIns="0" tIns="0" bIns="0" anchor="ctr">
            <a:spAutoFit/>
          </a:bodyPr>
          <a:lstStyle/>
          <a:p>
            <a:pPr algn="l">
              <a:lnSpc>
                <a:spcPct val="115000"/>
              </a:lnSpc>
              <a:spcBef>
                <a:spcPts val="0"/>
              </a:spcBef>
              <a:spcAft>
                <a:spcPts val="0"/>
              </a:spcAft>
            </a:pPr>
            <a:r>
              <a:rPr sz="950" b="0" i="0">
                <a:solidFill>
                  <a:srgbClr val="0F172A"/>
                </a:solidFill>
                <a:latin typeface="Segoe UI"/>
              </a:rPr>
              <a:t>Pass</a:t>
            </a:r>
          </a:p>
        </p:txBody>
      </p:sp>
      <p:sp>
        <p:nvSpPr>
          <p:cNvPr id="68" name="Rectangle 67"/>
          <p:cNvSpPr/>
          <p:nvPr/>
        </p:nvSpPr>
        <p:spPr>
          <a:xfrm>
            <a:off x="658368" y="4974336"/>
            <a:ext cx="10874959"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658368" y="5522976"/>
            <a:ext cx="10874959" cy="56692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932688" y="5522976"/>
            <a:ext cx="10326319" cy="566928"/>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134E4A"/>
                </a:solidFill>
                <a:latin typeface="Segoe UI"/>
              </a:rPr>
              <a:t>TC-05 is the one to notice.  </a:t>
            </a:r>
            <a:r>
              <a:rPr sz="1050" b="0" i="0">
                <a:solidFill>
                  <a:srgbClr val="134E4A"/>
                </a:solidFill>
                <a:latin typeface="Segoe UI"/>
              </a:rPr>
              <a:t>The test does not trust the API's own response. It reads the blockchain node's log independently and asserts the two transaction hashes match.</a:t>
            </a:r>
          </a:p>
        </p:txBody>
      </p:sp>
      <p:sp>
        <p:nvSpPr>
          <p:cNvPr id="71" name="Rectangle 70"/>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658368" y="6345936"/>
            <a:ext cx="9357523"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74" name="TextBox 73"/>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7.7  ·  7.8</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Results and Discussion</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Measured outcomes across every stage, and an honest account of what did not pass.</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11679"/>
            <a:ext cx="4349983"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VERIFICATION RESULTS BY STAGE</a:t>
            </a:r>
          </a:p>
        </p:txBody>
      </p:sp>
      <p:sp>
        <p:nvSpPr>
          <p:cNvPr id="8" name="Rectangle 7"/>
          <p:cNvSpPr/>
          <p:nvPr/>
        </p:nvSpPr>
        <p:spPr>
          <a:xfrm>
            <a:off x="658368" y="2322575"/>
            <a:ext cx="4349983"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59" y="2322575"/>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Authentication</a:t>
            </a:r>
          </a:p>
        </p:txBody>
      </p:sp>
      <p:sp>
        <p:nvSpPr>
          <p:cNvPr id="10" name="TextBox 9"/>
          <p:cNvSpPr txBox="1"/>
          <p:nvPr/>
        </p:nvSpPr>
        <p:spPr>
          <a:xfrm>
            <a:off x="2833359" y="2322575"/>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18 / 18</a:t>
            </a:r>
          </a:p>
        </p:txBody>
      </p:sp>
      <p:sp>
        <p:nvSpPr>
          <p:cNvPr id="11" name="TextBox 10"/>
          <p:cNvSpPr txBox="1"/>
          <p:nvPr/>
        </p:nvSpPr>
        <p:spPr>
          <a:xfrm>
            <a:off x="3964355" y="2322575"/>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browser</a:t>
            </a:r>
          </a:p>
        </p:txBody>
      </p:sp>
      <p:sp>
        <p:nvSpPr>
          <p:cNvPr id="12" name="Rectangle 11"/>
          <p:cNvSpPr/>
          <p:nvPr/>
        </p:nvSpPr>
        <p:spPr>
          <a:xfrm>
            <a:off x="658368" y="2651759"/>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8368" y="2688335"/>
            <a:ext cx="4349983"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2959" y="2688335"/>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Donations</a:t>
            </a:r>
          </a:p>
        </p:txBody>
      </p:sp>
      <p:sp>
        <p:nvSpPr>
          <p:cNvPr id="15" name="TextBox 14"/>
          <p:cNvSpPr txBox="1"/>
          <p:nvPr/>
        </p:nvSpPr>
        <p:spPr>
          <a:xfrm>
            <a:off x="2833359" y="2688335"/>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19 / 19</a:t>
            </a:r>
          </a:p>
        </p:txBody>
      </p:sp>
      <p:sp>
        <p:nvSpPr>
          <p:cNvPr id="16" name="TextBox 15"/>
          <p:cNvSpPr txBox="1"/>
          <p:nvPr/>
        </p:nvSpPr>
        <p:spPr>
          <a:xfrm>
            <a:off x="3964355" y="2688335"/>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API</a:t>
            </a:r>
          </a:p>
        </p:txBody>
      </p:sp>
      <p:sp>
        <p:nvSpPr>
          <p:cNvPr id="17" name="Rectangle 16"/>
          <p:cNvSpPr/>
          <p:nvPr/>
        </p:nvSpPr>
        <p:spPr>
          <a:xfrm>
            <a:off x="658368" y="3017519"/>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3054096"/>
            <a:ext cx="4349983"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959" y="3054096"/>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Blockchain</a:t>
            </a:r>
          </a:p>
        </p:txBody>
      </p:sp>
      <p:sp>
        <p:nvSpPr>
          <p:cNvPr id="20" name="TextBox 19"/>
          <p:cNvSpPr txBox="1"/>
          <p:nvPr/>
        </p:nvSpPr>
        <p:spPr>
          <a:xfrm>
            <a:off x="2833359" y="3054096"/>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14 / 14</a:t>
            </a:r>
          </a:p>
        </p:txBody>
      </p:sp>
      <p:sp>
        <p:nvSpPr>
          <p:cNvPr id="21" name="TextBox 20"/>
          <p:cNvSpPr txBox="1"/>
          <p:nvPr/>
        </p:nvSpPr>
        <p:spPr>
          <a:xfrm>
            <a:off x="3964355" y="3054096"/>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API</a:t>
            </a:r>
          </a:p>
        </p:txBody>
      </p:sp>
      <p:sp>
        <p:nvSpPr>
          <p:cNvPr id="22" name="Rectangle 21"/>
          <p:cNvSpPr/>
          <p:nvPr/>
        </p:nvSpPr>
        <p:spPr>
          <a:xfrm>
            <a:off x="658368" y="3383279"/>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3419856"/>
            <a:ext cx="4349983"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2959" y="3419856"/>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Blockchain</a:t>
            </a:r>
          </a:p>
        </p:txBody>
      </p:sp>
      <p:sp>
        <p:nvSpPr>
          <p:cNvPr id="25" name="TextBox 24"/>
          <p:cNvSpPr txBox="1"/>
          <p:nvPr/>
        </p:nvSpPr>
        <p:spPr>
          <a:xfrm>
            <a:off x="2833359" y="3419856"/>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10 / 10</a:t>
            </a:r>
          </a:p>
        </p:txBody>
      </p:sp>
      <p:sp>
        <p:nvSpPr>
          <p:cNvPr id="26" name="TextBox 25"/>
          <p:cNvSpPr txBox="1"/>
          <p:nvPr/>
        </p:nvSpPr>
        <p:spPr>
          <a:xfrm>
            <a:off x="3964355" y="3419856"/>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browser</a:t>
            </a:r>
          </a:p>
        </p:txBody>
      </p:sp>
      <p:sp>
        <p:nvSpPr>
          <p:cNvPr id="27" name="Rectangle 26"/>
          <p:cNvSpPr/>
          <p:nvPr/>
        </p:nvSpPr>
        <p:spPr>
          <a:xfrm>
            <a:off x="658368" y="3749039"/>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3785615"/>
            <a:ext cx="4349983"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2959" y="3785615"/>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Administrator</a:t>
            </a:r>
          </a:p>
        </p:txBody>
      </p:sp>
      <p:sp>
        <p:nvSpPr>
          <p:cNvPr id="30" name="TextBox 29"/>
          <p:cNvSpPr txBox="1"/>
          <p:nvPr/>
        </p:nvSpPr>
        <p:spPr>
          <a:xfrm>
            <a:off x="2833359" y="3785615"/>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46 / 47</a:t>
            </a:r>
          </a:p>
        </p:txBody>
      </p:sp>
      <p:sp>
        <p:nvSpPr>
          <p:cNvPr id="31" name="TextBox 30"/>
          <p:cNvSpPr txBox="1"/>
          <p:nvPr/>
        </p:nvSpPr>
        <p:spPr>
          <a:xfrm>
            <a:off x="3964355" y="3785615"/>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API</a:t>
            </a:r>
          </a:p>
        </p:txBody>
      </p:sp>
      <p:sp>
        <p:nvSpPr>
          <p:cNvPr id="32" name="Rectangle 31"/>
          <p:cNvSpPr/>
          <p:nvPr/>
        </p:nvSpPr>
        <p:spPr>
          <a:xfrm>
            <a:off x="658368" y="4114800"/>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4151375"/>
            <a:ext cx="4349983"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2959" y="4151375"/>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Fundraisers</a:t>
            </a:r>
          </a:p>
        </p:txBody>
      </p:sp>
      <p:sp>
        <p:nvSpPr>
          <p:cNvPr id="35" name="TextBox 34"/>
          <p:cNvSpPr txBox="1"/>
          <p:nvPr/>
        </p:nvSpPr>
        <p:spPr>
          <a:xfrm>
            <a:off x="2833359" y="4151375"/>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40 / 40</a:t>
            </a:r>
          </a:p>
        </p:txBody>
      </p:sp>
      <p:sp>
        <p:nvSpPr>
          <p:cNvPr id="36" name="TextBox 35"/>
          <p:cNvSpPr txBox="1"/>
          <p:nvPr/>
        </p:nvSpPr>
        <p:spPr>
          <a:xfrm>
            <a:off x="3964355" y="4151375"/>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API</a:t>
            </a:r>
          </a:p>
        </p:txBody>
      </p:sp>
      <p:sp>
        <p:nvSpPr>
          <p:cNvPr id="37" name="Rectangle 36"/>
          <p:cNvSpPr/>
          <p:nvPr/>
        </p:nvSpPr>
        <p:spPr>
          <a:xfrm>
            <a:off x="658368" y="4480559"/>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58368" y="4517136"/>
            <a:ext cx="4349983"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22959" y="4517136"/>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Regression</a:t>
            </a:r>
          </a:p>
        </p:txBody>
      </p:sp>
      <p:sp>
        <p:nvSpPr>
          <p:cNvPr id="40" name="TextBox 39"/>
          <p:cNvSpPr txBox="1"/>
          <p:nvPr/>
        </p:nvSpPr>
        <p:spPr>
          <a:xfrm>
            <a:off x="2833359" y="4517136"/>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52 / 53</a:t>
            </a:r>
          </a:p>
        </p:txBody>
      </p:sp>
      <p:sp>
        <p:nvSpPr>
          <p:cNvPr id="41" name="TextBox 40"/>
          <p:cNvSpPr txBox="1"/>
          <p:nvPr/>
        </p:nvSpPr>
        <p:spPr>
          <a:xfrm>
            <a:off x="3964355" y="4517136"/>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API</a:t>
            </a:r>
          </a:p>
        </p:txBody>
      </p:sp>
      <p:sp>
        <p:nvSpPr>
          <p:cNvPr id="42" name="Rectangle 41"/>
          <p:cNvSpPr/>
          <p:nvPr/>
        </p:nvSpPr>
        <p:spPr>
          <a:xfrm>
            <a:off x="658368" y="4846320"/>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58368" y="4882896"/>
            <a:ext cx="4349983" cy="32918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22959" y="4882896"/>
            <a:ext cx="2087992"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172A"/>
                </a:solidFill>
                <a:latin typeface="Segoe UI"/>
              </a:rPr>
              <a:t>Smart contract</a:t>
            </a:r>
          </a:p>
        </p:txBody>
      </p:sp>
      <p:sp>
        <p:nvSpPr>
          <p:cNvPr id="45" name="TextBox 44"/>
          <p:cNvSpPr txBox="1"/>
          <p:nvPr/>
        </p:nvSpPr>
        <p:spPr>
          <a:xfrm>
            <a:off x="2833359" y="4882896"/>
            <a:ext cx="1043996" cy="329184"/>
          </a:xfrm>
          <a:prstGeom prst="rect">
            <a:avLst/>
          </a:prstGeom>
          <a:noFill/>
        </p:spPr>
        <p:txBody>
          <a:bodyPr wrap="square" lIns="0" rIns="0" tIns="0" bIns="0" anchor="ctr">
            <a:spAutoFit/>
          </a:bodyPr>
          <a:lstStyle/>
          <a:p>
            <a:pPr algn="l">
              <a:lnSpc>
                <a:spcPct val="125000"/>
              </a:lnSpc>
              <a:spcBef>
                <a:spcPts val="0"/>
              </a:spcBef>
              <a:spcAft>
                <a:spcPts val="0"/>
              </a:spcAft>
            </a:pPr>
            <a:r>
              <a:rPr sz="1000" b="1" i="0">
                <a:solidFill>
                  <a:srgbClr val="0F766E"/>
                </a:solidFill>
                <a:latin typeface="Consolas"/>
              </a:rPr>
              <a:t>4 / 4</a:t>
            </a:r>
          </a:p>
        </p:txBody>
      </p:sp>
      <p:sp>
        <p:nvSpPr>
          <p:cNvPr id="46" name="TextBox 45"/>
          <p:cNvSpPr txBox="1"/>
          <p:nvPr/>
        </p:nvSpPr>
        <p:spPr>
          <a:xfrm>
            <a:off x="3964355" y="4882896"/>
            <a:ext cx="956996" cy="329184"/>
          </a:xfrm>
          <a:prstGeom prst="rect">
            <a:avLst/>
          </a:prstGeom>
          <a:noFill/>
        </p:spPr>
        <p:txBody>
          <a:bodyPr wrap="square" lIns="0" rIns="0" tIns="0" bIns="0" anchor="ctr">
            <a:spAutoFit/>
          </a:bodyPr>
          <a:lstStyle/>
          <a:p>
            <a:pPr algn="l">
              <a:lnSpc>
                <a:spcPct val="125000"/>
              </a:lnSpc>
              <a:spcBef>
                <a:spcPts val="0"/>
              </a:spcBef>
              <a:spcAft>
                <a:spcPts val="0"/>
              </a:spcAft>
            </a:pPr>
            <a:r>
              <a:rPr sz="900" b="0" i="0">
                <a:solidFill>
                  <a:srgbClr val="94A3B8"/>
                </a:solidFill>
                <a:latin typeface="Segoe UI"/>
              </a:rPr>
              <a:t>Hardhat</a:t>
            </a:r>
          </a:p>
        </p:txBody>
      </p:sp>
      <p:sp>
        <p:nvSpPr>
          <p:cNvPr id="47" name="Rectangle 46"/>
          <p:cNvSpPr/>
          <p:nvPr/>
        </p:nvSpPr>
        <p:spPr>
          <a:xfrm>
            <a:off x="658368" y="5212080"/>
            <a:ext cx="4349983"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374111" y="2011679"/>
            <a:ext cx="6159215"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REQUIREMENTS MET</a:t>
            </a:r>
          </a:p>
        </p:txBody>
      </p:sp>
      <p:sp>
        <p:nvSpPr>
          <p:cNvPr id="49" name="TextBox 48"/>
          <p:cNvSpPr txBox="1"/>
          <p:nvPr/>
        </p:nvSpPr>
        <p:spPr>
          <a:xfrm>
            <a:off x="5374111" y="2322575"/>
            <a:ext cx="6159215" cy="1188720"/>
          </a:xfrm>
          <a:prstGeom prst="rect">
            <a:avLst/>
          </a:prstGeom>
          <a:noFill/>
        </p:spPr>
        <p:txBody>
          <a:bodyPr wrap="square" lIns="0" rIns="0" tIns="0" bIns="0" anchor="t">
            <a:spAutoFit/>
          </a:bodyPr>
          <a:lstStyle/>
          <a:p>
            <a:pPr algn="l" marL="160020" indent="-160020">
              <a:lnSpc>
                <a:spcPct val="138000"/>
              </a:lnSpc>
              <a:spcBef>
                <a:spcPts val="0"/>
              </a:spcBef>
              <a:spcAft>
                <a:spcPts val="700"/>
              </a:spcAft>
              <a:buClr>
                <a:srgbClr val="0F766E"/>
              </a:buClr>
              <a:buSzPts val="1050"/>
              <a:buFont typeface="Segoe UI"/>
              <a:buChar char="•"/>
            </a:pPr>
            <a:r>
              <a:rPr sz="1050" b="0" i="0">
                <a:solidFill>
                  <a:srgbClr val="0F172A"/>
                </a:solidFill>
                <a:latin typeface="Segoe UI"/>
              </a:rPr>
              <a:t>All 24 functional requirements are implemented and exercised by an automated check.</a:t>
            </a:r>
          </a:p>
          <a:p>
            <a:pPr algn="l" marL="160020" indent="-160020">
              <a:lnSpc>
                <a:spcPct val="138000"/>
              </a:lnSpc>
              <a:spcBef>
                <a:spcPts val="0"/>
              </a:spcBef>
              <a:spcAft>
                <a:spcPts val="700"/>
              </a:spcAft>
              <a:buClr>
                <a:srgbClr val="0F766E"/>
              </a:buClr>
              <a:buSzPts val="1050"/>
              <a:buFont typeface="Segoe UI"/>
              <a:buChar char="•"/>
            </a:pPr>
            <a:r>
              <a:rPr sz="1050" b="0" i="0">
                <a:solidFill>
                  <a:srgbClr val="0F172A"/>
                </a:solidFill>
                <a:latin typeface="Segoe UI"/>
              </a:rPr>
              <a:t>Non-functional targets hold: reads land under 300 ms warm, and the chain write never blocks a donation response.</a:t>
            </a:r>
          </a:p>
          <a:p>
            <a:pPr algn="l" marL="160020" indent="-160020">
              <a:lnSpc>
                <a:spcPct val="138000"/>
              </a:lnSpc>
              <a:spcBef>
                <a:spcPts val="0"/>
              </a:spcBef>
              <a:spcAft>
                <a:spcPts val="700"/>
              </a:spcAft>
              <a:buClr>
                <a:srgbClr val="0F766E"/>
              </a:buClr>
              <a:buSzPts val="1050"/>
              <a:buFont typeface="Segoe UI"/>
              <a:buChar char="•"/>
            </a:pPr>
            <a:r>
              <a:rPr sz="1050" b="0" i="0">
                <a:solidFill>
                  <a:srgbClr val="0F172A"/>
                </a:solidFill>
                <a:latin typeface="Segoe UI"/>
              </a:rPr>
              <a:t>Every completed donation and disbursement carries a real transaction hash on a public network.</a:t>
            </a:r>
          </a:p>
        </p:txBody>
      </p:sp>
      <p:sp>
        <p:nvSpPr>
          <p:cNvPr id="50" name="TextBox 49"/>
          <p:cNvSpPr txBox="1"/>
          <p:nvPr/>
        </p:nvSpPr>
        <p:spPr>
          <a:xfrm>
            <a:off x="5374111" y="3803904"/>
            <a:ext cx="6159215"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FF6B6B"/>
                </a:solidFill>
                <a:latin typeface="Segoe UI"/>
              </a:rPr>
              <a:t>WHAT DID NOT PASS, AND WHY</a:t>
            </a:r>
          </a:p>
        </p:txBody>
      </p:sp>
      <p:sp>
        <p:nvSpPr>
          <p:cNvPr id="51" name="TextBox 50"/>
          <p:cNvSpPr txBox="1"/>
          <p:nvPr/>
        </p:nvSpPr>
        <p:spPr>
          <a:xfrm>
            <a:off x="5374111" y="4096512"/>
            <a:ext cx="6159215" cy="1737360"/>
          </a:xfrm>
          <a:prstGeom prst="rect">
            <a:avLst/>
          </a:prstGeom>
          <a:noFill/>
        </p:spPr>
        <p:txBody>
          <a:bodyPr wrap="square" lIns="0" rIns="0" tIns="0" bIns="0" anchor="t">
            <a:spAutoFit/>
          </a:bodyPr>
          <a:lstStyle/>
          <a:p>
            <a:pPr algn="l" marL="160020" indent="-160020">
              <a:lnSpc>
                <a:spcPct val="134000"/>
              </a:lnSpc>
              <a:spcBef>
                <a:spcPts val="0"/>
              </a:spcBef>
              <a:spcAft>
                <a:spcPts val="600"/>
              </a:spcAft>
              <a:buClr>
                <a:srgbClr val="FF6B6B"/>
              </a:buClr>
              <a:buSzPts val="1000"/>
              <a:buFont typeface="Segoe UI"/>
              <a:buChar char="•"/>
            </a:pPr>
            <a:r>
              <a:rPr sz="1000" b="0" i="0">
                <a:solidFill>
                  <a:srgbClr val="64748B"/>
                </a:solidFill>
                <a:latin typeface="Segoe UI"/>
              </a:rPr>
              <a:t>Two checks did not pass, neither a functional defect: one asserted a status that had already advanced asynchronously, one was a transient database cold-start timeout.</a:t>
            </a:r>
          </a:p>
          <a:p>
            <a:pPr algn="l" marL="160020" indent="-160020">
              <a:lnSpc>
                <a:spcPct val="134000"/>
              </a:lnSpc>
              <a:spcBef>
                <a:spcPts val="0"/>
              </a:spcBef>
              <a:spcAft>
                <a:spcPts val="600"/>
              </a:spcAft>
              <a:buClr>
                <a:srgbClr val="FF6B6B"/>
              </a:buClr>
              <a:buSzPts val="1000"/>
              <a:buFont typeface="Segoe UI"/>
              <a:buChar char="•"/>
            </a:pPr>
            <a:r>
              <a:rPr sz="1000" b="0" i="0">
                <a:solidFill>
                  <a:srgbClr val="64748B"/>
                </a:solidFill>
                <a:latin typeface="Segoe UI"/>
              </a:rPr>
              <a:t>One real bug was found and fixed: a failing notification insert could crash the server through an unhandled rejection. It now fails internally, matching the fire-and-forget pattern used elsewhere.</a:t>
            </a:r>
          </a:p>
          <a:p>
            <a:pPr algn="l" marL="160020" indent="-160020">
              <a:lnSpc>
                <a:spcPct val="134000"/>
              </a:lnSpc>
              <a:spcBef>
                <a:spcPts val="0"/>
              </a:spcBef>
              <a:spcAft>
                <a:spcPts val="600"/>
              </a:spcAft>
              <a:buClr>
                <a:srgbClr val="FF6B6B"/>
              </a:buClr>
              <a:buSzPts val="1000"/>
              <a:buFont typeface="Segoe UI"/>
              <a:buChar char="•"/>
            </a:pPr>
            <a:r>
              <a:rPr sz="1000" b="0" i="0">
                <a:solidFill>
                  <a:srgbClr val="64748B"/>
                </a:solidFill>
                <a:latin typeface="Segoe UI"/>
              </a:rPr>
              <a:t>User acceptance testing is developer-executed. Independent end-user acceptance is not yet run.</a:t>
            </a:r>
          </a:p>
        </p:txBody>
      </p:sp>
      <p:sp>
        <p:nvSpPr>
          <p:cNvPr id="52" name="Rounded Rectangle 51"/>
          <p:cNvSpPr/>
          <p:nvPr/>
        </p:nvSpPr>
        <p:spPr>
          <a:xfrm>
            <a:off x="5374111" y="5760720"/>
            <a:ext cx="6159215" cy="566928"/>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5630143" y="5760720"/>
            <a:ext cx="5647151" cy="566928"/>
          </a:xfrm>
          <a:prstGeom prst="rect">
            <a:avLst/>
          </a:prstGeom>
          <a:noFill/>
        </p:spPr>
        <p:txBody>
          <a:bodyPr wrap="square" lIns="0" rIns="0" tIns="0" bIns="0" anchor="ctr">
            <a:spAutoFit/>
          </a:bodyPr>
          <a:lstStyle/>
          <a:p>
            <a:pPr algn="l">
              <a:lnSpc>
                <a:spcPct val="125000"/>
              </a:lnSpc>
              <a:spcBef>
                <a:spcPts val="0"/>
              </a:spcBef>
              <a:spcAft>
                <a:spcPts val="0"/>
              </a:spcAft>
            </a:pPr>
            <a:r>
              <a:rPr sz="1050" b="1" i="0">
                <a:solidFill>
                  <a:srgbClr val="134E4A"/>
                </a:solidFill>
                <a:latin typeface="Segoe UI"/>
              </a:rPr>
              <a:t>Overall: 203 of 205 automated checks pass.  </a:t>
            </a:r>
            <a:r>
              <a:rPr sz="1050" b="0" i="0">
                <a:solidFill>
                  <a:srgbClr val="134E4A"/>
                </a:solidFill>
                <a:latin typeface="Segoe UI"/>
              </a:rPr>
              <a:t>Neither failure is a functional defect.</a:t>
            </a:r>
          </a:p>
        </p:txBody>
      </p:sp>
      <p:sp>
        <p:nvSpPr>
          <p:cNvPr id="54" name="Rectangle 53"/>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658368" y="6345936"/>
            <a:ext cx="9610429"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57" name="TextBox 56"/>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7.9</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System Screenshots</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One journey, end to end. Public entry through to administrative oversight.</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029967"/>
            <a:ext cx="2512999" cy="4059935"/>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04672" y="2176272"/>
            <a:ext cx="2220391" cy="3310128"/>
          </a:xfrm>
          <a:prstGeom prst="roundRect">
            <a:avLst>
              <a:gd name="adj" fmla="val 3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969264"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115568"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261872"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3685031"/>
            <a:ext cx="2220391" cy="274320"/>
          </a:xfrm>
          <a:prstGeom prst="rect">
            <a:avLst/>
          </a:prstGeom>
          <a:noFill/>
        </p:spPr>
        <p:txBody>
          <a:bodyPr wrap="square" lIns="0" rIns="0" tIns="0" bIns="0" anchor="t">
            <a:spAutoFit/>
          </a:bodyPr>
          <a:lstStyle/>
          <a:p>
            <a:pPr algn="ctr">
              <a:lnSpc>
                <a:spcPct val="125000"/>
              </a:lnSpc>
              <a:spcBef>
                <a:spcPts val="0"/>
              </a:spcBef>
              <a:spcAft>
                <a:spcPts val="0"/>
              </a:spcAft>
            </a:pPr>
            <a:r>
              <a:rPr sz="950" b="0" i="0" spc="100">
                <a:solidFill>
                  <a:srgbClr val="94A3B8"/>
                </a:solidFill>
                <a:latin typeface="Segoe UI"/>
              </a:rPr>
              <a:t>screenshot</a:t>
            </a:r>
          </a:p>
        </p:txBody>
      </p:sp>
      <p:sp>
        <p:nvSpPr>
          <p:cNvPr id="13" name="TextBox 12"/>
          <p:cNvSpPr txBox="1"/>
          <p:nvPr/>
        </p:nvSpPr>
        <p:spPr>
          <a:xfrm>
            <a:off x="841247" y="5632703"/>
            <a:ext cx="2147239" cy="402336"/>
          </a:xfrm>
          <a:prstGeom prst="rect">
            <a:avLst/>
          </a:prstGeom>
          <a:noFill/>
        </p:spPr>
        <p:txBody>
          <a:bodyPr wrap="square" lIns="0" rIns="0" tIns="0" bIns="0" anchor="t">
            <a:spAutoFit/>
          </a:bodyPr>
          <a:lstStyle/>
          <a:p>
            <a:pPr algn="l">
              <a:lnSpc>
                <a:spcPct val="125000"/>
              </a:lnSpc>
              <a:spcBef>
                <a:spcPts val="0"/>
              </a:spcBef>
              <a:spcAft>
                <a:spcPts val="200"/>
              </a:spcAft>
            </a:pPr>
            <a:r>
              <a:rPr sz="1100" b="1" i="0">
                <a:solidFill>
                  <a:srgbClr val="0F172A"/>
                </a:solidFill>
                <a:latin typeface="Segoe UI"/>
              </a:rPr>
              <a:t>Landing and campaigns</a:t>
            </a:r>
          </a:p>
          <a:p>
            <a:pPr algn="l">
              <a:lnSpc>
                <a:spcPct val="125000"/>
              </a:lnSpc>
              <a:spcBef>
                <a:spcPts val="0"/>
              </a:spcBef>
              <a:spcAft>
                <a:spcPts val="0"/>
              </a:spcAft>
            </a:pPr>
            <a:r>
              <a:rPr sz="950" b="0" i="0">
                <a:solidFill>
                  <a:srgbClr val="64748B"/>
                </a:solidFill>
                <a:latin typeface="Segoe UI"/>
              </a:rPr>
              <a:t>Public entry, live campaign data</a:t>
            </a:r>
          </a:p>
        </p:txBody>
      </p:sp>
      <p:sp>
        <p:nvSpPr>
          <p:cNvPr id="14" name="Rounded Rectangle 13"/>
          <p:cNvSpPr/>
          <p:nvPr/>
        </p:nvSpPr>
        <p:spPr>
          <a:xfrm>
            <a:off x="3409111" y="2029967"/>
            <a:ext cx="2512999" cy="4059935"/>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3555415" y="2176272"/>
            <a:ext cx="2220391" cy="3310128"/>
          </a:xfrm>
          <a:prstGeom prst="roundRect">
            <a:avLst>
              <a:gd name="adj" fmla="val 3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720007"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866311"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012615"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55415" y="3685031"/>
            <a:ext cx="2220391" cy="274320"/>
          </a:xfrm>
          <a:prstGeom prst="rect">
            <a:avLst/>
          </a:prstGeom>
          <a:noFill/>
        </p:spPr>
        <p:txBody>
          <a:bodyPr wrap="square" lIns="0" rIns="0" tIns="0" bIns="0" anchor="t">
            <a:spAutoFit/>
          </a:bodyPr>
          <a:lstStyle/>
          <a:p>
            <a:pPr algn="ctr">
              <a:lnSpc>
                <a:spcPct val="125000"/>
              </a:lnSpc>
              <a:spcBef>
                <a:spcPts val="0"/>
              </a:spcBef>
              <a:spcAft>
                <a:spcPts val="0"/>
              </a:spcAft>
            </a:pPr>
            <a:r>
              <a:rPr sz="950" b="0" i="0" spc="100">
                <a:solidFill>
                  <a:srgbClr val="94A3B8"/>
                </a:solidFill>
                <a:latin typeface="Segoe UI"/>
              </a:rPr>
              <a:t>screenshot</a:t>
            </a:r>
          </a:p>
        </p:txBody>
      </p:sp>
      <p:sp>
        <p:nvSpPr>
          <p:cNvPr id="20" name="TextBox 19"/>
          <p:cNvSpPr txBox="1"/>
          <p:nvPr/>
        </p:nvSpPr>
        <p:spPr>
          <a:xfrm>
            <a:off x="3591991" y="5632703"/>
            <a:ext cx="2147239" cy="402336"/>
          </a:xfrm>
          <a:prstGeom prst="rect">
            <a:avLst/>
          </a:prstGeom>
          <a:noFill/>
        </p:spPr>
        <p:txBody>
          <a:bodyPr wrap="square" lIns="0" rIns="0" tIns="0" bIns="0" anchor="t">
            <a:spAutoFit/>
          </a:bodyPr>
          <a:lstStyle/>
          <a:p>
            <a:pPr algn="l">
              <a:lnSpc>
                <a:spcPct val="125000"/>
              </a:lnSpc>
              <a:spcBef>
                <a:spcPts val="0"/>
              </a:spcBef>
              <a:spcAft>
                <a:spcPts val="200"/>
              </a:spcAft>
            </a:pPr>
            <a:r>
              <a:rPr sz="1100" b="1" i="0">
                <a:solidFill>
                  <a:srgbClr val="0F172A"/>
                </a:solidFill>
                <a:latin typeface="Segoe UI"/>
              </a:rPr>
              <a:t>Donation and checkout</a:t>
            </a:r>
          </a:p>
          <a:p>
            <a:pPr algn="l">
              <a:lnSpc>
                <a:spcPct val="125000"/>
              </a:lnSpc>
              <a:spcBef>
                <a:spcPts val="0"/>
              </a:spcBef>
              <a:spcAft>
                <a:spcPts val="0"/>
              </a:spcAft>
            </a:pPr>
            <a:r>
              <a:rPr sz="950" b="0" i="0">
                <a:solidFill>
                  <a:srgbClr val="64748B"/>
                </a:solidFill>
                <a:latin typeface="Segoe UI"/>
              </a:rPr>
              <a:t>Amount, method, provider session</a:t>
            </a:r>
          </a:p>
        </p:txBody>
      </p:sp>
      <p:sp>
        <p:nvSpPr>
          <p:cNvPr id="21" name="Rounded Rectangle 20"/>
          <p:cNvSpPr/>
          <p:nvPr/>
        </p:nvSpPr>
        <p:spPr>
          <a:xfrm>
            <a:off x="6159855" y="2029967"/>
            <a:ext cx="2512999" cy="4059935"/>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306159" y="2176272"/>
            <a:ext cx="2220391" cy="3310128"/>
          </a:xfrm>
          <a:prstGeom prst="roundRect">
            <a:avLst>
              <a:gd name="adj" fmla="val 3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70751"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617055"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763359"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06159" y="3685031"/>
            <a:ext cx="2220391" cy="274320"/>
          </a:xfrm>
          <a:prstGeom prst="rect">
            <a:avLst/>
          </a:prstGeom>
          <a:noFill/>
        </p:spPr>
        <p:txBody>
          <a:bodyPr wrap="square" lIns="0" rIns="0" tIns="0" bIns="0" anchor="t">
            <a:spAutoFit/>
          </a:bodyPr>
          <a:lstStyle/>
          <a:p>
            <a:pPr algn="ctr">
              <a:lnSpc>
                <a:spcPct val="125000"/>
              </a:lnSpc>
              <a:spcBef>
                <a:spcPts val="0"/>
              </a:spcBef>
              <a:spcAft>
                <a:spcPts val="0"/>
              </a:spcAft>
            </a:pPr>
            <a:r>
              <a:rPr sz="950" b="0" i="0" spc="100">
                <a:solidFill>
                  <a:srgbClr val="94A3B8"/>
                </a:solidFill>
                <a:latin typeface="Segoe UI"/>
              </a:rPr>
              <a:t>screenshot</a:t>
            </a:r>
          </a:p>
        </p:txBody>
      </p:sp>
      <p:sp>
        <p:nvSpPr>
          <p:cNvPr id="27" name="TextBox 26"/>
          <p:cNvSpPr txBox="1"/>
          <p:nvPr/>
        </p:nvSpPr>
        <p:spPr>
          <a:xfrm>
            <a:off x="6342735" y="5632703"/>
            <a:ext cx="2147239" cy="402336"/>
          </a:xfrm>
          <a:prstGeom prst="rect">
            <a:avLst/>
          </a:prstGeom>
          <a:noFill/>
        </p:spPr>
        <p:txBody>
          <a:bodyPr wrap="square" lIns="0" rIns="0" tIns="0" bIns="0" anchor="t">
            <a:spAutoFit/>
          </a:bodyPr>
          <a:lstStyle/>
          <a:p>
            <a:pPr algn="l">
              <a:lnSpc>
                <a:spcPct val="125000"/>
              </a:lnSpc>
              <a:spcBef>
                <a:spcPts val="0"/>
              </a:spcBef>
              <a:spcAft>
                <a:spcPts val="200"/>
              </a:spcAft>
            </a:pPr>
            <a:r>
              <a:rPr sz="1100" b="1" i="0">
                <a:solidFill>
                  <a:srgbClr val="0F172A"/>
                </a:solidFill>
                <a:latin typeface="Segoe UI"/>
              </a:rPr>
              <a:t>Receipt and verification</a:t>
            </a:r>
          </a:p>
          <a:p>
            <a:pPr algn="l">
              <a:lnSpc>
                <a:spcPct val="125000"/>
              </a:lnSpc>
              <a:spcBef>
                <a:spcPts val="0"/>
              </a:spcBef>
              <a:spcAft>
                <a:spcPts val="0"/>
              </a:spcAft>
            </a:pPr>
            <a:r>
              <a:rPr sz="950" b="0" i="0">
                <a:solidFill>
                  <a:srgbClr val="64748B"/>
                </a:solidFill>
                <a:latin typeface="Segoe UI"/>
              </a:rPr>
              <a:t>PDF receipt, on-chain proof state</a:t>
            </a:r>
          </a:p>
        </p:txBody>
      </p:sp>
      <p:sp>
        <p:nvSpPr>
          <p:cNvPr id="28" name="Rounded Rectangle 27"/>
          <p:cNvSpPr/>
          <p:nvPr/>
        </p:nvSpPr>
        <p:spPr>
          <a:xfrm>
            <a:off x="8910599" y="2029967"/>
            <a:ext cx="2512999" cy="4059935"/>
          </a:xfrm>
          <a:prstGeom prst="roundRect">
            <a:avLst>
              <a:gd name="adj" fmla="val 3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9056903" y="2176272"/>
            <a:ext cx="2220391" cy="3310128"/>
          </a:xfrm>
          <a:prstGeom prst="roundRect">
            <a:avLst>
              <a:gd name="adj" fmla="val 3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221495"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9367799"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9514103" y="2340863"/>
            <a:ext cx="82296" cy="8229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056903" y="3685031"/>
            <a:ext cx="2220391" cy="274320"/>
          </a:xfrm>
          <a:prstGeom prst="rect">
            <a:avLst/>
          </a:prstGeom>
          <a:noFill/>
        </p:spPr>
        <p:txBody>
          <a:bodyPr wrap="square" lIns="0" rIns="0" tIns="0" bIns="0" anchor="t">
            <a:spAutoFit/>
          </a:bodyPr>
          <a:lstStyle/>
          <a:p>
            <a:pPr algn="ctr">
              <a:lnSpc>
                <a:spcPct val="125000"/>
              </a:lnSpc>
              <a:spcBef>
                <a:spcPts val="0"/>
              </a:spcBef>
              <a:spcAft>
                <a:spcPts val="0"/>
              </a:spcAft>
            </a:pPr>
            <a:r>
              <a:rPr sz="950" b="0" i="0" spc="100">
                <a:solidFill>
                  <a:srgbClr val="94A3B8"/>
                </a:solidFill>
                <a:latin typeface="Segoe UI"/>
              </a:rPr>
              <a:t>screenshot</a:t>
            </a:r>
          </a:p>
        </p:txBody>
      </p:sp>
      <p:sp>
        <p:nvSpPr>
          <p:cNvPr id="34" name="TextBox 33"/>
          <p:cNvSpPr txBox="1"/>
          <p:nvPr/>
        </p:nvSpPr>
        <p:spPr>
          <a:xfrm>
            <a:off x="9093479" y="5632703"/>
            <a:ext cx="2147239" cy="402336"/>
          </a:xfrm>
          <a:prstGeom prst="rect">
            <a:avLst/>
          </a:prstGeom>
          <a:noFill/>
        </p:spPr>
        <p:txBody>
          <a:bodyPr wrap="square" lIns="0" rIns="0" tIns="0" bIns="0" anchor="t">
            <a:spAutoFit/>
          </a:bodyPr>
          <a:lstStyle/>
          <a:p>
            <a:pPr algn="l">
              <a:lnSpc>
                <a:spcPct val="125000"/>
              </a:lnSpc>
              <a:spcBef>
                <a:spcPts val="0"/>
              </a:spcBef>
              <a:spcAft>
                <a:spcPts val="200"/>
              </a:spcAft>
            </a:pPr>
            <a:r>
              <a:rPr sz="1100" b="1" i="0">
                <a:solidFill>
                  <a:srgbClr val="0F172A"/>
                </a:solidFill>
                <a:latin typeface="Segoe UI"/>
              </a:rPr>
              <a:t>Administrator console</a:t>
            </a:r>
          </a:p>
          <a:p>
            <a:pPr algn="l">
              <a:lnSpc>
                <a:spcPct val="125000"/>
              </a:lnSpc>
              <a:spcBef>
                <a:spcPts val="0"/>
              </a:spcBef>
              <a:spcAft>
                <a:spcPts val="0"/>
              </a:spcAft>
            </a:pPr>
            <a:r>
              <a:rPr sz="950" b="0" i="0">
                <a:solidFill>
                  <a:srgbClr val="64748B"/>
                </a:solidFill>
                <a:latin typeface="Segoe UI"/>
              </a:rPr>
              <a:t>Dashboard, reviews, disbursements</a:t>
            </a:r>
          </a:p>
        </p:txBody>
      </p:sp>
      <p:sp>
        <p:nvSpPr>
          <p:cNvPr id="35" name="Rectangle 34"/>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58368" y="6345936"/>
            <a:ext cx="9863335"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38" name="TextBox 37"/>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766E"/>
              </a:gs>
              <a:gs pos="100000">
                <a:srgbClr val="0A3331"/>
              </a:gs>
            </a:gsLst>
            <a:lin scaled="0" ang="1992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887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12191695" cy="27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932688" y="786384"/>
            <a:ext cx="7315200" cy="329184"/>
          </a:xfrm>
          <a:prstGeom prst="rect">
            <a:avLst/>
          </a:prstGeom>
          <a:noFill/>
        </p:spPr>
        <p:txBody>
          <a:bodyPr wrap="square" lIns="0" rIns="0" tIns="0" bIns="0" anchor="t">
            <a:spAutoFit/>
          </a:bodyPr>
          <a:lstStyle/>
          <a:p>
            <a:pPr algn="l">
              <a:lnSpc>
                <a:spcPct val="125000"/>
              </a:lnSpc>
              <a:spcBef>
                <a:spcPts val="0"/>
              </a:spcBef>
              <a:spcAft>
                <a:spcPts val="0"/>
              </a:spcAft>
            </a:pPr>
            <a:r>
              <a:rPr sz="1000" b="1" i="0" spc="200">
                <a:solidFill>
                  <a:srgbClr val="5EEAD4"/>
                </a:solidFill>
                <a:latin typeface="Segoe UI"/>
              </a:rPr>
              <a:t>LIVE DEMONSTRATION</a:t>
            </a:r>
          </a:p>
        </p:txBody>
      </p:sp>
      <p:sp>
        <p:nvSpPr>
          <p:cNvPr id="6" name="TextBox 5"/>
          <p:cNvSpPr txBox="1"/>
          <p:nvPr/>
        </p:nvSpPr>
        <p:spPr>
          <a:xfrm>
            <a:off x="932688" y="1188720"/>
            <a:ext cx="6766560" cy="1371600"/>
          </a:xfrm>
          <a:prstGeom prst="rect">
            <a:avLst/>
          </a:prstGeom>
          <a:noFill/>
        </p:spPr>
        <p:txBody>
          <a:bodyPr wrap="square" lIns="0" rIns="0" tIns="0" bIns="0" anchor="t">
            <a:spAutoFit/>
          </a:bodyPr>
          <a:lstStyle/>
          <a:p>
            <a:pPr algn="l">
              <a:lnSpc>
                <a:spcPct val="114000"/>
              </a:lnSpc>
              <a:spcBef>
                <a:spcPts val="0"/>
              </a:spcBef>
              <a:spcAft>
                <a:spcPts val="0"/>
              </a:spcAft>
            </a:pPr>
            <a:r>
              <a:rPr sz="3400" b="0" i="0">
                <a:solidFill>
                  <a:srgbClr val="FFFFFF"/>
                </a:solidFill>
                <a:latin typeface="Georgia"/>
              </a:rPr>
              <a:t>Verify a donation
yourself, right now.</a:t>
            </a:r>
          </a:p>
        </p:txBody>
      </p:sp>
      <p:sp>
        <p:nvSpPr>
          <p:cNvPr id="7" name="Rectangle 6"/>
          <p:cNvSpPr/>
          <p:nvPr/>
        </p:nvSpPr>
        <p:spPr>
          <a:xfrm>
            <a:off x="932688" y="2615184"/>
            <a:ext cx="1280160" cy="25400"/>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871216"/>
            <a:ext cx="6400800" cy="1828800"/>
          </a:xfrm>
          <a:prstGeom prst="rect">
            <a:avLst/>
          </a:prstGeom>
          <a:noFill/>
        </p:spPr>
        <p:txBody>
          <a:bodyPr wrap="square" lIns="0" rIns="0" tIns="0" bIns="0" anchor="t">
            <a:spAutoFit/>
          </a:bodyPr>
          <a:lstStyle/>
          <a:p>
            <a:pPr algn="l">
              <a:lnSpc>
                <a:spcPct val="145000"/>
              </a:lnSpc>
              <a:spcBef>
                <a:spcPts val="0"/>
              </a:spcBef>
              <a:spcAft>
                <a:spcPts val="1400"/>
              </a:spcAft>
            </a:pPr>
            <a:r>
              <a:rPr sz="1350" b="0" i="0">
                <a:solidFill>
                  <a:srgbClr val="FFFFFF"/>
                </a:solidFill>
                <a:latin typeface="Segoe UI"/>
              </a:rPr>
              <a:t>Scan the code. Open the platform. Enter any receipt number on the public verify page.</a:t>
            </a:r>
          </a:p>
          <a:p>
            <a:pPr algn="l">
              <a:lnSpc>
                <a:spcPct val="145000"/>
              </a:lnSpc>
              <a:spcBef>
                <a:spcPts val="0"/>
              </a:spcBef>
              <a:spcAft>
                <a:spcPts val="0"/>
              </a:spcAft>
            </a:pPr>
            <a:r>
              <a:rPr sz="1200" b="0" i="0">
                <a:solidFill>
                  <a:srgbClr val="A7D8D2"/>
                </a:solidFill>
                <a:latin typeface="Segoe UI"/>
              </a:rPr>
              <a:t>No account is required and no permission is needed from us. That is the entire point of the system: the proof does not depend on trusting the platform that produced it.</a:t>
            </a:r>
          </a:p>
        </p:txBody>
      </p:sp>
      <p:sp>
        <p:nvSpPr>
          <p:cNvPr id="9" name="TextBox 8"/>
          <p:cNvSpPr txBox="1"/>
          <p:nvPr/>
        </p:nvSpPr>
        <p:spPr>
          <a:xfrm>
            <a:off x="932688" y="4882896"/>
            <a:ext cx="1188720" cy="274320"/>
          </a:xfrm>
          <a:prstGeom prst="rect">
            <a:avLst/>
          </a:prstGeom>
          <a:noFill/>
        </p:spPr>
        <p:txBody>
          <a:bodyPr wrap="square" lIns="0" rIns="0" tIns="0" bIns="0" anchor="t">
            <a:spAutoFit/>
          </a:bodyPr>
          <a:lstStyle/>
          <a:p>
            <a:pPr algn="l">
              <a:lnSpc>
                <a:spcPct val="125000"/>
              </a:lnSpc>
              <a:spcBef>
                <a:spcPts val="0"/>
              </a:spcBef>
              <a:spcAft>
                <a:spcPts val="0"/>
              </a:spcAft>
            </a:pPr>
            <a:r>
              <a:rPr sz="900" b="0" i="0" spc="60">
                <a:solidFill>
                  <a:srgbClr val="A7D8D2"/>
                </a:solidFill>
                <a:latin typeface="Segoe UI"/>
              </a:rPr>
              <a:t>Platform</a:t>
            </a:r>
          </a:p>
        </p:txBody>
      </p:sp>
      <p:sp>
        <p:nvSpPr>
          <p:cNvPr id="10" name="TextBox 9"/>
          <p:cNvSpPr txBox="1"/>
          <p:nvPr/>
        </p:nvSpPr>
        <p:spPr>
          <a:xfrm>
            <a:off x="2139696" y="4882896"/>
            <a:ext cx="5486400" cy="274320"/>
          </a:xfrm>
          <a:prstGeom prst="rect">
            <a:avLst/>
          </a:prstGeom>
          <a:noFill/>
        </p:spPr>
        <p:txBody>
          <a:bodyPr wrap="square" lIns="0" rIns="0" tIns="0" bIns="0" anchor="t">
            <a:spAutoFit/>
          </a:bodyPr>
          <a:lstStyle/>
          <a:p>
            <a:pPr algn="l">
              <a:lnSpc>
                <a:spcPct val="125000"/>
              </a:lnSpc>
              <a:spcBef>
                <a:spcPts val="0"/>
              </a:spcBef>
              <a:spcAft>
                <a:spcPts val="0"/>
              </a:spcAft>
            </a:pPr>
            <a:r>
              <a:rPr sz="1050" b="1" i="0">
                <a:solidFill>
                  <a:srgbClr val="FFFFFF"/>
                </a:solidFill>
                <a:latin typeface="Segoe UI"/>
              </a:rPr>
              <a:t>changia-hazel.vercel.app</a:t>
            </a:r>
          </a:p>
        </p:txBody>
      </p:sp>
      <p:sp>
        <p:nvSpPr>
          <p:cNvPr id="11" name="TextBox 10"/>
          <p:cNvSpPr txBox="1"/>
          <p:nvPr/>
        </p:nvSpPr>
        <p:spPr>
          <a:xfrm>
            <a:off x="932688" y="5285232"/>
            <a:ext cx="1188720" cy="274320"/>
          </a:xfrm>
          <a:prstGeom prst="rect">
            <a:avLst/>
          </a:prstGeom>
          <a:noFill/>
        </p:spPr>
        <p:txBody>
          <a:bodyPr wrap="square" lIns="0" rIns="0" tIns="0" bIns="0" anchor="t">
            <a:spAutoFit/>
          </a:bodyPr>
          <a:lstStyle/>
          <a:p>
            <a:pPr algn="l">
              <a:lnSpc>
                <a:spcPct val="125000"/>
              </a:lnSpc>
              <a:spcBef>
                <a:spcPts val="0"/>
              </a:spcBef>
              <a:spcAft>
                <a:spcPts val="0"/>
              </a:spcAft>
            </a:pPr>
            <a:r>
              <a:rPr sz="900" b="0" i="0" spc="60">
                <a:solidFill>
                  <a:srgbClr val="A7D8D2"/>
                </a:solidFill>
                <a:latin typeface="Segoe UI"/>
              </a:rPr>
              <a:t>Network</a:t>
            </a:r>
          </a:p>
        </p:txBody>
      </p:sp>
      <p:sp>
        <p:nvSpPr>
          <p:cNvPr id="12" name="TextBox 11"/>
          <p:cNvSpPr txBox="1"/>
          <p:nvPr/>
        </p:nvSpPr>
        <p:spPr>
          <a:xfrm>
            <a:off x="2139696" y="5285232"/>
            <a:ext cx="5486400" cy="27432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FFFFFF"/>
                </a:solidFill>
                <a:latin typeface="Segoe UI"/>
              </a:rPr>
              <a:t>Ethereum Sepolia</a:t>
            </a:r>
          </a:p>
        </p:txBody>
      </p:sp>
      <p:sp>
        <p:nvSpPr>
          <p:cNvPr id="13" name="TextBox 12"/>
          <p:cNvSpPr txBox="1"/>
          <p:nvPr/>
        </p:nvSpPr>
        <p:spPr>
          <a:xfrm>
            <a:off x="932688" y="5687568"/>
            <a:ext cx="1188720" cy="274320"/>
          </a:xfrm>
          <a:prstGeom prst="rect">
            <a:avLst/>
          </a:prstGeom>
          <a:noFill/>
        </p:spPr>
        <p:txBody>
          <a:bodyPr wrap="square" lIns="0" rIns="0" tIns="0" bIns="0" anchor="t">
            <a:spAutoFit/>
          </a:bodyPr>
          <a:lstStyle/>
          <a:p>
            <a:pPr algn="l">
              <a:lnSpc>
                <a:spcPct val="125000"/>
              </a:lnSpc>
              <a:spcBef>
                <a:spcPts val="0"/>
              </a:spcBef>
              <a:spcAft>
                <a:spcPts val="0"/>
              </a:spcAft>
            </a:pPr>
            <a:r>
              <a:rPr sz="900" b="0" i="0" spc="60">
                <a:solidFill>
                  <a:srgbClr val="A7D8D2"/>
                </a:solidFill>
                <a:latin typeface="Segoe UI"/>
              </a:rPr>
              <a:t>Contract</a:t>
            </a:r>
          </a:p>
        </p:txBody>
      </p:sp>
      <p:sp>
        <p:nvSpPr>
          <p:cNvPr id="14" name="TextBox 13"/>
          <p:cNvSpPr txBox="1"/>
          <p:nvPr/>
        </p:nvSpPr>
        <p:spPr>
          <a:xfrm>
            <a:off x="2139696" y="5687568"/>
            <a:ext cx="5486400" cy="27432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FFFFFF"/>
                </a:solidFill>
                <a:latin typeface="Consolas"/>
              </a:rPr>
              <a:t>0x353b6cdaD14774412B5C7612F0C0D153378F213A</a:t>
            </a:r>
          </a:p>
        </p:txBody>
      </p:sp>
      <p:sp>
        <p:nvSpPr>
          <p:cNvPr id="15" name="Rounded Rectangle 14"/>
          <p:cNvSpPr/>
          <p:nvPr/>
        </p:nvSpPr>
        <p:spPr>
          <a:xfrm>
            <a:off x="8174736" y="1115568"/>
            <a:ext cx="3310128" cy="396849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changia-qr.png"/>
          <p:cNvPicPr>
            <a:picLocks noChangeAspect="1"/>
          </p:cNvPicPr>
          <p:nvPr/>
        </p:nvPicPr>
        <p:blipFill>
          <a:blip r:embed="rId2"/>
          <a:stretch>
            <a:fillRect/>
          </a:stretch>
        </p:blipFill>
        <p:spPr>
          <a:xfrm>
            <a:off x="8375904" y="1316736"/>
            <a:ext cx="2907792" cy="2907792"/>
          </a:xfrm>
          <a:prstGeom prst="rect">
            <a:avLst/>
          </a:prstGeom>
        </p:spPr>
      </p:pic>
      <p:sp>
        <p:nvSpPr>
          <p:cNvPr id="17" name="TextBox 16"/>
          <p:cNvSpPr txBox="1"/>
          <p:nvPr/>
        </p:nvSpPr>
        <p:spPr>
          <a:xfrm>
            <a:off x="8375904" y="4389120"/>
            <a:ext cx="2907792" cy="548640"/>
          </a:xfrm>
          <a:prstGeom prst="rect">
            <a:avLst/>
          </a:prstGeom>
          <a:noFill/>
        </p:spPr>
        <p:txBody>
          <a:bodyPr wrap="square" lIns="0" rIns="0" tIns="0" bIns="0" anchor="t">
            <a:spAutoFit/>
          </a:bodyPr>
          <a:lstStyle/>
          <a:p>
            <a:pPr algn="ctr">
              <a:lnSpc>
                <a:spcPct val="125000"/>
              </a:lnSpc>
              <a:spcBef>
                <a:spcPts val="0"/>
              </a:spcBef>
              <a:spcAft>
                <a:spcPts val="400"/>
              </a:spcAft>
            </a:pPr>
            <a:r>
              <a:rPr sz="1200" b="1" i="0">
                <a:solidFill>
                  <a:srgbClr val="0F172A"/>
                </a:solidFill>
                <a:latin typeface="Georgia"/>
              </a:rPr>
              <a:t>Scan to open Changia</a:t>
            </a:r>
          </a:p>
          <a:p>
            <a:pPr algn="ctr">
              <a:lnSpc>
                <a:spcPct val="125000"/>
              </a:lnSpc>
              <a:spcBef>
                <a:spcPts val="0"/>
              </a:spcBef>
              <a:spcAft>
                <a:spcPts val="0"/>
              </a:spcAft>
            </a:pPr>
            <a:r>
              <a:rPr sz="900" b="0" i="0">
                <a:solidFill>
                  <a:srgbClr val="64748B"/>
                </a:solidFill>
                <a:latin typeface="Consolas"/>
              </a:rPr>
              <a:t>changia-hazel.vercel.app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94944"/>
            <a:ext cx="2011680" cy="457200"/>
          </a:xfrm>
          <a:prstGeom prst="rect">
            <a:avLst/>
          </a:prstGeom>
          <a:noFill/>
        </p:spPr>
        <p:txBody>
          <a:bodyPr wrap="square" lIns="0" rIns="0" tIns="0" bIns="0" anchor="t">
            <a:spAutoFit/>
          </a:bodyPr>
          <a:lstStyle/>
          <a:p>
            <a:pPr algn="l">
              <a:lnSpc>
                <a:spcPct val="100000"/>
              </a:lnSpc>
              <a:spcBef>
                <a:spcPts val="0"/>
              </a:spcBef>
              <a:spcAft>
                <a:spcPts val="0"/>
              </a:spcAft>
            </a:pPr>
            <a:r>
              <a:rPr sz="2000" b="1" i="0" spc="30">
                <a:solidFill>
                  <a:srgbClr val="0F766E"/>
                </a:solidFill>
                <a:latin typeface="Segoe UI"/>
              </a:rPr>
              <a:t>7.8.1</a:t>
            </a:r>
          </a:p>
        </p:txBody>
      </p:sp>
      <p:sp>
        <p:nvSpPr>
          <p:cNvPr id="4" name="TextBox 3"/>
          <p:cNvSpPr txBox="1"/>
          <p:nvPr/>
        </p:nvSpPr>
        <p:spPr>
          <a:xfrm>
            <a:off x="1847088" y="585215"/>
            <a:ext cx="9686239" cy="566928"/>
          </a:xfrm>
          <a:prstGeom prst="rect">
            <a:avLst/>
          </a:prstGeom>
          <a:noFill/>
        </p:spPr>
        <p:txBody>
          <a:bodyPr wrap="square" lIns="0" rIns="0" tIns="0" bIns="0" anchor="t">
            <a:spAutoFit/>
          </a:bodyPr>
          <a:lstStyle/>
          <a:p>
            <a:pPr algn="l">
              <a:lnSpc>
                <a:spcPct val="100000"/>
              </a:lnSpc>
              <a:spcBef>
                <a:spcPts val="0"/>
              </a:spcBef>
              <a:spcAft>
                <a:spcPts val="0"/>
              </a:spcAft>
            </a:pPr>
            <a:r>
              <a:rPr sz="2700" b="0" i="0">
                <a:solidFill>
                  <a:srgbClr val="0F172A"/>
                </a:solidFill>
                <a:latin typeface="Georgia"/>
              </a:rPr>
              <a:t>Limitations and Future Work</a:t>
            </a:r>
          </a:p>
        </p:txBody>
      </p:sp>
      <p:sp>
        <p:nvSpPr>
          <p:cNvPr id="5" name="TextBox 4"/>
          <p:cNvSpPr txBox="1"/>
          <p:nvPr/>
        </p:nvSpPr>
        <p:spPr>
          <a:xfrm>
            <a:off x="1847088" y="1243584"/>
            <a:ext cx="9503359" cy="402336"/>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4748B"/>
                </a:solidFill>
                <a:latin typeface="Segoe UI"/>
              </a:rPr>
              <a:t>Stated plainly. Every one of these is a known boundary of the current phase, not a surprise.</a:t>
            </a:r>
          </a:p>
        </p:txBody>
      </p:sp>
      <p:sp>
        <p:nvSpPr>
          <p:cNvPr id="6" name="Rectangle 5"/>
          <p:cNvSpPr/>
          <p:nvPr/>
        </p:nvSpPr>
        <p:spPr>
          <a:xfrm>
            <a:off x="658368" y="1737360"/>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011679"/>
            <a:ext cx="5926852"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FF6B6B"/>
                </a:solidFill>
                <a:latin typeface="Segoe UI"/>
              </a:rPr>
              <a:t>CURRENT LIMITATIONS</a:t>
            </a:r>
          </a:p>
        </p:txBody>
      </p:sp>
      <p:sp>
        <p:nvSpPr>
          <p:cNvPr id="8" name="Rectangle 7"/>
          <p:cNvSpPr/>
          <p:nvPr/>
        </p:nvSpPr>
        <p:spPr>
          <a:xfrm>
            <a:off x="658368" y="2340863"/>
            <a:ext cx="45720" cy="6400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359151"/>
            <a:ext cx="5652532" cy="621792"/>
          </a:xfrm>
          <a:prstGeom prst="rect">
            <a:avLst/>
          </a:prstGeom>
          <a:noFill/>
        </p:spPr>
        <p:txBody>
          <a:bodyPr wrap="square" lIns="0" rIns="0" tIns="0" bIns="0" anchor="t">
            <a:spAutoFit/>
          </a:bodyPr>
          <a:lstStyle/>
          <a:p>
            <a:pPr algn="l">
              <a:lnSpc>
                <a:spcPct val="125000"/>
              </a:lnSpc>
              <a:spcBef>
                <a:spcPts val="0"/>
              </a:spcBef>
              <a:spcAft>
                <a:spcPts val="400"/>
              </a:spcAft>
            </a:pPr>
            <a:r>
              <a:rPr sz="1150" b="1" i="0">
                <a:solidFill>
                  <a:srgbClr val="0F172A"/>
                </a:solidFill>
                <a:latin typeface="Segoe UI"/>
              </a:rPr>
              <a:t>Sepolia, not mainnet</a:t>
            </a:r>
          </a:p>
          <a:p>
            <a:pPr algn="l">
              <a:lnSpc>
                <a:spcPct val="132000"/>
              </a:lnSpc>
              <a:spcBef>
                <a:spcPts val="0"/>
              </a:spcBef>
              <a:spcAft>
                <a:spcPts val="0"/>
              </a:spcAft>
            </a:pPr>
            <a:r>
              <a:rPr sz="950" b="0" i="0">
                <a:solidFill>
                  <a:srgbClr val="64748B"/>
                </a:solidFill>
                <a:latin typeface="Segoe UI"/>
              </a:rPr>
              <a:t>Proofs are real and publicly verifiable, but carry no monetary value. Migration is a configuration change, not a rewrite.</a:t>
            </a:r>
          </a:p>
        </p:txBody>
      </p:sp>
      <p:sp>
        <p:nvSpPr>
          <p:cNvPr id="10" name="Rectangle 9"/>
          <p:cNvSpPr/>
          <p:nvPr/>
        </p:nvSpPr>
        <p:spPr>
          <a:xfrm>
            <a:off x="658368" y="3127247"/>
            <a:ext cx="45720" cy="6400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3145535"/>
            <a:ext cx="5652532" cy="621792"/>
          </a:xfrm>
          <a:prstGeom prst="rect">
            <a:avLst/>
          </a:prstGeom>
          <a:noFill/>
        </p:spPr>
        <p:txBody>
          <a:bodyPr wrap="square" lIns="0" rIns="0" tIns="0" bIns="0" anchor="t">
            <a:spAutoFit/>
          </a:bodyPr>
          <a:lstStyle/>
          <a:p>
            <a:pPr algn="l">
              <a:lnSpc>
                <a:spcPct val="125000"/>
              </a:lnSpc>
              <a:spcBef>
                <a:spcPts val="0"/>
              </a:spcBef>
              <a:spcAft>
                <a:spcPts val="400"/>
              </a:spcAft>
            </a:pPr>
            <a:r>
              <a:rPr sz="1150" b="1" i="0">
                <a:solidFill>
                  <a:srgbClr val="0F172A"/>
                </a:solidFill>
                <a:latin typeface="Segoe UI"/>
              </a:rPr>
              <a:t>Mobile money runs on the sandbox provider</a:t>
            </a:r>
          </a:p>
          <a:p>
            <a:pPr algn="l">
              <a:lnSpc>
                <a:spcPct val="132000"/>
              </a:lnSpc>
              <a:spcBef>
                <a:spcPts val="0"/>
              </a:spcBef>
              <a:spcAft>
                <a:spcPts val="0"/>
              </a:spcAft>
            </a:pPr>
            <a:r>
              <a:rPr sz="950" b="0" i="0">
                <a:solidFill>
                  <a:srgbClr val="64748B"/>
                </a:solidFill>
                <a:latin typeface="Segoe UI"/>
              </a:rPr>
              <a:t>The AzamPay adapter is built behind the payment seam. Live credentials are pending, so the mock provider serves the demo.</a:t>
            </a:r>
          </a:p>
        </p:txBody>
      </p:sp>
      <p:sp>
        <p:nvSpPr>
          <p:cNvPr id="12" name="Rectangle 11"/>
          <p:cNvSpPr/>
          <p:nvPr/>
        </p:nvSpPr>
        <p:spPr>
          <a:xfrm>
            <a:off x="658368" y="3913631"/>
            <a:ext cx="45720" cy="6400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931919"/>
            <a:ext cx="5652532" cy="621792"/>
          </a:xfrm>
          <a:prstGeom prst="rect">
            <a:avLst/>
          </a:prstGeom>
          <a:noFill/>
        </p:spPr>
        <p:txBody>
          <a:bodyPr wrap="square" lIns="0" rIns="0" tIns="0" bIns="0" anchor="t">
            <a:spAutoFit/>
          </a:bodyPr>
          <a:lstStyle/>
          <a:p>
            <a:pPr algn="l">
              <a:lnSpc>
                <a:spcPct val="125000"/>
              </a:lnSpc>
              <a:spcBef>
                <a:spcPts val="0"/>
              </a:spcBef>
              <a:spcAft>
                <a:spcPts val="400"/>
              </a:spcAft>
            </a:pPr>
            <a:r>
              <a:rPr sz="1150" b="1" i="0">
                <a:solidFill>
                  <a:srgbClr val="0F172A"/>
                </a:solidFill>
                <a:latin typeface="Segoe UI"/>
              </a:rPr>
              <a:t>Free-tier cold starts</a:t>
            </a:r>
          </a:p>
          <a:p>
            <a:pPr algn="l">
              <a:lnSpc>
                <a:spcPct val="132000"/>
              </a:lnSpc>
              <a:spcBef>
                <a:spcPts val="0"/>
              </a:spcBef>
              <a:spcAft>
                <a:spcPts val="0"/>
              </a:spcAft>
            </a:pPr>
            <a:r>
              <a:rPr sz="950" b="0" i="0">
                <a:solidFill>
                  <a:srgbClr val="64748B"/>
                </a:solidFill>
                <a:latin typeface="Segoe UI"/>
              </a:rPr>
              <a:t>The API sleeps when idle, so the first request after a quiet period can take up to a minute.</a:t>
            </a:r>
          </a:p>
        </p:txBody>
      </p:sp>
      <p:sp>
        <p:nvSpPr>
          <p:cNvPr id="14" name="Rectangle 13"/>
          <p:cNvSpPr/>
          <p:nvPr/>
        </p:nvSpPr>
        <p:spPr>
          <a:xfrm>
            <a:off x="658368" y="4700016"/>
            <a:ext cx="45720" cy="6400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718303"/>
            <a:ext cx="5652532" cy="621792"/>
          </a:xfrm>
          <a:prstGeom prst="rect">
            <a:avLst/>
          </a:prstGeom>
          <a:noFill/>
        </p:spPr>
        <p:txBody>
          <a:bodyPr wrap="square" lIns="0" rIns="0" tIns="0" bIns="0" anchor="t">
            <a:spAutoFit/>
          </a:bodyPr>
          <a:lstStyle/>
          <a:p>
            <a:pPr algn="l">
              <a:lnSpc>
                <a:spcPct val="125000"/>
              </a:lnSpc>
              <a:spcBef>
                <a:spcPts val="0"/>
              </a:spcBef>
              <a:spcAft>
                <a:spcPts val="400"/>
              </a:spcAft>
            </a:pPr>
            <a:r>
              <a:rPr sz="1150" b="1" i="0">
                <a:solidFill>
                  <a:srgbClr val="0F172A"/>
                </a:solidFill>
                <a:latin typeface="Segoe UI"/>
              </a:rPr>
              <a:t>Uploads are on ephemeral disk</a:t>
            </a:r>
          </a:p>
          <a:p>
            <a:pPr algn="l">
              <a:lnSpc>
                <a:spcPct val="132000"/>
              </a:lnSpc>
              <a:spcBef>
                <a:spcPts val="0"/>
              </a:spcBef>
              <a:spcAft>
                <a:spcPts val="0"/>
              </a:spcAft>
            </a:pPr>
            <a:r>
              <a:rPr sz="950" b="0" i="0">
                <a:solidFill>
                  <a:srgbClr val="64748B"/>
                </a:solidFill>
                <a:latin typeface="Segoe UI"/>
              </a:rPr>
              <a:t>Campaign images do not survive a redeploy. Object storage is the fix.</a:t>
            </a:r>
          </a:p>
        </p:txBody>
      </p:sp>
      <p:sp>
        <p:nvSpPr>
          <p:cNvPr id="16" name="Rectangle 15"/>
          <p:cNvSpPr/>
          <p:nvPr/>
        </p:nvSpPr>
        <p:spPr>
          <a:xfrm>
            <a:off x="658368" y="5486400"/>
            <a:ext cx="45720" cy="6400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5504688"/>
            <a:ext cx="5652532" cy="621792"/>
          </a:xfrm>
          <a:prstGeom prst="rect">
            <a:avLst/>
          </a:prstGeom>
          <a:noFill/>
        </p:spPr>
        <p:txBody>
          <a:bodyPr wrap="square" lIns="0" rIns="0" tIns="0" bIns="0" anchor="t">
            <a:spAutoFit/>
          </a:bodyPr>
          <a:lstStyle/>
          <a:p>
            <a:pPr algn="l">
              <a:lnSpc>
                <a:spcPct val="125000"/>
              </a:lnSpc>
              <a:spcBef>
                <a:spcPts val="0"/>
              </a:spcBef>
              <a:spcAft>
                <a:spcPts val="400"/>
              </a:spcAft>
            </a:pPr>
            <a:r>
              <a:rPr sz="1150" b="1" i="0">
                <a:solidFill>
                  <a:srgbClr val="0F172A"/>
                </a:solidFill>
                <a:latin typeface="Segoe UI"/>
              </a:rPr>
              <a:t>Fraud detection is designed, not trained</a:t>
            </a:r>
          </a:p>
          <a:p>
            <a:pPr algn="l">
              <a:lnSpc>
                <a:spcPct val="132000"/>
              </a:lnSpc>
              <a:spcBef>
                <a:spcPts val="0"/>
              </a:spcBef>
              <a:spcAft>
                <a:spcPts val="0"/>
              </a:spcAft>
            </a:pPr>
            <a:r>
              <a:rPr sz="950" b="0" i="0">
                <a:solidFill>
                  <a:srgbClr val="64748B"/>
                </a:solidFill>
                <a:latin typeface="Segoe UI"/>
              </a:rPr>
              <a:t>Section 6.9 specifies the dataset, features and model. No model runs today.</a:t>
            </a:r>
          </a:p>
        </p:txBody>
      </p:sp>
      <p:sp>
        <p:nvSpPr>
          <p:cNvPr id="18" name="TextBox 17"/>
          <p:cNvSpPr txBox="1"/>
          <p:nvPr/>
        </p:nvSpPr>
        <p:spPr>
          <a:xfrm>
            <a:off x="6914404" y="2011679"/>
            <a:ext cx="4618922" cy="219456"/>
          </a:xfrm>
          <a:prstGeom prst="rect">
            <a:avLst/>
          </a:prstGeom>
          <a:noFill/>
        </p:spPr>
        <p:txBody>
          <a:bodyPr wrap="square" lIns="0" rIns="0" tIns="0" bIns="0" anchor="t">
            <a:spAutoFit/>
          </a:bodyPr>
          <a:lstStyle/>
          <a:p>
            <a:pPr algn="l">
              <a:lnSpc>
                <a:spcPct val="125000"/>
              </a:lnSpc>
              <a:spcBef>
                <a:spcPts val="0"/>
              </a:spcBef>
              <a:spcAft>
                <a:spcPts val="0"/>
              </a:spcAft>
            </a:pPr>
            <a:r>
              <a:rPr sz="850" b="1" i="0" spc="110">
                <a:solidFill>
                  <a:srgbClr val="0F766E"/>
                </a:solidFill>
                <a:latin typeface="Segoe UI"/>
              </a:rPr>
              <a:t>FUTURE WORK</a:t>
            </a:r>
          </a:p>
        </p:txBody>
      </p:sp>
      <p:sp>
        <p:nvSpPr>
          <p:cNvPr id="19" name="TextBox 18"/>
          <p:cNvSpPr txBox="1"/>
          <p:nvPr/>
        </p:nvSpPr>
        <p:spPr>
          <a:xfrm>
            <a:off x="6914404" y="2340863"/>
            <a:ext cx="4618922" cy="2377440"/>
          </a:xfrm>
          <a:prstGeom prst="rect">
            <a:avLst/>
          </a:prstGeom>
          <a:noFill/>
        </p:spPr>
        <p:txBody>
          <a:bodyPr wrap="square" lIns="0" rIns="0" tIns="0" bIns="0" anchor="t">
            <a:spAutoFit/>
          </a:bodyPr>
          <a:lstStyle/>
          <a:p>
            <a:pPr algn="l" marL="160020" indent="-160020">
              <a:lnSpc>
                <a:spcPct val="140000"/>
              </a:lnSpc>
              <a:spcBef>
                <a:spcPts val="0"/>
              </a:spcBef>
              <a:spcAft>
                <a:spcPts val="1000"/>
              </a:spcAft>
              <a:buClr>
                <a:srgbClr val="0F766E"/>
              </a:buClr>
              <a:buSzPts val="1100"/>
              <a:buFont typeface="Segoe UI"/>
              <a:buChar char="•"/>
            </a:pPr>
            <a:r>
              <a:rPr sz="1100" b="0" i="0">
                <a:solidFill>
                  <a:srgbClr val="0F172A"/>
                </a:solidFill>
                <a:latin typeface="Segoe UI"/>
              </a:rPr>
              <a:t>Implement the fraud-detection module specified in 6.9, starting with the unlabelled Isolation Forest baseline</a:t>
            </a:r>
          </a:p>
          <a:p>
            <a:pPr algn="l" marL="160020" indent="-160020">
              <a:lnSpc>
                <a:spcPct val="140000"/>
              </a:lnSpc>
              <a:spcBef>
                <a:spcPts val="0"/>
              </a:spcBef>
              <a:spcAft>
                <a:spcPts val="1000"/>
              </a:spcAft>
              <a:buClr>
                <a:srgbClr val="0F766E"/>
              </a:buClr>
              <a:buSzPts val="1100"/>
              <a:buFont typeface="Segoe UI"/>
              <a:buChar char="•"/>
            </a:pPr>
            <a:r>
              <a:rPr sz="1100" b="0" i="0">
                <a:solidFill>
                  <a:srgbClr val="0F172A"/>
                </a:solidFill>
                <a:latin typeface="Segoe UI"/>
              </a:rPr>
              <a:t>Complete AzamPay production integration once merchant credentials are issued</a:t>
            </a:r>
          </a:p>
          <a:p>
            <a:pPr algn="l" marL="160020" indent="-160020">
              <a:lnSpc>
                <a:spcPct val="140000"/>
              </a:lnSpc>
              <a:spcBef>
                <a:spcPts val="0"/>
              </a:spcBef>
              <a:spcAft>
                <a:spcPts val="1000"/>
              </a:spcAft>
              <a:buClr>
                <a:srgbClr val="0F766E"/>
              </a:buClr>
              <a:buSzPts val="1100"/>
              <a:buFont typeface="Segoe UI"/>
              <a:buChar char="•"/>
            </a:pPr>
            <a:r>
              <a:rPr sz="1100" b="0" i="0">
                <a:solidFill>
                  <a:srgbClr val="0F172A"/>
                </a:solidFill>
                <a:latin typeface="Segoe UI"/>
              </a:rPr>
              <a:t>Move object storage off ephemeral disk</a:t>
            </a:r>
          </a:p>
          <a:p>
            <a:pPr algn="l" marL="160020" indent="-160020">
              <a:lnSpc>
                <a:spcPct val="140000"/>
              </a:lnSpc>
              <a:spcBef>
                <a:spcPts val="0"/>
              </a:spcBef>
              <a:spcAft>
                <a:spcPts val="1000"/>
              </a:spcAft>
              <a:buClr>
                <a:srgbClr val="0F766E"/>
              </a:buClr>
              <a:buSzPts val="1100"/>
              <a:buFont typeface="Segoe UI"/>
              <a:buChar char="•"/>
            </a:pPr>
            <a:r>
              <a:rPr sz="1100" b="0" i="0">
                <a:solidFill>
                  <a:srgbClr val="0F172A"/>
                </a:solidFill>
                <a:latin typeface="Segoe UI"/>
              </a:rPr>
              <a:t>Evaluate a low-cost L2 or mainnet for production proofs</a:t>
            </a:r>
          </a:p>
          <a:p>
            <a:pPr algn="l" marL="160020" indent="-160020">
              <a:lnSpc>
                <a:spcPct val="140000"/>
              </a:lnSpc>
              <a:spcBef>
                <a:spcPts val="0"/>
              </a:spcBef>
              <a:spcAft>
                <a:spcPts val="1000"/>
              </a:spcAft>
              <a:buClr>
                <a:srgbClr val="0F766E"/>
              </a:buClr>
              <a:buSzPts val="1100"/>
              <a:buFont typeface="Segoe UI"/>
              <a:buChar char="•"/>
            </a:pPr>
            <a:r>
              <a:rPr sz="1100" b="0" i="0">
                <a:solidFill>
                  <a:srgbClr val="0F172A"/>
                </a:solidFill>
                <a:latin typeface="Segoe UI"/>
              </a:rPr>
              <a:t>Swahili localisation across the donor-facing surface</a:t>
            </a:r>
          </a:p>
          <a:p>
            <a:pPr algn="l" marL="160020" indent="-160020">
              <a:lnSpc>
                <a:spcPct val="140000"/>
              </a:lnSpc>
              <a:spcBef>
                <a:spcPts val="0"/>
              </a:spcBef>
              <a:spcAft>
                <a:spcPts val="1000"/>
              </a:spcAft>
              <a:buClr>
                <a:srgbClr val="0F766E"/>
              </a:buClr>
              <a:buSzPts val="1100"/>
              <a:buFont typeface="Segoe UI"/>
              <a:buChar char="•"/>
            </a:pPr>
            <a:r>
              <a:rPr sz="1100" b="0" i="0">
                <a:solidFill>
                  <a:srgbClr val="0F172A"/>
                </a:solidFill>
                <a:latin typeface="Segoe UI"/>
              </a:rPr>
              <a:t>Independent user acceptance testing with real donors and NGO staff</a:t>
            </a:r>
          </a:p>
        </p:txBody>
      </p:sp>
      <p:sp>
        <p:nvSpPr>
          <p:cNvPr id="20" name="Rounded Rectangle 19"/>
          <p:cNvSpPr/>
          <p:nvPr/>
        </p:nvSpPr>
        <p:spPr>
          <a:xfrm>
            <a:off x="6914404" y="5047488"/>
            <a:ext cx="4618922" cy="1133856"/>
          </a:xfrm>
          <a:prstGeom prst="roundRect">
            <a:avLst>
              <a:gd name="adj" fmla="val 4500"/>
            </a:avLst>
          </a:prstGeom>
          <a:solidFill>
            <a:srgbClr val="CCFBF1"/>
          </a:solidFill>
          <a:ln w="9525">
            <a:solidFill>
              <a:srgbClr val="99F6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88724" y="5248656"/>
            <a:ext cx="4070282" cy="822960"/>
          </a:xfrm>
          <a:prstGeom prst="rect">
            <a:avLst/>
          </a:prstGeom>
          <a:noFill/>
        </p:spPr>
        <p:txBody>
          <a:bodyPr wrap="square" lIns="0" rIns="0" tIns="0" bIns="0" anchor="t">
            <a:spAutoFit/>
          </a:bodyPr>
          <a:lstStyle/>
          <a:p>
            <a:pPr algn="l">
              <a:lnSpc>
                <a:spcPct val="125000"/>
              </a:lnSpc>
              <a:spcBef>
                <a:spcPts val="0"/>
              </a:spcBef>
              <a:spcAft>
                <a:spcPts val="800"/>
              </a:spcAft>
            </a:pPr>
            <a:r>
              <a:rPr sz="850" b="1" i="0" spc="120">
                <a:solidFill>
                  <a:srgbClr val="134E4A"/>
                </a:solidFill>
                <a:latin typeface="Segoe UI"/>
              </a:rPr>
              <a:t>NEXT STAGE</a:t>
            </a:r>
          </a:p>
          <a:p>
            <a:pPr algn="l">
              <a:lnSpc>
                <a:spcPct val="138000"/>
              </a:lnSpc>
              <a:spcBef>
                <a:spcPts val="0"/>
              </a:spcBef>
              <a:spcAft>
                <a:spcPts val="0"/>
              </a:spcAft>
            </a:pPr>
            <a:r>
              <a:rPr sz="1050" b="0" i="0">
                <a:solidFill>
                  <a:srgbClr val="134E4A"/>
                </a:solidFill>
                <a:latin typeface="Segoe UI"/>
              </a:rPr>
              <a:t>The fraud-detection module designed in 6.9 is the immediate next piece of work. The schema already produces every feature it needs.</a:t>
            </a:r>
          </a:p>
        </p:txBody>
      </p:sp>
      <p:sp>
        <p:nvSpPr>
          <p:cNvPr id="22" name="Rectangle 21"/>
          <p:cNvSpPr/>
          <p:nvPr/>
        </p:nvSpPr>
        <p:spPr>
          <a:xfrm>
            <a:off x="658368" y="6345936"/>
            <a:ext cx="10874959"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6345936"/>
            <a:ext cx="10369147" cy="20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6492240"/>
            <a:ext cx="9960559" cy="237744"/>
          </a:xfrm>
          <a:prstGeom prst="rect">
            <a:avLst/>
          </a:prstGeom>
          <a:noFill/>
        </p:spPr>
        <p:txBody>
          <a:bodyPr wrap="square" lIns="0" rIns="0" tIns="0" bIns="0" anchor="t">
            <a:spAutoFit/>
          </a:bodyPr>
          <a:lstStyle/>
          <a:p>
            <a:pPr algn="l">
              <a:lnSpc>
                <a:spcPct val="125000"/>
              </a:lnSpc>
              <a:spcBef>
                <a:spcPts val="0"/>
              </a:spcBef>
              <a:spcAft>
                <a:spcPts val="0"/>
              </a:spcAft>
            </a:pPr>
            <a:r>
              <a:rPr sz="850" b="0" i="0" spc="40">
                <a:solidFill>
                  <a:srgbClr val="94A3B8"/>
                </a:solidFill>
                <a:latin typeface="Segoe UI"/>
              </a:rPr>
              <a:t>Chapter Seven  ·  Implementation, Testing and Results</a:t>
            </a:r>
          </a:p>
        </p:txBody>
      </p:sp>
      <p:sp>
        <p:nvSpPr>
          <p:cNvPr id="25" name="TextBox 24"/>
          <p:cNvSpPr txBox="1"/>
          <p:nvPr/>
        </p:nvSpPr>
        <p:spPr>
          <a:xfrm>
            <a:off x="10618927" y="6492240"/>
            <a:ext cx="914400" cy="237744"/>
          </a:xfrm>
          <a:prstGeom prst="rect">
            <a:avLst/>
          </a:prstGeom>
          <a:noFill/>
        </p:spPr>
        <p:txBody>
          <a:bodyPr wrap="square" lIns="0" rIns="0" tIns="0" bIns="0" anchor="t">
            <a:spAutoFit/>
          </a:bodyPr>
          <a:lstStyle/>
          <a:p>
            <a:pPr algn="r">
              <a:lnSpc>
                <a:spcPct val="125000"/>
              </a:lnSpc>
              <a:spcBef>
                <a:spcPts val="0"/>
              </a:spcBef>
              <a:spcAft>
                <a:spcPts val="0"/>
              </a:spcAft>
            </a:pPr>
            <a:r>
              <a:rPr sz="850" b="0" i="0">
                <a:solidFill>
                  <a:srgbClr val="94A3B8"/>
                </a:solidFill>
                <a:latin typeface="Segoe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766E"/>
              </a:gs>
              <a:gs pos="100000">
                <a:srgbClr val="0A3331"/>
              </a:gs>
            </a:gsLst>
            <a:lin scaled="0" ang="1992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18872"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12191695" cy="274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32688" y="2103120"/>
            <a:ext cx="420624" cy="420624"/>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 name="Connector 5"/>
          <p:cNvCxnSpPr/>
          <p:nvPr/>
        </p:nvCxnSpPr>
        <p:spPr>
          <a:xfrm>
            <a:off x="1033637" y="2321844"/>
            <a:ext cx="79919" cy="79919"/>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09350" y="2229307"/>
            <a:ext cx="147218" cy="172456"/>
          </a:xfrm>
          <a:prstGeom prst="line">
            <a:avLst/>
          </a:prstGeom>
          <a:ln w="21590">
            <a:solidFill>
              <a:srgbClr val="0F766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32688" y="2724912"/>
            <a:ext cx="7680960" cy="1280160"/>
          </a:xfrm>
          <a:prstGeom prst="rect">
            <a:avLst/>
          </a:prstGeom>
          <a:noFill/>
        </p:spPr>
        <p:txBody>
          <a:bodyPr wrap="square" lIns="0" rIns="0" tIns="0" bIns="0" anchor="t">
            <a:spAutoFit/>
          </a:bodyPr>
          <a:lstStyle/>
          <a:p>
            <a:pPr algn="l">
              <a:lnSpc>
                <a:spcPct val="110000"/>
              </a:lnSpc>
              <a:spcBef>
                <a:spcPts val="0"/>
              </a:spcBef>
              <a:spcAft>
                <a:spcPts val="0"/>
              </a:spcAft>
            </a:pPr>
            <a:r>
              <a:rPr sz="4600" b="0" i="0">
                <a:solidFill>
                  <a:srgbClr val="FFFFFF"/>
                </a:solidFill>
                <a:latin typeface="Georgia"/>
              </a:rPr>
              <a:t>Thank you</a:t>
            </a:r>
          </a:p>
        </p:txBody>
      </p:sp>
      <p:sp>
        <p:nvSpPr>
          <p:cNvPr id="9" name="Rectangle 8"/>
          <p:cNvSpPr/>
          <p:nvPr/>
        </p:nvSpPr>
        <p:spPr>
          <a:xfrm>
            <a:off x="932688" y="3913632"/>
            <a:ext cx="1280160" cy="25400"/>
          </a:xfrm>
          <a:prstGeom prst="rect">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4169663"/>
            <a:ext cx="6400800" cy="457200"/>
          </a:xfrm>
          <a:prstGeom prst="rect">
            <a:avLst/>
          </a:prstGeom>
          <a:noFill/>
        </p:spPr>
        <p:txBody>
          <a:bodyPr wrap="square" lIns="0" rIns="0" tIns="0" bIns="0" anchor="t">
            <a:spAutoFit/>
          </a:bodyPr>
          <a:lstStyle/>
          <a:p>
            <a:pPr algn="l">
              <a:lnSpc>
                <a:spcPct val="125000"/>
              </a:lnSpc>
              <a:spcBef>
                <a:spcPts val="0"/>
              </a:spcBef>
              <a:spcAft>
                <a:spcPts val="0"/>
              </a:spcAft>
            </a:pPr>
            <a:r>
              <a:rPr sz="1500" b="0" i="0">
                <a:solidFill>
                  <a:srgbClr val="A7D8D2"/>
                </a:solidFill>
                <a:latin typeface="Segoe UI"/>
              </a:rPr>
              <a:t>Questions and discussion</a:t>
            </a:r>
          </a:p>
        </p:txBody>
      </p:sp>
      <p:sp>
        <p:nvSpPr>
          <p:cNvPr id="11" name="TextBox 10"/>
          <p:cNvSpPr txBox="1"/>
          <p:nvPr/>
        </p:nvSpPr>
        <p:spPr>
          <a:xfrm>
            <a:off x="8412480" y="2139696"/>
            <a:ext cx="3108960" cy="2377440"/>
          </a:xfrm>
          <a:prstGeom prst="rect">
            <a:avLst/>
          </a:prstGeom>
          <a:noFill/>
        </p:spPr>
        <p:txBody>
          <a:bodyPr wrap="square" lIns="0" rIns="0" tIns="0" bIns="0" anchor="t">
            <a:spAutoFit/>
          </a:bodyPr>
          <a:lstStyle/>
          <a:p>
            <a:pPr algn="l">
              <a:lnSpc>
                <a:spcPct val="125000"/>
              </a:lnSpc>
              <a:spcBef>
                <a:spcPts val="0"/>
              </a:spcBef>
              <a:spcAft>
                <a:spcPts val="1200"/>
              </a:spcAft>
            </a:pPr>
            <a:r>
              <a:rPr sz="900" b="1" i="0" spc="160">
                <a:solidFill>
                  <a:srgbClr val="5EEAD4"/>
                </a:solidFill>
                <a:latin typeface="Segoe UI"/>
              </a:rPr>
              <a:t>CHANGIA</a:t>
            </a:r>
          </a:p>
          <a:p>
            <a:pPr algn="l">
              <a:lnSpc>
                <a:spcPct val="125000"/>
              </a:lnSpc>
              <a:spcBef>
                <a:spcPts val="0"/>
              </a:spcBef>
              <a:spcAft>
                <a:spcPts val="1000"/>
              </a:spcAft>
            </a:pPr>
            <a:r>
              <a:rPr sz="1200" b="1" i="0">
                <a:solidFill>
                  <a:srgbClr val="FFFFFF"/>
                </a:solidFill>
                <a:latin typeface="Segoe UI"/>
              </a:rPr>
              <a:t>changia-hazel.vercel.app</a:t>
            </a:r>
          </a:p>
          <a:p>
            <a:pPr algn="l">
              <a:lnSpc>
                <a:spcPct val="125000"/>
              </a:lnSpc>
              <a:spcBef>
                <a:spcPts val="0"/>
              </a:spcBef>
              <a:spcAft>
                <a:spcPts val="400"/>
              </a:spcAft>
            </a:pPr>
            <a:r>
              <a:rPr sz="1100" b="0" i="0">
                <a:solidFill>
                  <a:srgbClr val="FFFFFF"/>
                </a:solidFill>
                <a:latin typeface="Segoe UI"/>
              </a:rPr>
              <a:t>Nasibu Y. Isaka</a:t>
            </a:r>
          </a:p>
          <a:p>
            <a:pPr algn="l">
              <a:lnSpc>
                <a:spcPct val="125000"/>
              </a:lnSpc>
              <a:spcBef>
                <a:spcPts val="0"/>
              </a:spcBef>
              <a:spcAft>
                <a:spcPts val="1000"/>
              </a:spcAft>
            </a:pPr>
            <a:r>
              <a:rPr sz="1000" b="0" i="0">
                <a:solidFill>
                  <a:srgbClr val="A7D8D2"/>
                </a:solidFill>
                <a:latin typeface="Consolas"/>
              </a:rPr>
              <a:t>2106307225519</a:t>
            </a:r>
          </a:p>
          <a:p>
            <a:pPr algn="l">
              <a:lnSpc>
                <a:spcPct val="125000"/>
              </a:lnSpc>
              <a:spcBef>
                <a:spcPts val="0"/>
              </a:spcBef>
              <a:spcAft>
                <a:spcPts val="0"/>
              </a:spcAft>
            </a:pPr>
            <a:r>
              <a:rPr sz="1000" b="0" i="0">
                <a:solidFill>
                  <a:srgbClr val="A7D8D2"/>
                </a:solidFill>
                <a:latin typeface="Segoe UI"/>
              </a:rPr>
              <a:t>Supervised by Dr Gustaph Sanga</a:t>
            </a:r>
          </a:p>
        </p:txBody>
      </p:sp>
      <p:sp>
        <p:nvSpPr>
          <p:cNvPr id="12" name="TextBox 11"/>
          <p:cNvSpPr txBox="1"/>
          <p:nvPr/>
        </p:nvSpPr>
        <p:spPr>
          <a:xfrm>
            <a:off x="932688" y="5870448"/>
            <a:ext cx="8229600" cy="274320"/>
          </a:xfrm>
          <a:prstGeom prst="rect">
            <a:avLst/>
          </a:prstGeom>
          <a:noFill/>
        </p:spPr>
        <p:txBody>
          <a:bodyPr wrap="square" lIns="0" rIns="0" tIns="0" bIns="0" anchor="t">
            <a:spAutoFit/>
          </a:bodyPr>
          <a:lstStyle/>
          <a:p>
            <a:pPr algn="l">
              <a:lnSpc>
                <a:spcPct val="125000"/>
              </a:lnSpc>
              <a:spcBef>
                <a:spcPts val="0"/>
              </a:spcBef>
              <a:spcAft>
                <a:spcPts val="0"/>
              </a:spcAft>
            </a:pPr>
            <a:r>
              <a:rPr sz="950" b="0" i="0" spc="40">
                <a:solidFill>
                  <a:srgbClr val="A7D8D2"/>
                </a:solidFill>
                <a:latin typeface="Segoe UI"/>
              </a:rPr>
              <a:t>Dar es Salaam Institute of Technology  ·  Department of Computer Studies  ·  NTA Level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